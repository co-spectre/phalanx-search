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4"/>
  </p:sldMasterIdLst>
  <p:notesMasterIdLst>
    <p:notesMasterId r:id="rId7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Lst>
  <p:sldSz cx="9144000" cy="5143500" type="screen16x9"/>
  <p:notesSz cx="6858000" cy="9144000"/>
  <p:embeddedFontLst>
    <p:embeddedFont>
      <p:font typeface="Lato" panose="020F0502020204030203" pitchFamily="34" charset="0"/>
      <p:regular r:id="rId79"/>
      <p:bold r:id="rId80"/>
      <p:italic r:id="rId81"/>
      <p:boldItalic r:id="rId82"/>
    </p:embeddedFont>
    <p:embeddedFont>
      <p:font typeface="Source Code Pro" panose="020B0509030403020204" pitchFamily="49"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EFE007-2C51-512B-31B7-85365B745E46}" v="3" dt="2025-05-24T17:08:00.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6.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1.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5.fntdata"/><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4.fntdata"/><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ssioued, Balssem" userId="S::blassioued@constructor.university::30e5b1f5-553e-4a26-bded-ec876119f1d9" providerId="AD" clId="Web-{08EFE007-2C51-512B-31B7-85365B745E46}"/>
    <pc:docChg chg="modSld sldOrd">
      <pc:chgData name="Lassioued, Balssem" userId="S::blassioued@constructor.university::30e5b1f5-553e-4a26-bded-ec876119f1d9" providerId="AD" clId="Web-{08EFE007-2C51-512B-31B7-85365B745E46}" dt="2025-05-24T17:08:00.590" v="2"/>
      <pc:docMkLst>
        <pc:docMk/>
      </pc:docMkLst>
      <pc:sldChg chg="delSp">
        <pc:chgData name="Lassioued, Balssem" userId="S::blassioued@constructor.university::30e5b1f5-553e-4a26-bded-ec876119f1d9" providerId="AD" clId="Web-{08EFE007-2C51-512B-31B7-85365B745E46}" dt="2025-05-24T17:08:00.590" v="2"/>
        <pc:sldMkLst>
          <pc:docMk/>
          <pc:sldMk cId="0" sldId="316"/>
        </pc:sldMkLst>
        <pc:picChg chg="del">
          <ac:chgData name="Lassioued, Balssem" userId="S::blassioued@constructor.university::30e5b1f5-553e-4a26-bded-ec876119f1d9" providerId="AD" clId="Web-{08EFE007-2C51-512B-31B7-85365B745E46}" dt="2025-05-24T17:08:00.590" v="2"/>
          <ac:picMkLst>
            <pc:docMk/>
            <pc:sldMk cId="0" sldId="316"/>
            <ac:picMk id="594" creationId="{00000000-0000-0000-0000-000000000000}"/>
          </ac:picMkLst>
        </pc:picChg>
      </pc:sldChg>
      <pc:sldChg chg="ord">
        <pc:chgData name="Lassioued, Balssem" userId="S::blassioued@constructor.university::30e5b1f5-553e-4a26-bded-ec876119f1d9" providerId="AD" clId="Web-{08EFE007-2C51-512B-31B7-85365B745E46}" dt="2025-05-24T17:04:47.286" v="1"/>
        <pc:sldMkLst>
          <pc:docMk/>
          <pc:sldMk cId="0" sldId="32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16444e7b6e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16444e7b6e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524d4ba475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524d4ba475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43485a5f4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43485a5f4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43485a5f48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3485a5f4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43485a5f48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43485a5f48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43485a5f48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43485a5f48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43485a5f48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43485a5f48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43485a5f48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43485a5f4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43485a5f48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43485a5f48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43485a5f48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43485a5f48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43485a5f48_0_1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43485a5f48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43485a5f48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43485a5f4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43485a5f48_0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43485a5f48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43485a5f48_0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43485a5f48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43485a5f48_0_3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43485a5f48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43485a5f48_0_2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43485a5f48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43485a5f48_0_2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43485a5f48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43485a5f48_0_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43485a5f48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43485a5f48_0_2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43485a5f48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43485a5f48_0_2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43485a5f48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43485a5f48_0_2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43485a5f48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43485a5f48_0_3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43485a5f48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43485a5f48_0_3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43485a5f48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43485a5f48_0_3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43485a5f48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43485a5f48_0_3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43485a5f48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43485a5f48_0_3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43485a5f48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43485a5f48_0_3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43485a5f48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43485a5f48_0_3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43485a5f48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43485a5f48_0_3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43485a5f48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43485a5f48_0_3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43485a5f48_0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43485a5f48_0_4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43485a5f48_0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43485a5f48_0_4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43485a5f48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43485a5f48_0_4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43485a5f48_0_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43485a5f48_0_4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43485a5f48_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43485a5f48_0_4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43485a5f48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43485a5f48_0_4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43485a5f48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43485a5f48_0_4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343485a5f48_0_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43485a5f48_0_4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343485a5f48_0_4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43485a5f48_0_4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43485a5f48_0_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43485a5f48_0_4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43485a5f48_0_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1524d4ba475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1524d4ba475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1524d4ba475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1524d4ba47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1524d4ba475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1524d4ba475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1524d4ba475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1524d4ba475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524d4ba475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524d4ba47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1524d4ba475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1524d4ba475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524d4ba475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524d4ba47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1524d4ba475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1524d4ba475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1524d4ba475_0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1524d4ba475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1524d4ba475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1524d4ba475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1524d4ba475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1524d4ba475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1524d4ba475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1524d4ba47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1524d4ba475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1524d4ba475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1524d4ba475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1524d4ba475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1524d4ba475_0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1524d4ba475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16444e7b6e8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16444e7b6e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1524d4ba475_0_1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1524d4ba475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1524d4ba475_0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1524d4ba475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1524d4ba475_0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1524d4ba475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1524d4ba475_0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1524d4ba475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1524d4ba475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1524d4ba475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1524d4ba475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1524d4ba475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1524d4ba475_0_2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1524d4ba475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1524d4ba475_0_2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1524d4ba475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139a33fc1a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139a33fc1a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139a33fc1a7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139a33fc1a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139a33fc1a7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139a33fc1a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139a33fc1a7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139a33fc1a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139a33fc1a7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139a33fc1a7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139a33fc1a7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6" name="Google Shape;666;g139a33fc1a7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139a33fc1a7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139a33fc1a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139a33fc1a7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139a33fc1a7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endParaRPr/>
          </a:p>
        </p:txBody>
      </p:sp>
      <p:sp>
        <p:nvSpPr>
          <p:cNvPr id="12" name="Google Shape;12;p2"/>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Clr>
                <a:schemeClr val="accent1"/>
              </a:buClr>
              <a:buSzPts val="2100"/>
              <a:buNone/>
              <a:defRPr sz="2100" b="1">
                <a:solidFill>
                  <a:schemeClr val="accent1"/>
                </a:solidFill>
              </a:defRPr>
            </a:lvl1pPr>
            <a:lvl2pPr lvl="1" algn="ctr">
              <a:lnSpc>
                <a:spcPct val="100000"/>
              </a:lnSpc>
              <a:spcBef>
                <a:spcPts val="0"/>
              </a:spcBef>
              <a:spcAft>
                <a:spcPts val="0"/>
              </a:spcAft>
              <a:buClr>
                <a:schemeClr val="accent1"/>
              </a:buClr>
              <a:buSzPts val="2100"/>
              <a:buNone/>
              <a:defRPr sz="2100" b="1">
                <a:solidFill>
                  <a:schemeClr val="accent1"/>
                </a:solidFill>
              </a:defRPr>
            </a:lvl2pPr>
            <a:lvl3pPr lvl="2" algn="ctr">
              <a:lnSpc>
                <a:spcPct val="100000"/>
              </a:lnSpc>
              <a:spcBef>
                <a:spcPts val="0"/>
              </a:spcBef>
              <a:spcAft>
                <a:spcPts val="0"/>
              </a:spcAft>
              <a:buClr>
                <a:schemeClr val="accent1"/>
              </a:buClr>
              <a:buSzPts val="2100"/>
              <a:buNone/>
              <a:defRPr sz="2100" b="1">
                <a:solidFill>
                  <a:schemeClr val="accent1"/>
                </a:solidFill>
              </a:defRPr>
            </a:lvl3pPr>
            <a:lvl4pPr lvl="3" algn="ctr">
              <a:lnSpc>
                <a:spcPct val="100000"/>
              </a:lnSpc>
              <a:spcBef>
                <a:spcPts val="0"/>
              </a:spcBef>
              <a:spcAft>
                <a:spcPts val="0"/>
              </a:spcAft>
              <a:buClr>
                <a:schemeClr val="accent1"/>
              </a:buClr>
              <a:buSzPts val="2100"/>
              <a:buNone/>
              <a:defRPr sz="2100" b="1">
                <a:solidFill>
                  <a:schemeClr val="accent1"/>
                </a:solidFill>
              </a:defRPr>
            </a:lvl4pPr>
            <a:lvl5pPr lvl="4" algn="ctr">
              <a:lnSpc>
                <a:spcPct val="100000"/>
              </a:lnSpc>
              <a:spcBef>
                <a:spcPts val="0"/>
              </a:spcBef>
              <a:spcAft>
                <a:spcPts val="0"/>
              </a:spcAft>
              <a:buClr>
                <a:schemeClr val="accent1"/>
              </a:buClr>
              <a:buSzPts val="2100"/>
              <a:buNone/>
              <a:defRPr sz="2100" b="1">
                <a:solidFill>
                  <a:schemeClr val="accent1"/>
                </a:solidFill>
              </a:defRPr>
            </a:lvl5pPr>
            <a:lvl6pPr lvl="5" algn="ctr">
              <a:lnSpc>
                <a:spcPct val="100000"/>
              </a:lnSpc>
              <a:spcBef>
                <a:spcPts val="0"/>
              </a:spcBef>
              <a:spcAft>
                <a:spcPts val="0"/>
              </a:spcAft>
              <a:buClr>
                <a:schemeClr val="accent1"/>
              </a:buClr>
              <a:buSzPts val="2100"/>
              <a:buNone/>
              <a:defRPr sz="2100" b="1">
                <a:solidFill>
                  <a:schemeClr val="accent1"/>
                </a:solidFill>
              </a:defRPr>
            </a:lvl6pPr>
            <a:lvl7pPr lvl="6" algn="ctr">
              <a:lnSpc>
                <a:spcPct val="100000"/>
              </a:lnSpc>
              <a:spcBef>
                <a:spcPts val="0"/>
              </a:spcBef>
              <a:spcAft>
                <a:spcPts val="0"/>
              </a:spcAft>
              <a:buClr>
                <a:schemeClr val="accent1"/>
              </a:buClr>
              <a:buSzPts val="2100"/>
              <a:buNone/>
              <a:defRPr sz="2100" b="1">
                <a:solidFill>
                  <a:schemeClr val="accent1"/>
                </a:solidFill>
              </a:defRPr>
            </a:lvl7pPr>
            <a:lvl8pPr lvl="7" algn="ctr">
              <a:lnSpc>
                <a:spcPct val="100000"/>
              </a:lnSpc>
              <a:spcBef>
                <a:spcPts val="0"/>
              </a:spcBef>
              <a:spcAft>
                <a:spcPts val="0"/>
              </a:spcAft>
              <a:buClr>
                <a:schemeClr val="accent1"/>
              </a:buClr>
              <a:buSzPts val="2100"/>
              <a:buNone/>
              <a:defRPr sz="2100" b="1">
                <a:solidFill>
                  <a:schemeClr val="accent1"/>
                </a:solidFill>
              </a:defRPr>
            </a:lvl8pPr>
            <a:lvl9pPr lvl="8" algn="ctr">
              <a:lnSpc>
                <a:spcPct val="100000"/>
              </a:lnSpc>
              <a:spcBef>
                <a:spcPts val="0"/>
              </a:spcBef>
              <a:spcAft>
                <a:spcPts val="0"/>
              </a:spcAft>
              <a:buClr>
                <a:schemeClr val="accent1"/>
              </a:buClr>
              <a:buSzPts val="2100"/>
              <a:buNone/>
              <a:defRPr sz="2100" b="1">
                <a:solidFill>
                  <a:schemeClr val="accen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802750" y="802500"/>
            <a:ext cx="3538500" cy="3538500"/>
          </a:xfrm>
          <a:prstGeom prst="rect">
            <a:avLst/>
          </a:prstGeom>
          <a:solidFill>
            <a:srgbClr val="FFFFFF"/>
          </a:solidFill>
        </p:spPr>
        <p:txBody>
          <a:bodyPr spcFirstLastPara="1" wrap="square" lIns="91425" tIns="91425" rIns="91425" bIns="91425"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5"/>
          <p:cNvSpPr txBox="1">
            <a:spLocks noGrp="1"/>
          </p:cNvSpPr>
          <p:nvPr>
            <p:ph type="body" idx="1"/>
          </p:nvPr>
        </p:nvSpPr>
        <p:spPr>
          <a:xfrm>
            <a:off x="3117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04800" y="309350"/>
            <a:ext cx="8537700" cy="7482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28575"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40" name="Google Shape;40;p9"/>
          <p:cNvSpPr txBox="1">
            <a:spLocks noGrp="1"/>
          </p:cNvSpPr>
          <p:nvPr>
            <p:ph type="subTitle" idx="1"/>
          </p:nvPr>
        </p:nvSpPr>
        <p:spPr>
          <a:xfrm>
            <a:off x="265500" y="2845223"/>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accent1"/>
              </a:buClr>
              <a:buSzPts val="1800"/>
              <a:buChar char="●"/>
              <a:defRPr>
                <a:solidFill>
                  <a:schemeClr val="accent1"/>
                </a:solidFill>
                <a:highlight>
                  <a:schemeClr val="lt1"/>
                </a:highlight>
              </a:defRPr>
            </a:lvl1pPr>
            <a:lvl2pPr marL="914400" lvl="1" indent="-317500">
              <a:spcBef>
                <a:spcPts val="0"/>
              </a:spcBef>
              <a:spcAft>
                <a:spcPts val="0"/>
              </a:spcAft>
              <a:buClr>
                <a:schemeClr val="accent1"/>
              </a:buClr>
              <a:buSzPts val="1400"/>
              <a:buChar char="○"/>
              <a:defRPr>
                <a:solidFill>
                  <a:schemeClr val="accent1"/>
                </a:solidFill>
                <a:highlight>
                  <a:schemeClr val="lt1"/>
                </a:highlight>
              </a:defRPr>
            </a:lvl2pPr>
            <a:lvl3pPr marL="1371600" lvl="2" indent="-317500">
              <a:spcBef>
                <a:spcPts val="0"/>
              </a:spcBef>
              <a:spcAft>
                <a:spcPts val="0"/>
              </a:spcAft>
              <a:buClr>
                <a:schemeClr val="accent1"/>
              </a:buClr>
              <a:buSzPts val="1400"/>
              <a:buChar char="■"/>
              <a:defRPr>
                <a:solidFill>
                  <a:schemeClr val="accent1"/>
                </a:solidFill>
                <a:highlight>
                  <a:schemeClr val="lt1"/>
                </a:highlight>
              </a:defRPr>
            </a:lvl3pPr>
            <a:lvl4pPr marL="1828800" lvl="3" indent="-317500">
              <a:spcBef>
                <a:spcPts val="0"/>
              </a:spcBef>
              <a:spcAft>
                <a:spcPts val="0"/>
              </a:spcAft>
              <a:buClr>
                <a:schemeClr val="accent1"/>
              </a:buClr>
              <a:buSzPts val="1400"/>
              <a:buChar char="●"/>
              <a:defRPr>
                <a:solidFill>
                  <a:schemeClr val="accent1"/>
                </a:solidFill>
                <a:highlight>
                  <a:schemeClr val="lt1"/>
                </a:highlight>
              </a:defRPr>
            </a:lvl4pPr>
            <a:lvl5pPr marL="2286000" lvl="4" indent="-317500">
              <a:spcBef>
                <a:spcPts val="0"/>
              </a:spcBef>
              <a:spcAft>
                <a:spcPts val="0"/>
              </a:spcAft>
              <a:buClr>
                <a:schemeClr val="accent1"/>
              </a:buClr>
              <a:buSzPts val="1400"/>
              <a:buChar char="○"/>
              <a:defRPr>
                <a:solidFill>
                  <a:schemeClr val="accent1"/>
                </a:solidFill>
                <a:highlight>
                  <a:schemeClr val="lt1"/>
                </a:highlight>
              </a:defRPr>
            </a:lvl5pPr>
            <a:lvl6pPr marL="2743200" lvl="5" indent="-317500">
              <a:spcBef>
                <a:spcPts val="0"/>
              </a:spcBef>
              <a:spcAft>
                <a:spcPts val="0"/>
              </a:spcAft>
              <a:buClr>
                <a:schemeClr val="accent1"/>
              </a:buClr>
              <a:buSzPts val="1400"/>
              <a:buChar char="■"/>
              <a:defRPr>
                <a:solidFill>
                  <a:schemeClr val="accent1"/>
                </a:solidFill>
                <a:highlight>
                  <a:schemeClr val="lt1"/>
                </a:highlight>
              </a:defRPr>
            </a:lvl6pPr>
            <a:lvl7pPr marL="3200400" lvl="6" indent="-317500">
              <a:spcBef>
                <a:spcPts val="0"/>
              </a:spcBef>
              <a:spcAft>
                <a:spcPts val="0"/>
              </a:spcAft>
              <a:buClr>
                <a:schemeClr val="accent1"/>
              </a:buClr>
              <a:buSzPts val="1400"/>
              <a:buChar char="●"/>
              <a:defRPr>
                <a:solidFill>
                  <a:schemeClr val="accent1"/>
                </a:solidFill>
                <a:highlight>
                  <a:schemeClr val="lt1"/>
                </a:highlight>
              </a:defRPr>
            </a:lvl7pPr>
            <a:lvl8pPr marL="3657600" lvl="7" indent="-317500">
              <a:spcBef>
                <a:spcPts val="0"/>
              </a:spcBef>
              <a:spcAft>
                <a:spcPts val="0"/>
              </a:spcAft>
              <a:buClr>
                <a:schemeClr val="accent1"/>
              </a:buClr>
              <a:buSzPts val="1400"/>
              <a:buChar char="○"/>
              <a:defRPr>
                <a:solidFill>
                  <a:schemeClr val="accent1"/>
                </a:solidFill>
                <a:highlight>
                  <a:schemeClr val="lt1"/>
                </a:highlight>
              </a:defRPr>
            </a:lvl8pPr>
            <a:lvl9pPr marL="4114800" lvl="8" indent="-317500">
              <a:spcBef>
                <a:spcPts val="0"/>
              </a:spcBef>
              <a:spcAft>
                <a:spcPts val="0"/>
              </a:spcAft>
              <a:buClr>
                <a:schemeClr val="accent1"/>
              </a:buClr>
              <a:buSzPts val="1400"/>
              <a:buChar char="■"/>
              <a:defRPr>
                <a:solidFill>
                  <a:schemeClr val="accent1"/>
                </a:solidFill>
                <a:highlight>
                  <a:schemeClr val="lt1"/>
                </a:highlight>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accent1"/>
              </a:buClr>
              <a:buSzPts val="2400"/>
              <a:buFont typeface="Amatic SC"/>
              <a:buNone/>
              <a:defRPr sz="2400" b="1">
                <a:solidFill>
                  <a:schemeClr val="accent1"/>
                </a:solidFill>
                <a:latin typeface="Amatic SC"/>
                <a:ea typeface="Amatic SC"/>
                <a:cs typeface="Amatic SC"/>
                <a:sym typeface="Amatic SC"/>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240275"/>
            <a:ext cx="8520600" cy="19818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a:spLocks noGrp="1"/>
          </p:cNvSpPr>
          <p:nvPr>
            <p:ph type="body" idx="1"/>
          </p:nvPr>
        </p:nvSpPr>
        <p:spPr>
          <a:xfrm>
            <a:off x="311700" y="33046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accent1"/>
              </a:buClr>
              <a:buSzPts val="1800"/>
              <a:buChar char="●"/>
              <a:defRPr>
                <a:solidFill>
                  <a:schemeClr val="accent1"/>
                </a:solidFill>
                <a:highlight>
                  <a:schemeClr val="dk1"/>
                </a:highlight>
              </a:defRPr>
            </a:lvl1pPr>
            <a:lvl2pPr marL="914400" lvl="1" indent="-317500" algn="ctr">
              <a:spcBef>
                <a:spcPts val="0"/>
              </a:spcBef>
              <a:spcAft>
                <a:spcPts val="0"/>
              </a:spcAft>
              <a:buClr>
                <a:schemeClr val="accent1"/>
              </a:buClr>
              <a:buSzPts val="1400"/>
              <a:buChar char="○"/>
              <a:defRPr>
                <a:solidFill>
                  <a:schemeClr val="accent1"/>
                </a:solidFill>
                <a:highlight>
                  <a:schemeClr val="dk1"/>
                </a:highlight>
              </a:defRPr>
            </a:lvl2pPr>
            <a:lvl3pPr marL="1371600" lvl="2" indent="-317500" algn="ctr">
              <a:spcBef>
                <a:spcPts val="0"/>
              </a:spcBef>
              <a:spcAft>
                <a:spcPts val="0"/>
              </a:spcAft>
              <a:buClr>
                <a:schemeClr val="accent1"/>
              </a:buClr>
              <a:buSzPts val="1400"/>
              <a:buChar char="■"/>
              <a:defRPr>
                <a:solidFill>
                  <a:schemeClr val="accent1"/>
                </a:solidFill>
                <a:highlight>
                  <a:schemeClr val="dk1"/>
                </a:highlight>
              </a:defRPr>
            </a:lvl3pPr>
            <a:lvl4pPr marL="1828800" lvl="3" indent="-317500" algn="ctr">
              <a:spcBef>
                <a:spcPts val="0"/>
              </a:spcBef>
              <a:spcAft>
                <a:spcPts val="0"/>
              </a:spcAft>
              <a:buClr>
                <a:schemeClr val="accent1"/>
              </a:buClr>
              <a:buSzPts val="1400"/>
              <a:buChar char="●"/>
              <a:defRPr>
                <a:solidFill>
                  <a:schemeClr val="accent1"/>
                </a:solidFill>
                <a:highlight>
                  <a:schemeClr val="dk1"/>
                </a:highlight>
              </a:defRPr>
            </a:lvl4pPr>
            <a:lvl5pPr marL="2286000" lvl="4" indent="-317500" algn="ctr">
              <a:spcBef>
                <a:spcPts val="0"/>
              </a:spcBef>
              <a:spcAft>
                <a:spcPts val="0"/>
              </a:spcAft>
              <a:buClr>
                <a:schemeClr val="accent1"/>
              </a:buClr>
              <a:buSzPts val="1400"/>
              <a:buChar char="○"/>
              <a:defRPr>
                <a:solidFill>
                  <a:schemeClr val="accent1"/>
                </a:solidFill>
                <a:highlight>
                  <a:schemeClr val="dk1"/>
                </a:highlight>
              </a:defRPr>
            </a:lvl5pPr>
            <a:lvl6pPr marL="2743200" lvl="5" indent="-317500" algn="ctr">
              <a:spcBef>
                <a:spcPts val="0"/>
              </a:spcBef>
              <a:spcAft>
                <a:spcPts val="0"/>
              </a:spcAft>
              <a:buClr>
                <a:schemeClr val="accent1"/>
              </a:buClr>
              <a:buSzPts val="1400"/>
              <a:buChar char="■"/>
              <a:defRPr>
                <a:solidFill>
                  <a:schemeClr val="accent1"/>
                </a:solidFill>
                <a:highlight>
                  <a:schemeClr val="dk1"/>
                </a:highlight>
              </a:defRPr>
            </a:lvl6pPr>
            <a:lvl7pPr marL="3200400" lvl="6" indent="-317500" algn="ctr">
              <a:spcBef>
                <a:spcPts val="0"/>
              </a:spcBef>
              <a:spcAft>
                <a:spcPts val="0"/>
              </a:spcAft>
              <a:buClr>
                <a:schemeClr val="accent1"/>
              </a:buClr>
              <a:buSzPts val="1400"/>
              <a:buChar char="●"/>
              <a:defRPr>
                <a:solidFill>
                  <a:schemeClr val="accent1"/>
                </a:solidFill>
                <a:highlight>
                  <a:schemeClr val="dk1"/>
                </a:highlight>
              </a:defRPr>
            </a:lvl7pPr>
            <a:lvl8pPr marL="3657600" lvl="7" indent="-317500" algn="ctr">
              <a:spcBef>
                <a:spcPts val="0"/>
              </a:spcBef>
              <a:spcAft>
                <a:spcPts val="0"/>
              </a:spcAft>
              <a:buClr>
                <a:schemeClr val="accent1"/>
              </a:buClr>
              <a:buSzPts val="1400"/>
              <a:buChar char="○"/>
              <a:defRPr>
                <a:solidFill>
                  <a:schemeClr val="accent1"/>
                </a:solidFill>
                <a:highlight>
                  <a:schemeClr val="dk1"/>
                </a:highlight>
              </a:defRPr>
            </a:lvl8pPr>
            <a:lvl9pPr marL="4114800" lvl="8" indent="-317500" algn="ctr">
              <a:spcBef>
                <a:spcPts val="0"/>
              </a:spcBef>
              <a:spcAft>
                <a:spcPts val="0"/>
              </a:spcAft>
              <a:buClr>
                <a:schemeClr val="accent1"/>
              </a:buClr>
              <a:buSzPts val="1400"/>
              <a:buChar char="■"/>
              <a:defRPr>
                <a:solidFill>
                  <a:schemeClr val="accent1"/>
                </a:solidFill>
                <a:highlight>
                  <a:schemeClr val="dk1"/>
                </a:highlight>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beach-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92850"/>
            <a:ext cx="8520600" cy="8010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311700" y="1228675"/>
            <a:ext cx="8520600" cy="334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6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3.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6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5.xml"/><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6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7.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6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9.xml"/><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7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Computer Architecture</a:t>
            </a:r>
            <a:endParaRPr/>
          </a:p>
          <a:p>
            <a:pPr marL="0" lvl="0" indent="0" algn="ctr" rtl="0">
              <a:spcBef>
                <a:spcPts val="0"/>
              </a:spcBef>
              <a:spcAft>
                <a:spcPts val="0"/>
              </a:spcAft>
              <a:buNone/>
            </a:pPr>
            <a:r>
              <a:rPr lang="en" sz="5555"/>
              <a:t>Lecture 7:Multi-cycle processor: data path, control unit</a:t>
            </a:r>
            <a:endParaRPr sz="7888"/>
          </a:p>
        </p:txBody>
      </p:sp>
      <p:sp>
        <p:nvSpPr>
          <p:cNvPr id="57" name="Google Shape;57;p13"/>
          <p:cNvSpPr txBox="1"/>
          <p:nvPr/>
        </p:nvSpPr>
        <p:spPr>
          <a:xfrm>
            <a:off x="311700" y="3369800"/>
            <a:ext cx="8520600" cy="479700"/>
          </a:xfrm>
          <a:prstGeom prst="rect">
            <a:avLst/>
          </a:prstGeom>
          <a:noFill/>
          <a:ln>
            <a:noFill/>
          </a:ln>
        </p:spPr>
        <p:txBody>
          <a:bodyPr spcFirstLastPara="1" wrap="square" lIns="91425" tIns="91425" rIns="91425" bIns="91425" anchor="ctr" anchorCtr="0">
            <a:normAutofit lnSpcReduction="10000"/>
          </a:bodyPr>
          <a:lstStyle/>
          <a:p>
            <a:pPr marL="0" lvl="0" indent="0" algn="ctr" rtl="0">
              <a:spcBef>
                <a:spcPts val="0"/>
              </a:spcBef>
              <a:spcAft>
                <a:spcPts val="0"/>
              </a:spcAft>
              <a:buNone/>
            </a:pPr>
            <a:r>
              <a:rPr lang="en" sz="2100" b="1">
                <a:solidFill>
                  <a:srgbClr val="212121"/>
                </a:solidFill>
                <a:latin typeface="Lato"/>
                <a:ea typeface="Lato"/>
                <a:cs typeface="Lato"/>
                <a:sym typeface="Lato"/>
              </a:rPr>
              <a:t>Lector: Konstantin Chaika</a:t>
            </a:r>
            <a:endParaRPr sz="2100" b="1">
              <a:solidFill>
                <a:srgbClr val="212121"/>
              </a:solidFill>
              <a:latin typeface="Lato"/>
              <a:ea typeface="Lato"/>
              <a:cs typeface="Lato"/>
              <a:sym typeface="Lato"/>
            </a:endParaRPr>
          </a:p>
        </p:txBody>
      </p:sp>
      <p:sp>
        <p:nvSpPr>
          <p:cNvPr id="58" name="Google Shape;58;p13"/>
          <p:cNvSpPr txBox="1"/>
          <p:nvPr/>
        </p:nvSpPr>
        <p:spPr>
          <a:xfrm>
            <a:off x="311700" y="3887500"/>
            <a:ext cx="8520600" cy="609000"/>
          </a:xfrm>
          <a:prstGeom prst="rect">
            <a:avLst/>
          </a:prstGeom>
          <a:noFill/>
          <a:ln>
            <a:noFill/>
          </a:ln>
        </p:spPr>
        <p:txBody>
          <a:bodyPr spcFirstLastPara="1" wrap="square" lIns="91425" tIns="91425" rIns="91425" bIns="91425" anchor="ctr" anchorCtr="0">
            <a:noAutofit/>
          </a:bodyPr>
          <a:lstStyle/>
          <a:p>
            <a:pPr marL="0" lvl="0" indent="0" algn="ctr" rtl="0">
              <a:lnSpc>
                <a:spcPct val="95000"/>
              </a:lnSpc>
              <a:spcBef>
                <a:spcPts val="0"/>
              </a:spcBef>
              <a:spcAft>
                <a:spcPts val="0"/>
              </a:spcAft>
              <a:buNone/>
            </a:pPr>
            <a:r>
              <a:rPr lang="en" sz="1251">
                <a:solidFill>
                  <a:srgbClr val="212121"/>
                </a:solidFill>
                <a:latin typeface="Lato"/>
                <a:ea typeface="Lato"/>
                <a:cs typeface="Lato"/>
                <a:sym typeface="Lato"/>
              </a:rPr>
              <a:t>Based on</a:t>
            </a:r>
            <a:endParaRPr sz="1251">
              <a:solidFill>
                <a:srgbClr val="212121"/>
              </a:solidFill>
              <a:latin typeface="Lato"/>
              <a:ea typeface="Lato"/>
              <a:cs typeface="Lato"/>
              <a:sym typeface="Lato"/>
            </a:endParaRPr>
          </a:p>
          <a:p>
            <a:pPr marL="457200" lvl="0" indent="0" algn="ctr" rtl="0">
              <a:lnSpc>
                <a:spcPct val="95000"/>
              </a:lnSpc>
              <a:spcBef>
                <a:spcPts val="0"/>
              </a:spcBef>
              <a:spcAft>
                <a:spcPts val="0"/>
              </a:spcAft>
              <a:buNone/>
            </a:pPr>
            <a:r>
              <a:rPr lang="en" sz="1251">
                <a:solidFill>
                  <a:srgbClr val="212121"/>
                </a:solidFill>
                <a:latin typeface="Lato"/>
                <a:ea typeface="Lato"/>
                <a:cs typeface="Lato"/>
                <a:sym typeface="Lato"/>
              </a:rPr>
              <a:t>- David Harris, Sarah L. Harris, Digital Design and Computer Architecture</a:t>
            </a:r>
            <a:endParaRPr sz="1251">
              <a:solidFill>
                <a:srgbClr val="212121"/>
              </a:solidFill>
              <a:latin typeface="Lato"/>
              <a:ea typeface="Lato"/>
              <a:cs typeface="Lato"/>
              <a:sym typeface="Lato"/>
            </a:endParaRPr>
          </a:p>
        </p:txBody>
      </p:sp>
      <p:sp>
        <p:nvSpPr>
          <p:cNvPr id="59" name="Google Shape;59;p13"/>
          <p:cNvSpPr txBox="1"/>
          <p:nvPr/>
        </p:nvSpPr>
        <p:spPr>
          <a:xfrm>
            <a:off x="311693" y="4534508"/>
            <a:ext cx="8520600" cy="609000"/>
          </a:xfrm>
          <a:prstGeom prst="rect">
            <a:avLst/>
          </a:prstGeom>
          <a:noFill/>
          <a:ln>
            <a:noFill/>
          </a:ln>
        </p:spPr>
        <p:txBody>
          <a:bodyPr spcFirstLastPara="1" wrap="square" lIns="91425" tIns="91425" rIns="91425" bIns="91425" anchor="ctr" anchorCtr="0">
            <a:normAutofit/>
          </a:bodyPr>
          <a:lstStyle/>
          <a:p>
            <a:pPr marL="0" lvl="0" indent="0" algn="ctr" rtl="0">
              <a:lnSpc>
                <a:spcPct val="80000"/>
              </a:lnSpc>
              <a:spcBef>
                <a:spcPts val="0"/>
              </a:spcBef>
              <a:spcAft>
                <a:spcPts val="0"/>
              </a:spcAft>
              <a:buNone/>
            </a:pPr>
            <a:r>
              <a:rPr lang="en" sz="1679" b="1">
                <a:solidFill>
                  <a:srgbClr val="212121"/>
                </a:solidFill>
                <a:latin typeface="Lato"/>
                <a:ea typeface="Lato"/>
                <a:cs typeface="Lato"/>
                <a:sym typeface="Lato"/>
              </a:rPr>
              <a:t>Constructor University Bremen</a:t>
            </a:r>
            <a:br>
              <a:rPr lang="en" sz="1679" b="1">
                <a:solidFill>
                  <a:srgbClr val="212121"/>
                </a:solidFill>
                <a:latin typeface="Lato"/>
                <a:ea typeface="Lato"/>
                <a:cs typeface="Lato"/>
                <a:sym typeface="Lato"/>
              </a:rPr>
            </a:br>
            <a:r>
              <a:rPr lang="en" sz="1679" b="1">
                <a:solidFill>
                  <a:srgbClr val="212121"/>
                </a:solidFill>
                <a:latin typeface="Lato"/>
                <a:ea typeface="Lato"/>
                <a:cs typeface="Lato"/>
                <a:sym typeface="Lato"/>
              </a:rPr>
              <a:t>Spring 2025</a:t>
            </a:r>
            <a:endParaRPr sz="1679" b="1">
              <a:solidFill>
                <a:srgbClr val="21212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3943253" y="2053001"/>
            <a:ext cx="5200748" cy="3090498"/>
          </a:xfrm>
          <a:prstGeom prst="rect">
            <a:avLst/>
          </a:prstGeom>
          <a:noFill/>
          <a:ln>
            <a:noFill/>
          </a:ln>
        </p:spPr>
      </p:pic>
      <p:sp>
        <p:nvSpPr>
          <p:cNvPr id="65" name="Google Shape;65;p1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 previous episodes</a:t>
            </a:r>
            <a:endParaRPr/>
          </a:p>
        </p:txBody>
      </p:sp>
      <p:sp>
        <p:nvSpPr>
          <p:cNvPr id="66" name="Google Shape;66;p14"/>
          <p:cNvSpPr txBox="1">
            <a:spLocks noGrp="1"/>
          </p:cNvSpPr>
          <p:nvPr>
            <p:ph type="body" idx="1"/>
          </p:nvPr>
        </p:nvSpPr>
        <p:spPr>
          <a:xfrm>
            <a:off x="311700" y="1228675"/>
            <a:ext cx="4467300" cy="3340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Complete single-cycle processor</a:t>
            </a:r>
            <a:endParaRPr/>
          </a:p>
          <a:p>
            <a:pPr marL="457200" lvl="0" indent="-342900" algn="l" rtl="0">
              <a:spcBef>
                <a:spcPts val="0"/>
              </a:spcBef>
              <a:spcAft>
                <a:spcPts val="0"/>
              </a:spcAft>
              <a:buSzPts val="1800"/>
              <a:buChar char="●"/>
            </a:pPr>
            <a:r>
              <a:rPr lang="en"/>
              <a:t>Commands executing in </a:t>
            </a:r>
            <a:r>
              <a:rPr lang="en" b="1"/>
              <a:t>hardware</a:t>
            </a:r>
            <a:endParaRPr b="1"/>
          </a:p>
          <a:p>
            <a:pPr marL="914400" lvl="1" indent="-317500" algn="l" rtl="0">
              <a:spcBef>
                <a:spcPts val="0"/>
              </a:spcBef>
              <a:spcAft>
                <a:spcPts val="0"/>
              </a:spcAft>
              <a:buSzPts val="1400"/>
              <a:buChar char="○"/>
            </a:pPr>
            <a:r>
              <a:rPr lang="en"/>
              <a:t>Fetch instruction from memory</a:t>
            </a:r>
            <a:endParaRPr/>
          </a:p>
          <a:p>
            <a:pPr marL="914400" lvl="1" indent="-317500" algn="l" rtl="0">
              <a:spcBef>
                <a:spcPts val="0"/>
              </a:spcBef>
              <a:spcAft>
                <a:spcPts val="0"/>
              </a:spcAft>
              <a:buSzPts val="1400"/>
              <a:buChar char="○"/>
            </a:pPr>
            <a:r>
              <a:rPr lang="en"/>
              <a:t>Read source operand from register</a:t>
            </a:r>
            <a:endParaRPr/>
          </a:p>
          <a:p>
            <a:pPr marL="914400" lvl="1" indent="-317500" algn="l" rtl="0">
              <a:spcBef>
                <a:spcPts val="0"/>
              </a:spcBef>
              <a:spcAft>
                <a:spcPts val="0"/>
              </a:spcAft>
              <a:buSzPts val="1400"/>
              <a:buChar char="○"/>
            </a:pPr>
            <a:r>
              <a:rPr lang="en"/>
              <a:t>Compute memory address</a:t>
            </a:r>
            <a:endParaRPr/>
          </a:p>
          <a:p>
            <a:pPr marL="914400" lvl="1" indent="-317500" algn="l" rtl="0">
              <a:spcBef>
                <a:spcPts val="0"/>
              </a:spcBef>
              <a:spcAft>
                <a:spcPts val="0"/>
              </a:spcAft>
              <a:buSzPts val="1400"/>
              <a:buChar char="○"/>
            </a:pPr>
            <a:r>
              <a:rPr lang="en"/>
              <a:t>Write data back to register</a:t>
            </a:r>
            <a:endParaRPr/>
          </a:p>
          <a:p>
            <a:pPr marL="0" lvl="0" indent="0" algn="l" rtl="0">
              <a:spcBef>
                <a:spcPts val="1200"/>
              </a:spcBef>
              <a:spcAft>
                <a:spcPts val="0"/>
              </a:spcAft>
              <a:buNone/>
            </a:pPr>
            <a:endParaRPr/>
          </a:p>
          <a:p>
            <a:pPr marL="0" lvl="0" indent="0" algn="l" rtl="0">
              <a:spcBef>
                <a:spcPts val="1200"/>
              </a:spcBef>
              <a:spcAft>
                <a:spcPts val="1200"/>
              </a:spcAft>
              <a:buNone/>
            </a:pPr>
            <a:r>
              <a:rPr lang="en" b="1"/>
              <a:t>What disadvantages do you see?</a:t>
            </a:r>
            <a:endParaRPr b="1"/>
          </a:p>
        </p:txBody>
      </p:sp>
      <p:sp>
        <p:nvSpPr>
          <p:cNvPr id="67" name="Google Shape;6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Single-cycle processor problems</a:t>
            </a:r>
            <a:endParaRPr/>
          </a:p>
        </p:txBody>
      </p:sp>
      <p:sp>
        <p:nvSpPr>
          <p:cNvPr id="73" name="Google Shape;73;p15"/>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Requires a clock cycle long enough to support the slowest instruction, even though most instructions are faster</a:t>
            </a:r>
            <a:endParaRPr/>
          </a:p>
          <a:p>
            <a:pPr marL="457200" lvl="0" indent="-342900" algn="l" rtl="0">
              <a:spcBef>
                <a:spcPts val="0"/>
              </a:spcBef>
              <a:spcAft>
                <a:spcPts val="0"/>
              </a:spcAft>
              <a:buSzPts val="1800"/>
              <a:buChar char="●"/>
            </a:pPr>
            <a:r>
              <a:rPr lang="en"/>
              <a:t>Requires extra adders: in the ALU and for the PC logic (adders are relatively expensive circuits, especially if they must be fast)</a:t>
            </a:r>
            <a:endParaRPr/>
          </a:p>
          <a:p>
            <a:pPr marL="457200" lvl="0" indent="-342900" algn="l" rtl="0">
              <a:spcBef>
                <a:spcPts val="0"/>
              </a:spcBef>
              <a:spcAft>
                <a:spcPts val="0"/>
              </a:spcAft>
              <a:buSzPts val="1800"/>
              <a:buChar char="●"/>
            </a:pPr>
            <a:r>
              <a:rPr lang="en"/>
              <a:t>It has separate instruction and data memories, which may not be realistic</a:t>
            </a:r>
            <a:endParaRPr/>
          </a:p>
          <a:p>
            <a:pPr marL="457200" lvl="0" indent="0" algn="l" rtl="0">
              <a:spcBef>
                <a:spcPts val="1200"/>
              </a:spcBef>
              <a:spcAft>
                <a:spcPts val="0"/>
              </a:spcAft>
              <a:buNone/>
            </a:pPr>
            <a:endParaRPr/>
          </a:p>
          <a:p>
            <a:pPr marL="457200" lvl="0" indent="0" algn="l" rtl="0">
              <a:spcBef>
                <a:spcPts val="1200"/>
              </a:spcBef>
              <a:spcAft>
                <a:spcPts val="1200"/>
              </a:spcAft>
              <a:buNone/>
            </a:pPr>
            <a:r>
              <a:rPr lang="en" b="1"/>
              <a:t>What is the solution?</a:t>
            </a:r>
            <a:endParaRPr b="1"/>
          </a:p>
        </p:txBody>
      </p:sp>
      <p:sp>
        <p:nvSpPr>
          <p:cNvPr id="74" name="Google Shape;74;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2802750" y="802500"/>
            <a:ext cx="3538500" cy="35385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MIPS architecture</a:t>
            </a:r>
            <a:endParaRPr/>
          </a:p>
        </p:txBody>
      </p:sp>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Instruction types</a:t>
            </a:r>
            <a:endParaRPr/>
          </a:p>
        </p:txBody>
      </p:sp>
      <p:sp>
        <p:nvSpPr>
          <p:cNvPr id="86" name="Google Shape;86;p17"/>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457200" lvl="0" indent="-393700" algn="l" rtl="0">
              <a:spcBef>
                <a:spcPts val="0"/>
              </a:spcBef>
              <a:spcAft>
                <a:spcPts val="0"/>
              </a:spcAft>
              <a:buSzPts val="2600"/>
              <a:buChar char="●"/>
            </a:pPr>
            <a:r>
              <a:rPr lang="en" sz="2600" b="1"/>
              <a:t>R</a:t>
            </a:r>
            <a:r>
              <a:rPr lang="en" sz="2600"/>
              <a:t>(register)</a:t>
            </a:r>
            <a:r>
              <a:rPr lang="en" sz="2600" b="1"/>
              <a:t>-type</a:t>
            </a:r>
            <a:r>
              <a:rPr lang="en" sz="2600"/>
              <a:t> (instructions operate on three registers)</a:t>
            </a:r>
            <a:endParaRPr sz="2600"/>
          </a:p>
          <a:p>
            <a:pPr marL="457200" lvl="0" indent="-393700" algn="l" rtl="0">
              <a:spcBef>
                <a:spcPts val="0"/>
              </a:spcBef>
              <a:spcAft>
                <a:spcPts val="0"/>
              </a:spcAft>
              <a:buSzPts val="2600"/>
              <a:buChar char="●"/>
            </a:pPr>
            <a:r>
              <a:rPr lang="en" sz="2600" b="1"/>
              <a:t>I</a:t>
            </a:r>
            <a:r>
              <a:rPr lang="en" sz="2600"/>
              <a:t>(immediate)</a:t>
            </a:r>
            <a:r>
              <a:rPr lang="en" sz="2600" b="1"/>
              <a:t>-type</a:t>
            </a:r>
            <a:r>
              <a:rPr lang="en" sz="2600"/>
              <a:t> (instructions operate on two registers and a 16-bit immediate)</a:t>
            </a:r>
            <a:endParaRPr sz="2600"/>
          </a:p>
          <a:p>
            <a:pPr marL="457200" lvl="0" indent="-393700" algn="l" rtl="0">
              <a:spcBef>
                <a:spcPts val="0"/>
              </a:spcBef>
              <a:spcAft>
                <a:spcPts val="0"/>
              </a:spcAft>
              <a:buSzPts val="2600"/>
              <a:buChar char="●"/>
            </a:pPr>
            <a:r>
              <a:rPr lang="en" sz="2600" b="1"/>
              <a:t>J</a:t>
            </a:r>
            <a:r>
              <a:rPr lang="en" sz="2600"/>
              <a:t>(jump)</a:t>
            </a:r>
            <a:r>
              <a:rPr lang="en" sz="2600" b="1"/>
              <a:t>-type</a:t>
            </a:r>
            <a:r>
              <a:rPr lang="en" sz="2600"/>
              <a:t> (instructions operate on one 26-bit immediate)</a:t>
            </a:r>
            <a:endParaRPr sz="2600"/>
          </a:p>
        </p:txBody>
      </p:sp>
      <p:sp>
        <p:nvSpPr>
          <p:cNvPr id="87" name="Google Shape;87;p17"/>
          <p:cNvSpPr txBox="1"/>
          <p:nvPr/>
        </p:nvSpPr>
        <p:spPr>
          <a:xfrm>
            <a:off x="311700" y="4314825"/>
            <a:ext cx="8618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Immediates == constants which values are immediately available from the instruction and do not require a register or memory access</a:t>
            </a:r>
            <a:endParaRPr>
              <a:latin typeface="Lato"/>
              <a:ea typeface="Lato"/>
              <a:cs typeface="Lato"/>
              <a:sym typeface="Lato"/>
            </a:endParaRPr>
          </a:p>
        </p:txBody>
      </p:sp>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R-type commands</a:t>
            </a:r>
            <a:endParaRPr/>
          </a:p>
        </p:txBody>
      </p:sp>
      <p:pic>
        <p:nvPicPr>
          <p:cNvPr id="94" name="Google Shape;94;p18"/>
          <p:cNvPicPr preferRelativeResize="0"/>
          <p:nvPr/>
        </p:nvPicPr>
        <p:blipFill>
          <a:blip r:embed="rId3">
            <a:alphaModFix/>
          </a:blip>
          <a:stretch>
            <a:fillRect/>
          </a:stretch>
        </p:blipFill>
        <p:spPr>
          <a:xfrm>
            <a:off x="1903200" y="1231875"/>
            <a:ext cx="5337601" cy="1420750"/>
          </a:xfrm>
          <a:prstGeom prst="rect">
            <a:avLst/>
          </a:prstGeom>
          <a:noFill/>
          <a:ln>
            <a:noFill/>
          </a:ln>
        </p:spPr>
      </p:pic>
      <p:pic>
        <p:nvPicPr>
          <p:cNvPr id="95" name="Google Shape;95;p18"/>
          <p:cNvPicPr preferRelativeResize="0"/>
          <p:nvPr/>
        </p:nvPicPr>
        <p:blipFill>
          <a:blip r:embed="rId4">
            <a:alphaModFix/>
          </a:blip>
          <a:stretch>
            <a:fillRect/>
          </a:stretch>
        </p:blipFill>
        <p:spPr>
          <a:xfrm>
            <a:off x="152400" y="3221950"/>
            <a:ext cx="8839200" cy="1373484"/>
          </a:xfrm>
          <a:prstGeom prst="rect">
            <a:avLst/>
          </a:prstGeom>
          <a:noFill/>
          <a:ln>
            <a:noFill/>
          </a:ln>
        </p:spPr>
      </p:pic>
      <p:sp>
        <p:nvSpPr>
          <p:cNvPr id="96" name="Google Shape;96;p18"/>
          <p:cNvSpPr/>
          <p:nvPr/>
        </p:nvSpPr>
        <p:spPr>
          <a:xfrm>
            <a:off x="5850450" y="1356200"/>
            <a:ext cx="793550" cy="317425"/>
          </a:xfrm>
          <a:custGeom>
            <a:avLst/>
            <a:gdLst/>
            <a:ahLst/>
            <a:cxnLst/>
            <a:rect l="l" t="t" r="r" b="b"/>
            <a:pathLst>
              <a:path w="31742" h="12697" extrusionOk="0">
                <a:moveTo>
                  <a:pt x="31742" y="0"/>
                </a:moveTo>
                <a:cubicBezTo>
                  <a:pt x="27895" y="673"/>
                  <a:pt x="13947" y="1924"/>
                  <a:pt x="8657" y="4040"/>
                </a:cubicBezTo>
                <a:cubicBezTo>
                  <a:pt x="3367" y="6156"/>
                  <a:pt x="1443" y="11254"/>
                  <a:pt x="0" y="12697"/>
                </a:cubicBezTo>
              </a:path>
            </a:pathLst>
          </a:custGeom>
          <a:noFill/>
          <a:ln w="38100" cap="flat" cmpd="sng">
            <a:solidFill>
              <a:srgbClr val="00FDC8"/>
            </a:solidFill>
            <a:prstDash val="solid"/>
            <a:round/>
            <a:headEnd type="none" w="med" len="med"/>
            <a:tailEnd type="triangle" w="med" len="med"/>
          </a:ln>
        </p:spPr>
      </p:sp>
      <p:sp>
        <p:nvSpPr>
          <p:cNvPr id="97" name="Google Shape;97;p18"/>
          <p:cNvSpPr txBox="1"/>
          <p:nvPr/>
        </p:nvSpPr>
        <p:spPr>
          <a:xfrm>
            <a:off x="6600650" y="1135400"/>
            <a:ext cx="2271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Lato"/>
                <a:ea typeface="Lato"/>
                <a:cs typeface="Lato"/>
                <a:sym typeface="Lato"/>
              </a:rPr>
              <a:t>Shift amount</a:t>
            </a:r>
            <a:endParaRPr sz="1000">
              <a:latin typeface="Lato"/>
              <a:ea typeface="Lato"/>
              <a:cs typeface="Lato"/>
              <a:sym typeface="Lato"/>
            </a:endParaRPr>
          </a:p>
        </p:txBody>
      </p:sp>
      <p:sp>
        <p:nvSpPr>
          <p:cNvPr id="98" name="Google Shape;98;p18"/>
          <p:cNvSpPr/>
          <p:nvPr/>
        </p:nvSpPr>
        <p:spPr>
          <a:xfrm>
            <a:off x="7173125" y="2005475"/>
            <a:ext cx="668375" cy="173125"/>
          </a:xfrm>
          <a:custGeom>
            <a:avLst/>
            <a:gdLst/>
            <a:ahLst/>
            <a:cxnLst/>
            <a:rect l="l" t="t" r="r" b="b"/>
            <a:pathLst>
              <a:path w="26735" h="6925" extrusionOk="0">
                <a:moveTo>
                  <a:pt x="26735" y="6925"/>
                </a:moveTo>
                <a:cubicBezTo>
                  <a:pt x="24233" y="6153"/>
                  <a:pt x="16180" y="3449"/>
                  <a:pt x="11724" y="2295"/>
                </a:cubicBezTo>
                <a:cubicBezTo>
                  <a:pt x="7268" y="1141"/>
                  <a:pt x="1954" y="383"/>
                  <a:pt x="0" y="0"/>
                </a:cubicBezTo>
              </a:path>
            </a:pathLst>
          </a:custGeom>
          <a:noFill/>
          <a:ln w="38100" cap="flat" cmpd="sng">
            <a:solidFill>
              <a:srgbClr val="00FDC8"/>
            </a:solidFill>
            <a:prstDash val="solid"/>
            <a:round/>
            <a:headEnd type="none" w="med" len="med"/>
            <a:tailEnd type="triangle" w="med" len="med"/>
          </a:ln>
        </p:spPr>
      </p:sp>
      <p:sp>
        <p:nvSpPr>
          <p:cNvPr id="99" name="Google Shape;99;p18"/>
          <p:cNvSpPr txBox="1"/>
          <p:nvPr/>
        </p:nvSpPr>
        <p:spPr>
          <a:xfrm>
            <a:off x="7665050" y="2106475"/>
            <a:ext cx="9051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Lato"/>
                <a:ea typeface="Lato"/>
                <a:cs typeface="Lato"/>
                <a:sym typeface="Lato"/>
              </a:rPr>
              <a:t>For ALU</a:t>
            </a:r>
            <a:endParaRPr sz="1000">
              <a:latin typeface="Lato"/>
              <a:ea typeface="Lato"/>
              <a:cs typeface="Lato"/>
              <a:sym typeface="Lato"/>
            </a:endParaRPr>
          </a:p>
        </p:txBody>
      </p:sp>
      <p:sp>
        <p:nvSpPr>
          <p:cNvPr id="100" name="Google Shape;100;p18"/>
          <p:cNvSpPr/>
          <p:nvPr/>
        </p:nvSpPr>
        <p:spPr>
          <a:xfrm>
            <a:off x="1370650" y="2083500"/>
            <a:ext cx="604700" cy="148800"/>
          </a:xfrm>
          <a:custGeom>
            <a:avLst/>
            <a:gdLst/>
            <a:ahLst/>
            <a:cxnLst/>
            <a:rect l="l" t="t" r="r" b="b"/>
            <a:pathLst>
              <a:path w="24188" h="5952" extrusionOk="0">
                <a:moveTo>
                  <a:pt x="0" y="5952"/>
                </a:moveTo>
                <a:cubicBezTo>
                  <a:pt x="2054" y="5189"/>
                  <a:pt x="8290" y="2364"/>
                  <a:pt x="12321" y="1372"/>
                </a:cubicBezTo>
                <a:cubicBezTo>
                  <a:pt x="16352" y="380"/>
                  <a:pt x="22210" y="229"/>
                  <a:pt x="24188" y="0"/>
                </a:cubicBezTo>
              </a:path>
            </a:pathLst>
          </a:custGeom>
          <a:noFill/>
          <a:ln w="38100" cap="flat" cmpd="sng">
            <a:solidFill>
              <a:srgbClr val="00FDC8"/>
            </a:solidFill>
            <a:prstDash val="solid"/>
            <a:round/>
            <a:headEnd type="none" w="med" len="med"/>
            <a:tailEnd type="triangle" w="med" len="med"/>
          </a:ln>
        </p:spPr>
      </p:sp>
      <p:sp>
        <p:nvSpPr>
          <p:cNvPr id="101" name="Google Shape;101;p18"/>
          <p:cNvSpPr txBox="1"/>
          <p:nvPr/>
        </p:nvSpPr>
        <p:spPr>
          <a:xfrm>
            <a:off x="803625" y="2156975"/>
            <a:ext cx="9051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Lato"/>
                <a:ea typeface="Lato"/>
                <a:cs typeface="Lato"/>
                <a:sym typeface="Lato"/>
              </a:rPr>
              <a:t>0 for R-type</a:t>
            </a:r>
            <a:endParaRPr sz="1000">
              <a:latin typeface="Lato"/>
              <a:ea typeface="Lato"/>
              <a:cs typeface="Lato"/>
              <a:sym typeface="Lato"/>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I-type commands</a:t>
            </a:r>
            <a:endParaRPr/>
          </a:p>
        </p:txBody>
      </p:sp>
      <p:pic>
        <p:nvPicPr>
          <p:cNvPr id="108" name="Google Shape;108;p19"/>
          <p:cNvPicPr preferRelativeResize="0"/>
          <p:nvPr/>
        </p:nvPicPr>
        <p:blipFill>
          <a:blip r:embed="rId3">
            <a:alphaModFix/>
          </a:blip>
          <a:stretch>
            <a:fillRect/>
          </a:stretch>
        </p:blipFill>
        <p:spPr>
          <a:xfrm>
            <a:off x="1792798" y="1260625"/>
            <a:ext cx="5558400" cy="1213050"/>
          </a:xfrm>
          <a:prstGeom prst="rect">
            <a:avLst/>
          </a:prstGeom>
          <a:noFill/>
          <a:ln>
            <a:noFill/>
          </a:ln>
        </p:spPr>
      </p:pic>
      <p:pic>
        <p:nvPicPr>
          <p:cNvPr id="109" name="Google Shape;109;p19"/>
          <p:cNvPicPr preferRelativeResize="0"/>
          <p:nvPr/>
        </p:nvPicPr>
        <p:blipFill>
          <a:blip r:embed="rId4">
            <a:alphaModFix/>
          </a:blip>
          <a:stretch>
            <a:fillRect/>
          </a:stretch>
        </p:blipFill>
        <p:spPr>
          <a:xfrm>
            <a:off x="152400" y="2778475"/>
            <a:ext cx="8839198" cy="1915074"/>
          </a:xfrm>
          <a:prstGeom prst="rect">
            <a:avLst/>
          </a:prstGeom>
          <a:noFill/>
          <a:ln>
            <a:noFill/>
          </a:ln>
        </p:spPr>
      </p:pic>
      <p:sp>
        <p:nvSpPr>
          <p:cNvPr id="110" name="Google Shape;11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LW (Load word)</a:t>
            </a:r>
            <a:endParaRPr/>
          </a:p>
        </p:txBody>
      </p:sp>
      <p:pic>
        <p:nvPicPr>
          <p:cNvPr id="116" name="Google Shape;116;p20"/>
          <p:cNvPicPr preferRelativeResize="0"/>
          <p:nvPr/>
        </p:nvPicPr>
        <p:blipFill>
          <a:blip r:embed="rId3">
            <a:alphaModFix/>
          </a:blip>
          <a:stretch>
            <a:fillRect/>
          </a:stretch>
        </p:blipFill>
        <p:spPr>
          <a:xfrm>
            <a:off x="152400" y="3861100"/>
            <a:ext cx="8839200" cy="1236973"/>
          </a:xfrm>
          <a:prstGeom prst="rect">
            <a:avLst/>
          </a:prstGeom>
          <a:noFill/>
          <a:ln>
            <a:noFill/>
          </a:ln>
        </p:spPr>
      </p:pic>
      <p:pic>
        <p:nvPicPr>
          <p:cNvPr id="117" name="Google Shape;117;p20"/>
          <p:cNvPicPr preferRelativeResize="0"/>
          <p:nvPr/>
        </p:nvPicPr>
        <p:blipFill>
          <a:blip r:embed="rId4">
            <a:alphaModFix/>
          </a:blip>
          <a:stretch>
            <a:fillRect/>
          </a:stretch>
        </p:blipFill>
        <p:spPr>
          <a:xfrm>
            <a:off x="1792798" y="1916775"/>
            <a:ext cx="5558400" cy="1213050"/>
          </a:xfrm>
          <a:prstGeom prst="rect">
            <a:avLst/>
          </a:prstGeom>
          <a:noFill/>
          <a:ln>
            <a:noFill/>
          </a:ln>
        </p:spPr>
      </p:pic>
      <p:sp>
        <p:nvSpPr>
          <p:cNvPr id="118" name="Google Shape;118;p20"/>
          <p:cNvSpPr/>
          <p:nvPr/>
        </p:nvSpPr>
        <p:spPr>
          <a:xfrm>
            <a:off x="37575" y="4270625"/>
            <a:ext cx="9001500" cy="3246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0"/>
          <p:cNvSpPr/>
          <p:nvPr/>
        </p:nvSpPr>
        <p:spPr>
          <a:xfrm>
            <a:off x="1868400" y="1368675"/>
            <a:ext cx="5446800" cy="5481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0"/>
          <p:cNvSpPr/>
          <p:nvPr/>
        </p:nvSpPr>
        <p:spPr>
          <a:xfrm>
            <a:off x="3311175" y="1969400"/>
            <a:ext cx="32375" cy="400100"/>
          </a:xfrm>
          <a:custGeom>
            <a:avLst/>
            <a:gdLst/>
            <a:ahLst/>
            <a:cxnLst/>
            <a:rect l="l" t="t" r="r" b="b"/>
            <a:pathLst>
              <a:path w="1295" h="16004" extrusionOk="0">
                <a:moveTo>
                  <a:pt x="0" y="0"/>
                </a:moveTo>
                <a:cubicBezTo>
                  <a:pt x="146" y="802"/>
                  <a:pt x="661" y="2145"/>
                  <a:pt x="877" y="4812"/>
                </a:cubicBezTo>
                <a:cubicBezTo>
                  <a:pt x="1093" y="7479"/>
                  <a:pt x="1225" y="14139"/>
                  <a:pt x="1295" y="16004"/>
                </a:cubicBezTo>
              </a:path>
            </a:pathLst>
          </a:custGeom>
          <a:noFill/>
          <a:ln w="38100" cap="flat" cmpd="sng">
            <a:solidFill>
              <a:srgbClr val="00FDC8"/>
            </a:solidFill>
            <a:prstDash val="solid"/>
            <a:round/>
            <a:headEnd type="none" w="med" len="med"/>
            <a:tailEnd type="triangle" w="med" len="med"/>
          </a:ln>
        </p:spPr>
      </p:sp>
      <p:sp>
        <p:nvSpPr>
          <p:cNvPr id="121" name="Google Shape;121;p20"/>
          <p:cNvSpPr/>
          <p:nvPr/>
        </p:nvSpPr>
        <p:spPr>
          <a:xfrm flipH="1">
            <a:off x="5815300" y="1969400"/>
            <a:ext cx="32375" cy="400100"/>
          </a:xfrm>
          <a:custGeom>
            <a:avLst/>
            <a:gdLst/>
            <a:ahLst/>
            <a:cxnLst/>
            <a:rect l="l" t="t" r="r" b="b"/>
            <a:pathLst>
              <a:path w="1295" h="16004" extrusionOk="0">
                <a:moveTo>
                  <a:pt x="0" y="0"/>
                </a:moveTo>
                <a:cubicBezTo>
                  <a:pt x="146" y="802"/>
                  <a:pt x="661" y="2145"/>
                  <a:pt x="877" y="4812"/>
                </a:cubicBezTo>
                <a:cubicBezTo>
                  <a:pt x="1093" y="7479"/>
                  <a:pt x="1225" y="14139"/>
                  <a:pt x="1295" y="16004"/>
                </a:cubicBezTo>
              </a:path>
            </a:pathLst>
          </a:custGeom>
          <a:noFill/>
          <a:ln w="38100" cap="flat" cmpd="sng">
            <a:solidFill>
              <a:srgbClr val="00FDC8"/>
            </a:solidFill>
            <a:prstDash val="solid"/>
            <a:round/>
            <a:headEnd type="none" w="med" len="med"/>
            <a:tailEnd type="triangle" w="med" len="med"/>
          </a:ln>
        </p:spPr>
      </p:sp>
      <p:sp>
        <p:nvSpPr>
          <p:cNvPr id="122" name="Google Shape;122;p20"/>
          <p:cNvSpPr txBox="1"/>
          <p:nvPr/>
        </p:nvSpPr>
        <p:spPr>
          <a:xfrm>
            <a:off x="2606013" y="1516575"/>
            <a:ext cx="144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Lato"/>
                <a:ea typeface="Lato"/>
                <a:cs typeface="Lato"/>
                <a:sym typeface="Lato"/>
              </a:rPr>
              <a:t>Base address</a:t>
            </a:r>
            <a:endParaRPr>
              <a:latin typeface="Lato"/>
              <a:ea typeface="Lato"/>
              <a:cs typeface="Lato"/>
              <a:sym typeface="Lato"/>
            </a:endParaRPr>
          </a:p>
        </p:txBody>
      </p:sp>
      <p:sp>
        <p:nvSpPr>
          <p:cNvPr id="123" name="Google Shape;123;p20"/>
          <p:cNvSpPr txBox="1"/>
          <p:nvPr/>
        </p:nvSpPr>
        <p:spPr>
          <a:xfrm>
            <a:off x="5110125" y="1516575"/>
            <a:ext cx="144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Lato"/>
                <a:ea typeface="Lato"/>
                <a:cs typeface="Lato"/>
                <a:sym typeface="Lato"/>
              </a:rPr>
              <a:t>Offset</a:t>
            </a:r>
            <a:endParaRPr>
              <a:latin typeface="Lato"/>
              <a:ea typeface="Lato"/>
              <a:cs typeface="Lato"/>
              <a:sym typeface="Lato"/>
            </a:endParaRPr>
          </a:p>
        </p:txBody>
      </p:sp>
      <p:sp>
        <p:nvSpPr>
          <p:cNvPr id="124" name="Google Shape;124;p20"/>
          <p:cNvSpPr txBox="1"/>
          <p:nvPr/>
        </p:nvSpPr>
        <p:spPr>
          <a:xfrm>
            <a:off x="3551963" y="3353063"/>
            <a:ext cx="144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Lato"/>
                <a:ea typeface="Lato"/>
                <a:cs typeface="Lato"/>
                <a:sym typeface="Lato"/>
              </a:rPr>
              <a:t>Destination</a:t>
            </a:r>
            <a:endParaRPr>
              <a:latin typeface="Lato"/>
              <a:ea typeface="Lato"/>
              <a:cs typeface="Lato"/>
              <a:sym typeface="Lato"/>
            </a:endParaRPr>
          </a:p>
        </p:txBody>
      </p:sp>
      <p:sp>
        <p:nvSpPr>
          <p:cNvPr id="125" name="Google Shape;125;p20"/>
          <p:cNvSpPr/>
          <p:nvPr/>
        </p:nvSpPr>
        <p:spPr>
          <a:xfrm rot="10800000">
            <a:off x="4099300" y="3052400"/>
            <a:ext cx="32375" cy="400100"/>
          </a:xfrm>
          <a:custGeom>
            <a:avLst/>
            <a:gdLst/>
            <a:ahLst/>
            <a:cxnLst/>
            <a:rect l="l" t="t" r="r" b="b"/>
            <a:pathLst>
              <a:path w="1295" h="16004" extrusionOk="0">
                <a:moveTo>
                  <a:pt x="0" y="0"/>
                </a:moveTo>
                <a:cubicBezTo>
                  <a:pt x="146" y="802"/>
                  <a:pt x="661" y="2145"/>
                  <a:pt x="877" y="4812"/>
                </a:cubicBezTo>
                <a:cubicBezTo>
                  <a:pt x="1093" y="7479"/>
                  <a:pt x="1225" y="14139"/>
                  <a:pt x="1295" y="16004"/>
                </a:cubicBezTo>
              </a:path>
            </a:pathLst>
          </a:custGeom>
          <a:noFill/>
          <a:ln w="38100" cap="flat" cmpd="sng">
            <a:solidFill>
              <a:srgbClr val="00FDC8"/>
            </a:solidFill>
            <a:prstDash val="solid"/>
            <a:round/>
            <a:headEnd type="none" w="med" len="med"/>
            <a:tailEnd type="triangle" w="med" len="med"/>
          </a:ln>
        </p:spPr>
      </p:sp>
      <p:sp>
        <p:nvSpPr>
          <p:cNvPr id="126" name="Google Shape;126;p20"/>
          <p:cNvSpPr txBox="1"/>
          <p:nvPr/>
        </p:nvSpPr>
        <p:spPr>
          <a:xfrm>
            <a:off x="6945875" y="2552275"/>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0</a:t>
            </a:r>
            <a:endParaRPr sz="1000">
              <a:solidFill>
                <a:srgbClr val="FF9900"/>
              </a:solidFill>
              <a:latin typeface="Lato"/>
              <a:ea typeface="Lato"/>
              <a:cs typeface="Lato"/>
              <a:sym typeface="Lato"/>
            </a:endParaRPr>
          </a:p>
        </p:txBody>
      </p:sp>
      <p:sp>
        <p:nvSpPr>
          <p:cNvPr id="127" name="Google Shape;127;p20"/>
          <p:cNvSpPr txBox="1"/>
          <p:nvPr/>
        </p:nvSpPr>
        <p:spPr>
          <a:xfrm>
            <a:off x="4099300" y="2552263"/>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16</a:t>
            </a:r>
            <a:endParaRPr sz="1000">
              <a:solidFill>
                <a:srgbClr val="FF9900"/>
              </a:solidFill>
              <a:latin typeface="Lato"/>
              <a:ea typeface="Lato"/>
              <a:cs typeface="Lato"/>
              <a:sym typeface="Lato"/>
            </a:endParaRPr>
          </a:p>
        </p:txBody>
      </p:sp>
      <p:sp>
        <p:nvSpPr>
          <p:cNvPr id="128" name="Google Shape;128;p20"/>
          <p:cNvSpPr txBox="1"/>
          <p:nvPr/>
        </p:nvSpPr>
        <p:spPr>
          <a:xfrm>
            <a:off x="3334975" y="2552275"/>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21</a:t>
            </a:r>
            <a:endParaRPr sz="1000">
              <a:solidFill>
                <a:srgbClr val="FF9900"/>
              </a:solidFill>
              <a:latin typeface="Lato"/>
              <a:ea typeface="Lato"/>
              <a:cs typeface="Lato"/>
              <a:sym typeface="Lato"/>
            </a:endParaRPr>
          </a:p>
        </p:txBody>
      </p:sp>
      <p:sp>
        <p:nvSpPr>
          <p:cNvPr id="129" name="Google Shape;129;p20"/>
          <p:cNvSpPr txBox="1"/>
          <p:nvPr/>
        </p:nvSpPr>
        <p:spPr>
          <a:xfrm>
            <a:off x="2586575" y="2552263"/>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26</a:t>
            </a:r>
            <a:endParaRPr sz="1000">
              <a:solidFill>
                <a:srgbClr val="FF9900"/>
              </a:solidFill>
              <a:latin typeface="Lato"/>
              <a:ea typeface="Lato"/>
              <a:cs typeface="Lato"/>
              <a:sym typeface="Lato"/>
            </a:endParaRPr>
          </a:p>
        </p:txBody>
      </p:sp>
      <p:sp>
        <p:nvSpPr>
          <p:cNvPr id="130" name="Google Shape;13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J-type commands</a:t>
            </a:r>
            <a:endParaRPr/>
          </a:p>
        </p:txBody>
      </p:sp>
      <p:pic>
        <p:nvPicPr>
          <p:cNvPr id="136" name="Google Shape;136;p21"/>
          <p:cNvPicPr preferRelativeResize="0"/>
          <p:nvPr/>
        </p:nvPicPr>
        <p:blipFill>
          <a:blip r:embed="rId3">
            <a:alphaModFix/>
          </a:blip>
          <a:stretch>
            <a:fillRect/>
          </a:stretch>
        </p:blipFill>
        <p:spPr>
          <a:xfrm>
            <a:off x="1728788" y="1231675"/>
            <a:ext cx="5686425" cy="1504950"/>
          </a:xfrm>
          <a:prstGeom prst="rect">
            <a:avLst/>
          </a:prstGeom>
          <a:noFill/>
          <a:ln>
            <a:noFill/>
          </a:ln>
        </p:spPr>
      </p:pic>
      <p:sp>
        <p:nvSpPr>
          <p:cNvPr id="137" name="Google Shape;137;p21"/>
          <p:cNvSpPr txBox="1"/>
          <p:nvPr/>
        </p:nvSpPr>
        <p:spPr>
          <a:xfrm>
            <a:off x="649250" y="3318375"/>
            <a:ext cx="4436700" cy="6156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Lato"/>
              <a:buAutoNum type="arabicPeriod"/>
            </a:pPr>
            <a:r>
              <a:rPr lang="en">
                <a:latin typeface="Lato"/>
                <a:ea typeface="Lato"/>
                <a:cs typeface="Lato"/>
                <a:sym typeface="Lato"/>
              </a:rPr>
              <a:t>Jump to address: XXXXX</a:t>
            </a:r>
            <a:endParaRPr>
              <a:latin typeface="Lato"/>
              <a:ea typeface="Lato"/>
              <a:cs typeface="Lato"/>
              <a:sym typeface="Lato"/>
            </a:endParaRPr>
          </a:p>
          <a:p>
            <a:pPr marL="457200" lvl="0" indent="-317500" algn="l" rtl="0">
              <a:spcBef>
                <a:spcPts val="0"/>
              </a:spcBef>
              <a:spcAft>
                <a:spcPts val="0"/>
              </a:spcAft>
              <a:buSzPts val="1400"/>
              <a:buFont typeface="Lato"/>
              <a:buAutoNum type="arabicPeriod"/>
            </a:pPr>
            <a:r>
              <a:rPr lang="en">
                <a:latin typeface="Lato"/>
                <a:ea typeface="Lato"/>
                <a:cs typeface="Lato"/>
                <a:sym typeface="Lato"/>
              </a:rPr>
              <a:t>Jump to address: +10 commands from current</a:t>
            </a:r>
            <a:endParaRPr>
              <a:latin typeface="Lato"/>
              <a:ea typeface="Lato"/>
              <a:cs typeface="Lato"/>
              <a:sym typeface="Lato"/>
            </a:endParaRPr>
          </a:p>
        </p:txBody>
      </p:sp>
      <p:sp>
        <p:nvSpPr>
          <p:cNvPr id="138" name="Google Shape;138;p21"/>
          <p:cNvSpPr/>
          <p:nvPr/>
        </p:nvSpPr>
        <p:spPr>
          <a:xfrm rot="-1017595">
            <a:off x="4871901" y="3592541"/>
            <a:ext cx="668369" cy="173123"/>
          </a:xfrm>
          <a:custGeom>
            <a:avLst/>
            <a:gdLst/>
            <a:ahLst/>
            <a:cxnLst/>
            <a:rect l="l" t="t" r="r" b="b"/>
            <a:pathLst>
              <a:path w="26735" h="6925" extrusionOk="0">
                <a:moveTo>
                  <a:pt x="26735" y="6925"/>
                </a:moveTo>
                <a:cubicBezTo>
                  <a:pt x="24233" y="6153"/>
                  <a:pt x="16180" y="3449"/>
                  <a:pt x="11724" y="2295"/>
                </a:cubicBezTo>
                <a:cubicBezTo>
                  <a:pt x="7268" y="1141"/>
                  <a:pt x="1954" y="383"/>
                  <a:pt x="0" y="0"/>
                </a:cubicBezTo>
              </a:path>
            </a:pathLst>
          </a:custGeom>
          <a:noFill/>
          <a:ln w="38100" cap="flat" cmpd="sng">
            <a:solidFill>
              <a:srgbClr val="00FDC8"/>
            </a:solidFill>
            <a:prstDash val="solid"/>
            <a:round/>
            <a:headEnd type="none" w="med" len="med"/>
            <a:tailEnd type="triangle" w="med" len="med"/>
          </a:ln>
        </p:spPr>
      </p:sp>
      <p:sp>
        <p:nvSpPr>
          <p:cNvPr id="139" name="Google Shape;139;p21"/>
          <p:cNvSpPr txBox="1"/>
          <p:nvPr/>
        </p:nvSpPr>
        <p:spPr>
          <a:xfrm>
            <a:off x="5550975" y="3509750"/>
            <a:ext cx="1590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Lato"/>
                <a:ea typeface="Lato"/>
                <a:cs typeface="Lato"/>
                <a:sym typeface="Lato"/>
              </a:rPr>
              <a:t>When it’s possible?</a:t>
            </a:r>
            <a:endParaRPr sz="1000">
              <a:latin typeface="Lato"/>
              <a:ea typeface="Lato"/>
              <a:cs typeface="Lato"/>
              <a:sym typeface="Lato"/>
            </a:endParaRPr>
          </a:p>
        </p:txBody>
      </p:sp>
      <p:sp>
        <p:nvSpPr>
          <p:cNvPr id="140" name="Google Shape;14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x86 instructions encoding (Interesting to see)</a:t>
            </a:r>
            <a:endParaRPr/>
          </a:p>
        </p:txBody>
      </p:sp>
      <p:pic>
        <p:nvPicPr>
          <p:cNvPr id="146" name="Google Shape;146;p22"/>
          <p:cNvPicPr preferRelativeResize="0"/>
          <p:nvPr/>
        </p:nvPicPr>
        <p:blipFill rotWithShape="1">
          <a:blip r:embed="rId3">
            <a:alphaModFix/>
          </a:blip>
          <a:srcRect r="17958"/>
          <a:stretch/>
        </p:blipFill>
        <p:spPr>
          <a:xfrm>
            <a:off x="311700" y="1605675"/>
            <a:ext cx="8520599" cy="2794211"/>
          </a:xfrm>
          <a:prstGeom prst="rect">
            <a:avLst/>
          </a:prstGeom>
          <a:noFill/>
          <a:ln>
            <a:noFill/>
          </a:ln>
        </p:spPr>
      </p:pic>
      <p:sp>
        <p:nvSpPr>
          <p:cNvPr id="147" name="Google Shape;147;p22"/>
          <p:cNvSpPr txBox="1"/>
          <p:nvPr/>
        </p:nvSpPr>
        <p:spPr>
          <a:xfrm>
            <a:off x="569875" y="4710650"/>
            <a:ext cx="7855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Lato"/>
                <a:ea typeface="Lato"/>
                <a:cs typeface="Lato"/>
                <a:sym typeface="Lato"/>
              </a:rPr>
              <a:t>We can't even read the instruction in one cycle. Interpret even more</a:t>
            </a:r>
            <a:endParaRPr sz="1100">
              <a:latin typeface="Lato"/>
              <a:ea typeface="Lato"/>
              <a:cs typeface="Lato"/>
              <a:sym typeface="Lato"/>
            </a:endParaRPr>
          </a:p>
        </p:txBody>
      </p:sp>
      <p:sp>
        <p:nvSpPr>
          <p:cNvPr id="148" name="Google Shape;14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3"/>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Major differences between MIPS and x86</a:t>
            </a:r>
            <a:endParaRPr/>
          </a:p>
        </p:txBody>
      </p:sp>
      <p:pic>
        <p:nvPicPr>
          <p:cNvPr id="154" name="Google Shape;154;p23"/>
          <p:cNvPicPr preferRelativeResize="0"/>
          <p:nvPr/>
        </p:nvPicPr>
        <p:blipFill>
          <a:blip r:embed="rId3">
            <a:alphaModFix/>
          </a:blip>
          <a:stretch>
            <a:fillRect/>
          </a:stretch>
        </p:blipFill>
        <p:spPr>
          <a:xfrm>
            <a:off x="152400" y="1592525"/>
            <a:ext cx="8839199" cy="2878555"/>
          </a:xfrm>
          <a:prstGeom prst="rect">
            <a:avLst/>
          </a:prstGeom>
          <a:noFill/>
          <a:ln>
            <a:noFill/>
          </a:ln>
        </p:spPr>
      </p:pic>
      <p:sp>
        <p:nvSpPr>
          <p:cNvPr id="155" name="Google Shape;15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MIPS addressing modes</a:t>
            </a:r>
            <a:endParaRPr/>
          </a:p>
        </p:txBody>
      </p:sp>
      <p:sp>
        <p:nvSpPr>
          <p:cNvPr id="161" name="Google Shape;161;p2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Register-Only Addressing</a:t>
            </a:r>
            <a:endParaRPr/>
          </a:p>
          <a:p>
            <a:pPr marL="457200" lvl="0" indent="-342900" algn="l" rtl="0">
              <a:spcBef>
                <a:spcPts val="0"/>
              </a:spcBef>
              <a:spcAft>
                <a:spcPts val="0"/>
              </a:spcAft>
              <a:buSzPts val="1800"/>
              <a:buChar char="●"/>
            </a:pPr>
            <a:r>
              <a:rPr lang="en"/>
              <a:t>Immediate Addressing</a:t>
            </a:r>
            <a:endParaRPr/>
          </a:p>
          <a:p>
            <a:pPr marL="457200" lvl="0" indent="-342900" algn="l" rtl="0">
              <a:spcBef>
                <a:spcPts val="0"/>
              </a:spcBef>
              <a:spcAft>
                <a:spcPts val="0"/>
              </a:spcAft>
              <a:buSzPts val="1800"/>
              <a:buChar char="●"/>
            </a:pPr>
            <a:r>
              <a:rPr lang="en"/>
              <a:t>Base Addressing</a:t>
            </a:r>
            <a:endParaRPr/>
          </a:p>
          <a:p>
            <a:pPr marL="457200" lvl="0" indent="-342900" algn="l" rtl="0">
              <a:spcBef>
                <a:spcPts val="0"/>
              </a:spcBef>
              <a:spcAft>
                <a:spcPts val="0"/>
              </a:spcAft>
              <a:buSzPts val="1800"/>
              <a:buChar char="●"/>
            </a:pPr>
            <a:r>
              <a:rPr lang="en"/>
              <a:t>PC-Relative Addressing</a:t>
            </a:r>
            <a:endParaRPr/>
          </a:p>
          <a:p>
            <a:pPr marL="457200" lvl="0" indent="-342900" algn="l" rtl="0">
              <a:spcBef>
                <a:spcPts val="0"/>
              </a:spcBef>
              <a:spcAft>
                <a:spcPts val="0"/>
              </a:spcAft>
              <a:buSzPts val="1800"/>
              <a:buChar char="●"/>
            </a:pPr>
            <a:r>
              <a:rPr lang="en"/>
              <a:t>Pseudo-Direct Addressing</a:t>
            </a:r>
            <a:endParaRPr/>
          </a:p>
        </p:txBody>
      </p:sp>
      <p:sp>
        <p:nvSpPr>
          <p:cNvPr id="162" name="Google Shape;16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Register-Only Addressing</a:t>
            </a:r>
            <a:endParaRPr/>
          </a:p>
        </p:txBody>
      </p:sp>
      <p:sp>
        <p:nvSpPr>
          <p:cNvPr id="168" name="Google Shape;168;p25"/>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All R-type instructions use register-only addressing</a:t>
            </a:r>
            <a:endParaRPr/>
          </a:p>
        </p:txBody>
      </p:sp>
      <p:sp>
        <p:nvSpPr>
          <p:cNvPr id="169" name="Google Shape;169;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pic>
        <p:nvPicPr>
          <p:cNvPr id="170" name="Google Shape;170;p25"/>
          <p:cNvPicPr preferRelativeResize="0"/>
          <p:nvPr/>
        </p:nvPicPr>
        <p:blipFill>
          <a:blip r:embed="rId3">
            <a:alphaModFix/>
          </a:blip>
          <a:stretch>
            <a:fillRect/>
          </a:stretch>
        </p:blipFill>
        <p:spPr>
          <a:xfrm>
            <a:off x="1903200" y="2835600"/>
            <a:ext cx="5337601" cy="1420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Immediate Addressing</a:t>
            </a:r>
            <a:endParaRPr/>
          </a:p>
        </p:txBody>
      </p:sp>
      <p:sp>
        <p:nvSpPr>
          <p:cNvPr id="176" name="Google Shape;176;p26"/>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Immediate addressing uses the 16-bit immediate along with registers as operands.</a:t>
            </a:r>
            <a:endParaRPr/>
          </a:p>
          <a:p>
            <a:pPr marL="0" lvl="0" indent="0" algn="l" rtl="0">
              <a:spcBef>
                <a:spcPts val="1200"/>
              </a:spcBef>
              <a:spcAft>
                <a:spcPts val="1200"/>
              </a:spcAft>
              <a:buNone/>
            </a:pPr>
            <a:r>
              <a:rPr lang="en"/>
              <a:t>Some I-type instructions, such as add immediate (addi) and load upper immediate (lui), use immediate addressing</a:t>
            </a:r>
            <a:endParaRPr/>
          </a:p>
        </p:txBody>
      </p:sp>
      <p:sp>
        <p:nvSpPr>
          <p:cNvPr id="177" name="Google Shape;177;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pic>
        <p:nvPicPr>
          <p:cNvPr id="178" name="Google Shape;178;p26"/>
          <p:cNvPicPr preferRelativeResize="0"/>
          <p:nvPr/>
        </p:nvPicPr>
        <p:blipFill>
          <a:blip r:embed="rId3">
            <a:alphaModFix/>
          </a:blip>
          <a:stretch>
            <a:fillRect/>
          </a:stretch>
        </p:blipFill>
        <p:spPr>
          <a:xfrm>
            <a:off x="1792798" y="2936600"/>
            <a:ext cx="5558400" cy="1213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Base Addressing</a:t>
            </a:r>
            <a:endParaRPr/>
          </a:p>
        </p:txBody>
      </p:sp>
      <p:sp>
        <p:nvSpPr>
          <p:cNvPr id="184" name="Google Shape;184;p27"/>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Adding the base address in register rs to the sign-extended 16-bit offset found in the immediate field. Commands: lw, sw</a:t>
            </a:r>
            <a:endParaRPr/>
          </a:p>
          <a:p>
            <a:pPr marL="0" lvl="0" indent="0" algn="l" rtl="0">
              <a:spcBef>
                <a:spcPts val="1200"/>
              </a:spcBef>
              <a:spcAft>
                <a:spcPts val="1200"/>
              </a:spcAft>
              <a:buNone/>
            </a:pPr>
            <a:endParaRPr/>
          </a:p>
        </p:txBody>
      </p:sp>
      <p:sp>
        <p:nvSpPr>
          <p:cNvPr id="185" name="Google Shape;185;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pic>
        <p:nvPicPr>
          <p:cNvPr id="186" name="Google Shape;186;p27"/>
          <p:cNvPicPr preferRelativeResize="0"/>
          <p:nvPr/>
        </p:nvPicPr>
        <p:blipFill>
          <a:blip r:embed="rId3">
            <a:alphaModFix/>
          </a:blip>
          <a:stretch>
            <a:fillRect/>
          </a:stretch>
        </p:blipFill>
        <p:spPr>
          <a:xfrm>
            <a:off x="1737311" y="3043725"/>
            <a:ext cx="5558400" cy="1213050"/>
          </a:xfrm>
          <a:prstGeom prst="rect">
            <a:avLst/>
          </a:prstGeom>
          <a:noFill/>
          <a:ln>
            <a:noFill/>
          </a:ln>
        </p:spPr>
      </p:pic>
      <p:sp>
        <p:nvSpPr>
          <p:cNvPr id="187" name="Google Shape;187;p27"/>
          <p:cNvSpPr/>
          <p:nvPr/>
        </p:nvSpPr>
        <p:spPr>
          <a:xfrm>
            <a:off x="1812913" y="2495625"/>
            <a:ext cx="5446800" cy="5481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7"/>
          <p:cNvSpPr/>
          <p:nvPr/>
        </p:nvSpPr>
        <p:spPr>
          <a:xfrm>
            <a:off x="3255688" y="3096350"/>
            <a:ext cx="32375" cy="400100"/>
          </a:xfrm>
          <a:custGeom>
            <a:avLst/>
            <a:gdLst/>
            <a:ahLst/>
            <a:cxnLst/>
            <a:rect l="l" t="t" r="r" b="b"/>
            <a:pathLst>
              <a:path w="1295" h="16004" extrusionOk="0">
                <a:moveTo>
                  <a:pt x="0" y="0"/>
                </a:moveTo>
                <a:cubicBezTo>
                  <a:pt x="146" y="802"/>
                  <a:pt x="661" y="2145"/>
                  <a:pt x="877" y="4812"/>
                </a:cubicBezTo>
                <a:cubicBezTo>
                  <a:pt x="1093" y="7479"/>
                  <a:pt x="1225" y="14139"/>
                  <a:pt x="1295" y="16004"/>
                </a:cubicBezTo>
              </a:path>
            </a:pathLst>
          </a:custGeom>
          <a:noFill/>
          <a:ln w="38100" cap="flat" cmpd="sng">
            <a:solidFill>
              <a:srgbClr val="00FDC8"/>
            </a:solidFill>
            <a:prstDash val="solid"/>
            <a:round/>
            <a:headEnd type="none" w="med" len="med"/>
            <a:tailEnd type="triangle" w="med" len="med"/>
          </a:ln>
        </p:spPr>
      </p:sp>
      <p:sp>
        <p:nvSpPr>
          <p:cNvPr id="189" name="Google Shape;189;p27"/>
          <p:cNvSpPr/>
          <p:nvPr/>
        </p:nvSpPr>
        <p:spPr>
          <a:xfrm flipH="1">
            <a:off x="5759813" y="3096350"/>
            <a:ext cx="32375" cy="400100"/>
          </a:xfrm>
          <a:custGeom>
            <a:avLst/>
            <a:gdLst/>
            <a:ahLst/>
            <a:cxnLst/>
            <a:rect l="l" t="t" r="r" b="b"/>
            <a:pathLst>
              <a:path w="1295" h="16004" extrusionOk="0">
                <a:moveTo>
                  <a:pt x="0" y="0"/>
                </a:moveTo>
                <a:cubicBezTo>
                  <a:pt x="146" y="802"/>
                  <a:pt x="661" y="2145"/>
                  <a:pt x="877" y="4812"/>
                </a:cubicBezTo>
                <a:cubicBezTo>
                  <a:pt x="1093" y="7479"/>
                  <a:pt x="1225" y="14139"/>
                  <a:pt x="1295" y="16004"/>
                </a:cubicBezTo>
              </a:path>
            </a:pathLst>
          </a:custGeom>
          <a:noFill/>
          <a:ln w="38100" cap="flat" cmpd="sng">
            <a:solidFill>
              <a:srgbClr val="00FDC8"/>
            </a:solidFill>
            <a:prstDash val="solid"/>
            <a:round/>
            <a:headEnd type="none" w="med" len="med"/>
            <a:tailEnd type="triangle" w="med" len="med"/>
          </a:ln>
        </p:spPr>
      </p:sp>
      <p:sp>
        <p:nvSpPr>
          <p:cNvPr id="190" name="Google Shape;190;p27"/>
          <p:cNvSpPr txBox="1"/>
          <p:nvPr/>
        </p:nvSpPr>
        <p:spPr>
          <a:xfrm>
            <a:off x="2550525" y="2643525"/>
            <a:ext cx="144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Lato"/>
                <a:ea typeface="Lato"/>
                <a:cs typeface="Lato"/>
                <a:sym typeface="Lato"/>
              </a:rPr>
              <a:t>Base address</a:t>
            </a:r>
            <a:endParaRPr>
              <a:latin typeface="Lato"/>
              <a:ea typeface="Lato"/>
              <a:cs typeface="Lato"/>
              <a:sym typeface="Lato"/>
            </a:endParaRPr>
          </a:p>
        </p:txBody>
      </p:sp>
      <p:sp>
        <p:nvSpPr>
          <p:cNvPr id="191" name="Google Shape;191;p27"/>
          <p:cNvSpPr txBox="1"/>
          <p:nvPr/>
        </p:nvSpPr>
        <p:spPr>
          <a:xfrm>
            <a:off x="5054638" y="2643525"/>
            <a:ext cx="144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Lato"/>
                <a:ea typeface="Lato"/>
                <a:cs typeface="Lato"/>
                <a:sym typeface="Lato"/>
              </a:rPr>
              <a:t>Offset</a:t>
            </a:r>
            <a:endParaRPr>
              <a:latin typeface="Lato"/>
              <a:ea typeface="Lato"/>
              <a:cs typeface="Lato"/>
              <a:sym typeface="Lato"/>
            </a:endParaRPr>
          </a:p>
        </p:txBody>
      </p:sp>
      <p:sp>
        <p:nvSpPr>
          <p:cNvPr id="192" name="Google Shape;192;p27"/>
          <p:cNvSpPr txBox="1"/>
          <p:nvPr/>
        </p:nvSpPr>
        <p:spPr>
          <a:xfrm>
            <a:off x="3496475" y="4480013"/>
            <a:ext cx="144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Lato"/>
                <a:ea typeface="Lato"/>
                <a:cs typeface="Lato"/>
                <a:sym typeface="Lato"/>
              </a:rPr>
              <a:t>Destination</a:t>
            </a:r>
            <a:endParaRPr>
              <a:latin typeface="Lato"/>
              <a:ea typeface="Lato"/>
              <a:cs typeface="Lato"/>
              <a:sym typeface="Lato"/>
            </a:endParaRPr>
          </a:p>
        </p:txBody>
      </p:sp>
      <p:sp>
        <p:nvSpPr>
          <p:cNvPr id="193" name="Google Shape;193;p27"/>
          <p:cNvSpPr/>
          <p:nvPr/>
        </p:nvSpPr>
        <p:spPr>
          <a:xfrm rot="10800000">
            <a:off x="4043813" y="4179350"/>
            <a:ext cx="32375" cy="400100"/>
          </a:xfrm>
          <a:custGeom>
            <a:avLst/>
            <a:gdLst/>
            <a:ahLst/>
            <a:cxnLst/>
            <a:rect l="l" t="t" r="r" b="b"/>
            <a:pathLst>
              <a:path w="1295" h="16004" extrusionOk="0">
                <a:moveTo>
                  <a:pt x="0" y="0"/>
                </a:moveTo>
                <a:cubicBezTo>
                  <a:pt x="146" y="802"/>
                  <a:pt x="661" y="2145"/>
                  <a:pt x="877" y="4812"/>
                </a:cubicBezTo>
                <a:cubicBezTo>
                  <a:pt x="1093" y="7479"/>
                  <a:pt x="1225" y="14139"/>
                  <a:pt x="1295" y="16004"/>
                </a:cubicBezTo>
              </a:path>
            </a:pathLst>
          </a:custGeom>
          <a:noFill/>
          <a:ln w="38100" cap="flat" cmpd="sng">
            <a:solidFill>
              <a:srgbClr val="00FDC8"/>
            </a:solidFill>
            <a:prstDash val="solid"/>
            <a:round/>
            <a:headEnd type="none" w="med" len="med"/>
            <a:tailEnd type="triangle" w="med" len="med"/>
          </a:ln>
        </p:spPr>
      </p:sp>
      <p:sp>
        <p:nvSpPr>
          <p:cNvPr id="194" name="Google Shape;194;p27"/>
          <p:cNvSpPr txBox="1"/>
          <p:nvPr/>
        </p:nvSpPr>
        <p:spPr>
          <a:xfrm>
            <a:off x="6890388" y="3679225"/>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0</a:t>
            </a:r>
            <a:endParaRPr sz="1000">
              <a:solidFill>
                <a:srgbClr val="FF9900"/>
              </a:solidFill>
              <a:latin typeface="Lato"/>
              <a:ea typeface="Lato"/>
              <a:cs typeface="Lato"/>
              <a:sym typeface="Lato"/>
            </a:endParaRPr>
          </a:p>
        </p:txBody>
      </p:sp>
      <p:sp>
        <p:nvSpPr>
          <p:cNvPr id="195" name="Google Shape;195;p27"/>
          <p:cNvSpPr txBox="1"/>
          <p:nvPr/>
        </p:nvSpPr>
        <p:spPr>
          <a:xfrm>
            <a:off x="4043813" y="3679213"/>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16</a:t>
            </a:r>
            <a:endParaRPr sz="1000">
              <a:solidFill>
                <a:srgbClr val="FF9900"/>
              </a:solidFill>
              <a:latin typeface="Lato"/>
              <a:ea typeface="Lato"/>
              <a:cs typeface="Lato"/>
              <a:sym typeface="Lato"/>
            </a:endParaRPr>
          </a:p>
        </p:txBody>
      </p:sp>
      <p:sp>
        <p:nvSpPr>
          <p:cNvPr id="196" name="Google Shape;196;p27"/>
          <p:cNvSpPr txBox="1"/>
          <p:nvPr/>
        </p:nvSpPr>
        <p:spPr>
          <a:xfrm>
            <a:off x="3279488" y="3679225"/>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21</a:t>
            </a:r>
            <a:endParaRPr sz="1000">
              <a:solidFill>
                <a:srgbClr val="FF9900"/>
              </a:solidFill>
              <a:latin typeface="Lato"/>
              <a:ea typeface="Lato"/>
              <a:cs typeface="Lato"/>
              <a:sym typeface="Lato"/>
            </a:endParaRPr>
          </a:p>
        </p:txBody>
      </p:sp>
      <p:sp>
        <p:nvSpPr>
          <p:cNvPr id="197" name="Google Shape;197;p27"/>
          <p:cNvSpPr txBox="1"/>
          <p:nvPr/>
        </p:nvSpPr>
        <p:spPr>
          <a:xfrm>
            <a:off x="2531088" y="3679213"/>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26</a:t>
            </a:r>
            <a:endParaRPr sz="1000">
              <a:solidFill>
                <a:srgbClr val="FF9900"/>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Byte-addressable / Word-addressable memory</a:t>
            </a:r>
            <a:endParaRPr/>
          </a:p>
        </p:txBody>
      </p:sp>
      <p:pic>
        <p:nvPicPr>
          <p:cNvPr id="203" name="Google Shape;203;p28"/>
          <p:cNvPicPr preferRelativeResize="0"/>
          <p:nvPr/>
        </p:nvPicPr>
        <p:blipFill>
          <a:blip r:embed="rId3">
            <a:alphaModFix/>
          </a:blip>
          <a:stretch>
            <a:fillRect/>
          </a:stretch>
        </p:blipFill>
        <p:spPr>
          <a:xfrm>
            <a:off x="5348175" y="2150276"/>
            <a:ext cx="3173550" cy="2341926"/>
          </a:xfrm>
          <a:prstGeom prst="rect">
            <a:avLst/>
          </a:prstGeom>
          <a:noFill/>
          <a:ln>
            <a:noFill/>
          </a:ln>
        </p:spPr>
      </p:pic>
      <p:pic>
        <p:nvPicPr>
          <p:cNvPr id="204" name="Google Shape;204;p28"/>
          <p:cNvPicPr preferRelativeResize="0"/>
          <p:nvPr/>
        </p:nvPicPr>
        <p:blipFill rotWithShape="1">
          <a:blip r:embed="rId4">
            <a:alphaModFix/>
          </a:blip>
          <a:srcRect l="23053" r="20620"/>
          <a:stretch/>
        </p:blipFill>
        <p:spPr>
          <a:xfrm>
            <a:off x="1966575" y="1207700"/>
            <a:ext cx="2398976" cy="3783399"/>
          </a:xfrm>
          <a:prstGeom prst="rect">
            <a:avLst/>
          </a:prstGeom>
          <a:noFill/>
          <a:ln>
            <a:noFill/>
          </a:ln>
        </p:spPr>
      </p:pic>
      <p:sp>
        <p:nvSpPr>
          <p:cNvPr id="205" name="Google Shape;20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9"/>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PC-Relative Addressing</a:t>
            </a:r>
            <a:endParaRPr/>
          </a:p>
        </p:txBody>
      </p:sp>
      <p:sp>
        <p:nvSpPr>
          <p:cNvPr id="211" name="Google Shape;211;p29"/>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PC-relative addressing to specify the new value of the PC if the branch is taken. The signed offset in the immediate field is added to the PC to obtain the new PC; hence, the branch destination address is said to be relative to the current PC</a:t>
            </a:r>
            <a:endParaRPr/>
          </a:p>
          <a:p>
            <a:pPr marL="0" lvl="0" indent="0" algn="l" rtl="0">
              <a:spcBef>
                <a:spcPts val="1200"/>
              </a:spcBef>
              <a:spcAft>
                <a:spcPts val="1200"/>
              </a:spcAft>
              <a:buNone/>
            </a:pPr>
            <a:endParaRPr/>
          </a:p>
        </p:txBody>
      </p:sp>
      <p:sp>
        <p:nvSpPr>
          <p:cNvPr id="212" name="Google Shape;212;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pic>
        <p:nvPicPr>
          <p:cNvPr id="213" name="Google Shape;213;p29"/>
          <p:cNvPicPr preferRelativeResize="0"/>
          <p:nvPr/>
        </p:nvPicPr>
        <p:blipFill>
          <a:blip r:embed="rId3">
            <a:alphaModFix/>
          </a:blip>
          <a:stretch>
            <a:fillRect/>
          </a:stretch>
        </p:blipFill>
        <p:spPr>
          <a:xfrm>
            <a:off x="57851" y="2647175"/>
            <a:ext cx="2815651" cy="1734650"/>
          </a:xfrm>
          <a:prstGeom prst="rect">
            <a:avLst/>
          </a:prstGeom>
          <a:noFill/>
          <a:ln>
            <a:noFill/>
          </a:ln>
        </p:spPr>
      </p:pic>
      <p:pic>
        <p:nvPicPr>
          <p:cNvPr id="214" name="Google Shape;214;p29"/>
          <p:cNvPicPr preferRelativeResize="0"/>
          <p:nvPr/>
        </p:nvPicPr>
        <p:blipFill>
          <a:blip r:embed="rId4">
            <a:alphaModFix/>
          </a:blip>
          <a:stretch>
            <a:fillRect/>
          </a:stretch>
        </p:blipFill>
        <p:spPr>
          <a:xfrm>
            <a:off x="3559500" y="2990725"/>
            <a:ext cx="5584501" cy="10475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u="sng"/>
              <a:t>Pseudo</a:t>
            </a:r>
            <a:r>
              <a:rPr lang="en"/>
              <a:t>-Direct Addressing</a:t>
            </a:r>
            <a:endParaRPr/>
          </a:p>
        </p:txBody>
      </p:sp>
      <p:sp>
        <p:nvSpPr>
          <p:cNvPr id="220" name="Google Shape;220;p30"/>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a:t>
            </a:r>
            <a:r>
              <a:rPr lang="en" u="sng"/>
              <a:t>direct addressing</a:t>
            </a:r>
            <a:r>
              <a:rPr lang="en"/>
              <a:t>, an address is specified in the instruction. Ideally jump instructions would use direct addressing to specify a 32-bit jump target address (JTA) to indicate the instruction address to execute next.</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221" name="Google Shape;22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pic>
        <p:nvPicPr>
          <p:cNvPr id="222" name="Google Shape;222;p30"/>
          <p:cNvPicPr preferRelativeResize="0"/>
          <p:nvPr/>
        </p:nvPicPr>
        <p:blipFill>
          <a:blip r:embed="rId3">
            <a:alphaModFix/>
          </a:blip>
          <a:stretch>
            <a:fillRect/>
          </a:stretch>
        </p:blipFill>
        <p:spPr>
          <a:xfrm>
            <a:off x="0" y="3143250"/>
            <a:ext cx="9144003" cy="2000251"/>
          </a:xfrm>
          <a:prstGeom prst="rect">
            <a:avLst/>
          </a:prstGeom>
          <a:noFill/>
          <a:ln>
            <a:noFill/>
          </a:ln>
        </p:spPr>
      </p:pic>
      <p:sp>
        <p:nvSpPr>
          <p:cNvPr id="223" name="Google Shape;223;p30"/>
          <p:cNvSpPr/>
          <p:nvPr/>
        </p:nvSpPr>
        <p:spPr>
          <a:xfrm>
            <a:off x="3214388" y="4222175"/>
            <a:ext cx="375900" cy="8010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0"/>
          <p:cNvSpPr/>
          <p:nvPr/>
        </p:nvSpPr>
        <p:spPr>
          <a:xfrm>
            <a:off x="6148050" y="4222175"/>
            <a:ext cx="201900" cy="8010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0"/>
          <p:cNvSpPr/>
          <p:nvPr/>
        </p:nvSpPr>
        <p:spPr>
          <a:xfrm>
            <a:off x="1762675" y="4943275"/>
            <a:ext cx="1401450" cy="79900"/>
          </a:xfrm>
          <a:custGeom>
            <a:avLst/>
            <a:gdLst/>
            <a:ahLst/>
            <a:cxnLst/>
            <a:rect l="l" t="t" r="r" b="b"/>
            <a:pathLst>
              <a:path w="56058" h="3196" extrusionOk="0">
                <a:moveTo>
                  <a:pt x="0" y="0"/>
                </a:moveTo>
                <a:cubicBezTo>
                  <a:pt x="5149" y="533"/>
                  <a:pt x="21552" y="3196"/>
                  <a:pt x="30895" y="3196"/>
                </a:cubicBezTo>
                <a:cubicBezTo>
                  <a:pt x="40238" y="3196"/>
                  <a:pt x="51864" y="533"/>
                  <a:pt x="56058" y="0"/>
                </a:cubicBezTo>
              </a:path>
            </a:pathLst>
          </a:custGeom>
          <a:noFill/>
          <a:ln w="38100" cap="flat" cmpd="sng">
            <a:solidFill>
              <a:srgbClr val="00FDC8"/>
            </a:solidFill>
            <a:prstDash val="solid"/>
            <a:round/>
            <a:headEnd type="none" w="med" len="med"/>
            <a:tailEnd type="triangle" w="med" len="med"/>
          </a:ln>
        </p:spPr>
      </p:sp>
      <p:sp>
        <p:nvSpPr>
          <p:cNvPr id="226" name="Google Shape;226;p30"/>
          <p:cNvSpPr txBox="1"/>
          <p:nvPr/>
        </p:nvSpPr>
        <p:spPr>
          <a:xfrm>
            <a:off x="231600" y="4703700"/>
            <a:ext cx="1480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Where to get it?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1"/>
          <p:cNvSpPr txBox="1">
            <a:spLocks noGrp="1"/>
          </p:cNvSpPr>
          <p:nvPr>
            <p:ph type="title"/>
          </p:nvPr>
        </p:nvSpPr>
        <p:spPr>
          <a:xfrm>
            <a:off x="2802750" y="802500"/>
            <a:ext cx="3538500" cy="35385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Single cycle MIPS datapath</a:t>
            </a:r>
            <a:endParaRPr/>
          </a:p>
        </p:txBody>
      </p:sp>
      <p:sp>
        <p:nvSpPr>
          <p:cNvPr id="232" name="Google Shape;232;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2"/>
          <p:cNvSpPr txBox="1">
            <a:spLocks noGrp="1"/>
          </p:cNvSpPr>
          <p:nvPr>
            <p:ph type="title"/>
          </p:nvPr>
        </p:nvSpPr>
        <p:spPr>
          <a:xfrm>
            <a:off x="2802750" y="802500"/>
            <a:ext cx="3538500" cy="35385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(H&amp;H 7.3)</a:t>
            </a:r>
            <a:endParaRPr/>
          </a:p>
        </p:txBody>
      </p:sp>
      <p:sp>
        <p:nvSpPr>
          <p:cNvPr id="238" name="Google Shape;238;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3"/>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Instruction types</a:t>
            </a:r>
            <a:endParaRPr/>
          </a:p>
        </p:txBody>
      </p:sp>
      <p:pic>
        <p:nvPicPr>
          <p:cNvPr id="244" name="Google Shape;244;p33"/>
          <p:cNvPicPr preferRelativeResize="0"/>
          <p:nvPr/>
        </p:nvPicPr>
        <p:blipFill>
          <a:blip r:embed="rId3">
            <a:alphaModFix/>
          </a:blip>
          <a:stretch>
            <a:fillRect/>
          </a:stretch>
        </p:blipFill>
        <p:spPr>
          <a:xfrm>
            <a:off x="2366500" y="1300412"/>
            <a:ext cx="4583499" cy="1220026"/>
          </a:xfrm>
          <a:prstGeom prst="rect">
            <a:avLst/>
          </a:prstGeom>
          <a:noFill/>
          <a:ln>
            <a:noFill/>
          </a:ln>
        </p:spPr>
      </p:pic>
      <p:pic>
        <p:nvPicPr>
          <p:cNvPr id="245" name="Google Shape;245;p33"/>
          <p:cNvPicPr preferRelativeResize="0"/>
          <p:nvPr/>
        </p:nvPicPr>
        <p:blipFill>
          <a:blip r:embed="rId4">
            <a:alphaModFix/>
          </a:blip>
          <a:stretch>
            <a:fillRect/>
          </a:stretch>
        </p:blipFill>
        <p:spPr>
          <a:xfrm>
            <a:off x="2366500" y="2725310"/>
            <a:ext cx="4583500" cy="1000291"/>
          </a:xfrm>
          <a:prstGeom prst="rect">
            <a:avLst/>
          </a:prstGeom>
          <a:noFill/>
          <a:ln>
            <a:noFill/>
          </a:ln>
        </p:spPr>
      </p:pic>
      <p:pic>
        <p:nvPicPr>
          <p:cNvPr id="246" name="Google Shape;246;p33"/>
          <p:cNvPicPr preferRelativeResize="0"/>
          <p:nvPr/>
        </p:nvPicPr>
        <p:blipFill>
          <a:blip r:embed="rId5">
            <a:alphaModFix/>
          </a:blip>
          <a:stretch>
            <a:fillRect/>
          </a:stretch>
        </p:blipFill>
        <p:spPr>
          <a:xfrm>
            <a:off x="2366501" y="3930450"/>
            <a:ext cx="4583487" cy="1213050"/>
          </a:xfrm>
          <a:prstGeom prst="rect">
            <a:avLst/>
          </a:prstGeom>
          <a:noFill/>
          <a:ln>
            <a:noFill/>
          </a:ln>
        </p:spPr>
      </p:pic>
      <p:sp>
        <p:nvSpPr>
          <p:cNvPr id="247" name="Google Shape;247;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State elements of MIPS processor (Data path)</a:t>
            </a:r>
            <a:endParaRPr/>
          </a:p>
        </p:txBody>
      </p:sp>
      <p:pic>
        <p:nvPicPr>
          <p:cNvPr id="253" name="Google Shape;253;p34"/>
          <p:cNvPicPr preferRelativeResize="0"/>
          <p:nvPr/>
        </p:nvPicPr>
        <p:blipFill>
          <a:blip r:embed="rId3">
            <a:alphaModFix/>
          </a:blip>
          <a:stretch>
            <a:fillRect/>
          </a:stretch>
        </p:blipFill>
        <p:spPr>
          <a:xfrm>
            <a:off x="651300" y="1156424"/>
            <a:ext cx="7841400" cy="2118800"/>
          </a:xfrm>
          <a:prstGeom prst="rect">
            <a:avLst/>
          </a:prstGeom>
          <a:noFill/>
          <a:ln>
            <a:noFill/>
          </a:ln>
        </p:spPr>
      </p:pic>
      <p:sp>
        <p:nvSpPr>
          <p:cNvPr id="254" name="Google Shape;254;p34"/>
          <p:cNvSpPr txBox="1"/>
          <p:nvPr/>
        </p:nvSpPr>
        <p:spPr>
          <a:xfrm>
            <a:off x="790750" y="3666225"/>
            <a:ext cx="59379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a:latin typeface="Lato"/>
                <a:ea typeface="Lato"/>
                <a:cs typeface="Lato"/>
                <a:sym typeface="Lato"/>
              </a:rPr>
              <a:t>We need:</a:t>
            </a:r>
            <a:endParaRPr sz="2100">
              <a:latin typeface="Lato"/>
              <a:ea typeface="Lato"/>
              <a:cs typeface="Lato"/>
              <a:sym typeface="Lato"/>
            </a:endParaRPr>
          </a:p>
          <a:p>
            <a:pPr marL="457200" lvl="0" indent="-361950" algn="l" rtl="0">
              <a:spcBef>
                <a:spcPts val="0"/>
              </a:spcBef>
              <a:spcAft>
                <a:spcPts val="0"/>
              </a:spcAft>
              <a:buSzPts val="2100"/>
              <a:buFont typeface="Lato"/>
              <a:buAutoNum type="arabicPeriod"/>
            </a:pPr>
            <a:r>
              <a:rPr lang="en" sz="2100" b="1">
                <a:latin typeface="Lato"/>
                <a:ea typeface="Lato"/>
                <a:cs typeface="Lato"/>
                <a:sym typeface="Lato"/>
              </a:rPr>
              <a:t>Data path</a:t>
            </a:r>
            <a:endParaRPr sz="2100" b="1">
              <a:latin typeface="Lato"/>
              <a:ea typeface="Lato"/>
              <a:cs typeface="Lato"/>
              <a:sym typeface="Lato"/>
            </a:endParaRPr>
          </a:p>
          <a:p>
            <a:pPr marL="457200" lvl="0" indent="-361950" algn="l" rtl="0">
              <a:spcBef>
                <a:spcPts val="0"/>
              </a:spcBef>
              <a:spcAft>
                <a:spcPts val="0"/>
              </a:spcAft>
              <a:buSzPts val="2100"/>
              <a:buFont typeface="Lato"/>
              <a:buAutoNum type="arabicPeriod"/>
            </a:pPr>
            <a:r>
              <a:rPr lang="en" sz="2100">
                <a:latin typeface="Lato"/>
                <a:ea typeface="Lato"/>
                <a:cs typeface="Lato"/>
                <a:sym typeface="Lato"/>
              </a:rPr>
              <a:t>Control unit</a:t>
            </a:r>
            <a:endParaRPr sz="2100">
              <a:latin typeface="Lato"/>
              <a:ea typeface="Lato"/>
              <a:cs typeface="Lato"/>
              <a:sym typeface="Lato"/>
            </a:endParaRPr>
          </a:p>
        </p:txBody>
      </p:sp>
      <p:sp>
        <p:nvSpPr>
          <p:cNvPr id="255" name="Google Shape;25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LW (Load word)</a:t>
            </a:r>
            <a:endParaRPr/>
          </a:p>
        </p:txBody>
      </p:sp>
      <p:pic>
        <p:nvPicPr>
          <p:cNvPr id="261" name="Google Shape;261;p35"/>
          <p:cNvPicPr preferRelativeResize="0"/>
          <p:nvPr/>
        </p:nvPicPr>
        <p:blipFill>
          <a:blip r:embed="rId3">
            <a:alphaModFix/>
          </a:blip>
          <a:stretch>
            <a:fillRect/>
          </a:stretch>
        </p:blipFill>
        <p:spPr>
          <a:xfrm>
            <a:off x="152400" y="3861100"/>
            <a:ext cx="8839200" cy="1236973"/>
          </a:xfrm>
          <a:prstGeom prst="rect">
            <a:avLst/>
          </a:prstGeom>
          <a:noFill/>
          <a:ln>
            <a:noFill/>
          </a:ln>
        </p:spPr>
      </p:pic>
      <p:pic>
        <p:nvPicPr>
          <p:cNvPr id="262" name="Google Shape;262;p35"/>
          <p:cNvPicPr preferRelativeResize="0"/>
          <p:nvPr/>
        </p:nvPicPr>
        <p:blipFill>
          <a:blip r:embed="rId4">
            <a:alphaModFix/>
          </a:blip>
          <a:stretch>
            <a:fillRect/>
          </a:stretch>
        </p:blipFill>
        <p:spPr>
          <a:xfrm>
            <a:off x="1792798" y="1916775"/>
            <a:ext cx="5558400" cy="1213050"/>
          </a:xfrm>
          <a:prstGeom prst="rect">
            <a:avLst/>
          </a:prstGeom>
          <a:noFill/>
          <a:ln>
            <a:noFill/>
          </a:ln>
        </p:spPr>
      </p:pic>
      <p:sp>
        <p:nvSpPr>
          <p:cNvPr id="263" name="Google Shape;263;p35"/>
          <p:cNvSpPr/>
          <p:nvPr/>
        </p:nvSpPr>
        <p:spPr>
          <a:xfrm>
            <a:off x="37575" y="4270625"/>
            <a:ext cx="9001500" cy="3246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5"/>
          <p:cNvSpPr/>
          <p:nvPr/>
        </p:nvSpPr>
        <p:spPr>
          <a:xfrm>
            <a:off x="1868400" y="1368675"/>
            <a:ext cx="5446800" cy="5481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5"/>
          <p:cNvSpPr/>
          <p:nvPr/>
        </p:nvSpPr>
        <p:spPr>
          <a:xfrm>
            <a:off x="3311175" y="1969400"/>
            <a:ext cx="32375" cy="400100"/>
          </a:xfrm>
          <a:custGeom>
            <a:avLst/>
            <a:gdLst/>
            <a:ahLst/>
            <a:cxnLst/>
            <a:rect l="l" t="t" r="r" b="b"/>
            <a:pathLst>
              <a:path w="1295" h="16004" extrusionOk="0">
                <a:moveTo>
                  <a:pt x="0" y="0"/>
                </a:moveTo>
                <a:cubicBezTo>
                  <a:pt x="146" y="802"/>
                  <a:pt x="661" y="2145"/>
                  <a:pt x="877" y="4812"/>
                </a:cubicBezTo>
                <a:cubicBezTo>
                  <a:pt x="1093" y="7479"/>
                  <a:pt x="1225" y="14139"/>
                  <a:pt x="1295" y="16004"/>
                </a:cubicBezTo>
              </a:path>
            </a:pathLst>
          </a:custGeom>
          <a:noFill/>
          <a:ln w="38100" cap="flat" cmpd="sng">
            <a:solidFill>
              <a:srgbClr val="00FDC8"/>
            </a:solidFill>
            <a:prstDash val="solid"/>
            <a:round/>
            <a:headEnd type="none" w="med" len="med"/>
            <a:tailEnd type="triangle" w="med" len="med"/>
          </a:ln>
        </p:spPr>
      </p:sp>
      <p:sp>
        <p:nvSpPr>
          <p:cNvPr id="266" name="Google Shape;266;p35"/>
          <p:cNvSpPr/>
          <p:nvPr/>
        </p:nvSpPr>
        <p:spPr>
          <a:xfrm flipH="1">
            <a:off x="5815300" y="1969400"/>
            <a:ext cx="32375" cy="400100"/>
          </a:xfrm>
          <a:custGeom>
            <a:avLst/>
            <a:gdLst/>
            <a:ahLst/>
            <a:cxnLst/>
            <a:rect l="l" t="t" r="r" b="b"/>
            <a:pathLst>
              <a:path w="1295" h="16004" extrusionOk="0">
                <a:moveTo>
                  <a:pt x="0" y="0"/>
                </a:moveTo>
                <a:cubicBezTo>
                  <a:pt x="146" y="802"/>
                  <a:pt x="661" y="2145"/>
                  <a:pt x="877" y="4812"/>
                </a:cubicBezTo>
                <a:cubicBezTo>
                  <a:pt x="1093" y="7479"/>
                  <a:pt x="1225" y="14139"/>
                  <a:pt x="1295" y="16004"/>
                </a:cubicBezTo>
              </a:path>
            </a:pathLst>
          </a:custGeom>
          <a:noFill/>
          <a:ln w="38100" cap="flat" cmpd="sng">
            <a:solidFill>
              <a:srgbClr val="00FDC8"/>
            </a:solidFill>
            <a:prstDash val="solid"/>
            <a:round/>
            <a:headEnd type="none" w="med" len="med"/>
            <a:tailEnd type="triangle" w="med" len="med"/>
          </a:ln>
        </p:spPr>
      </p:sp>
      <p:sp>
        <p:nvSpPr>
          <p:cNvPr id="267" name="Google Shape;267;p35"/>
          <p:cNvSpPr txBox="1"/>
          <p:nvPr/>
        </p:nvSpPr>
        <p:spPr>
          <a:xfrm>
            <a:off x="2606013" y="1516575"/>
            <a:ext cx="144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Lato"/>
                <a:ea typeface="Lato"/>
                <a:cs typeface="Lato"/>
                <a:sym typeface="Lato"/>
              </a:rPr>
              <a:t>Base address</a:t>
            </a:r>
            <a:endParaRPr>
              <a:latin typeface="Lato"/>
              <a:ea typeface="Lato"/>
              <a:cs typeface="Lato"/>
              <a:sym typeface="Lato"/>
            </a:endParaRPr>
          </a:p>
        </p:txBody>
      </p:sp>
      <p:sp>
        <p:nvSpPr>
          <p:cNvPr id="268" name="Google Shape;268;p35"/>
          <p:cNvSpPr txBox="1"/>
          <p:nvPr/>
        </p:nvSpPr>
        <p:spPr>
          <a:xfrm>
            <a:off x="5110125" y="1516575"/>
            <a:ext cx="144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Lato"/>
                <a:ea typeface="Lato"/>
                <a:cs typeface="Lato"/>
                <a:sym typeface="Lato"/>
              </a:rPr>
              <a:t>Offset</a:t>
            </a:r>
            <a:endParaRPr>
              <a:latin typeface="Lato"/>
              <a:ea typeface="Lato"/>
              <a:cs typeface="Lato"/>
              <a:sym typeface="Lato"/>
            </a:endParaRPr>
          </a:p>
        </p:txBody>
      </p:sp>
      <p:sp>
        <p:nvSpPr>
          <p:cNvPr id="269" name="Google Shape;269;p35"/>
          <p:cNvSpPr txBox="1"/>
          <p:nvPr/>
        </p:nvSpPr>
        <p:spPr>
          <a:xfrm>
            <a:off x="3551963" y="3353063"/>
            <a:ext cx="144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Lato"/>
                <a:ea typeface="Lato"/>
                <a:cs typeface="Lato"/>
                <a:sym typeface="Lato"/>
              </a:rPr>
              <a:t>Destination</a:t>
            </a:r>
            <a:endParaRPr>
              <a:latin typeface="Lato"/>
              <a:ea typeface="Lato"/>
              <a:cs typeface="Lato"/>
              <a:sym typeface="Lato"/>
            </a:endParaRPr>
          </a:p>
        </p:txBody>
      </p:sp>
      <p:sp>
        <p:nvSpPr>
          <p:cNvPr id="270" name="Google Shape;270;p35"/>
          <p:cNvSpPr/>
          <p:nvPr/>
        </p:nvSpPr>
        <p:spPr>
          <a:xfrm rot="10800000">
            <a:off x="4099300" y="3052400"/>
            <a:ext cx="32375" cy="400100"/>
          </a:xfrm>
          <a:custGeom>
            <a:avLst/>
            <a:gdLst/>
            <a:ahLst/>
            <a:cxnLst/>
            <a:rect l="l" t="t" r="r" b="b"/>
            <a:pathLst>
              <a:path w="1295" h="16004" extrusionOk="0">
                <a:moveTo>
                  <a:pt x="0" y="0"/>
                </a:moveTo>
                <a:cubicBezTo>
                  <a:pt x="146" y="802"/>
                  <a:pt x="661" y="2145"/>
                  <a:pt x="877" y="4812"/>
                </a:cubicBezTo>
                <a:cubicBezTo>
                  <a:pt x="1093" y="7479"/>
                  <a:pt x="1225" y="14139"/>
                  <a:pt x="1295" y="16004"/>
                </a:cubicBezTo>
              </a:path>
            </a:pathLst>
          </a:custGeom>
          <a:noFill/>
          <a:ln w="38100" cap="flat" cmpd="sng">
            <a:solidFill>
              <a:srgbClr val="00FDC8"/>
            </a:solidFill>
            <a:prstDash val="solid"/>
            <a:round/>
            <a:headEnd type="none" w="med" len="med"/>
            <a:tailEnd type="triangle" w="med" len="med"/>
          </a:ln>
        </p:spPr>
      </p:sp>
      <p:sp>
        <p:nvSpPr>
          <p:cNvPr id="271" name="Google Shape;271;p35"/>
          <p:cNvSpPr txBox="1"/>
          <p:nvPr/>
        </p:nvSpPr>
        <p:spPr>
          <a:xfrm>
            <a:off x="6945875" y="2552275"/>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0</a:t>
            </a:r>
            <a:endParaRPr sz="1000">
              <a:solidFill>
                <a:srgbClr val="FF9900"/>
              </a:solidFill>
              <a:latin typeface="Lato"/>
              <a:ea typeface="Lato"/>
              <a:cs typeface="Lato"/>
              <a:sym typeface="Lato"/>
            </a:endParaRPr>
          </a:p>
        </p:txBody>
      </p:sp>
      <p:sp>
        <p:nvSpPr>
          <p:cNvPr id="272" name="Google Shape;272;p35"/>
          <p:cNvSpPr txBox="1"/>
          <p:nvPr/>
        </p:nvSpPr>
        <p:spPr>
          <a:xfrm>
            <a:off x="4099300" y="2552263"/>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16</a:t>
            </a:r>
            <a:endParaRPr sz="1000">
              <a:solidFill>
                <a:srgbClr val="FF9900"/>
              </a:solidFill>
              <a:latin typeface="Lato"/>
              <a:ea typeface="Lato"/>
              <a:cs typeface="Lato"/>
              <a:sym typeface="Lato"/>
            </a:endParaRPr>
          </a:p>
        </p:txBody>
      </p:sp>
      <p:sp>
        <p:nvSpPr>
          <p:cNvPr id="273" name="Google Shape;273;p35"/>
          <p:cNvSpPr txBox="1"/>
          <p:nvPr/>
        </p:nvSpPr>
        <p:spPr>
          <a:xfrm>
            <a:off x="3334975" y="2552275"/>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21</a:t>
            </a:r>
            <a:endParaRPr sz="1000">
              <a:solidFill>
                <a:srgbClr val="FF9900"/>
              </a:solidFill>
              <a:latin typeface="Lato"/>
              <a:ea typeface="Lato"/>
              <a:cs typeface="Lato"/>
              <a:sym typeface="Lato"/>
            </a:endParaRPr>
          </a:p>
        </p:txBody>
      </p:sp>
      <p:sp>
        <p:nvSpPr>
          <p:cNvPr id="274" name="Google Shape;274;p35"/>
          <p:cNvSpPr txBox="1"/>
          <p:nvPr/>
        </p:nvSpPr>
        <p:spPr>
          <a:xfrm>
            <a:off x="2586575" y="2552263"/>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26</a:t>
            </a:r>
            <a:endParaRPr sz="1000">
              <a:solidFill>
                <a:srgbClr val="FF9900"/>
              </a:solidFill>
              <a:latin typeface="Lato"/>
              <a:ea typeface="Lato"/>
              <a:cs typeface="Lato"/>
              <a:sym typeface="Lato"/>
            </a:endParaRPr>
          </a:p>
        </p:txBody>
      </p:sp>
      <p:sp>
        <p:nvSpPr>
          <p:cNvPr id="275" name="Google Shape;275;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LW instruction execution stages</a:t>
            </a:r>
            <a:endParaRPr/>
          </a:p>
        </p:txBody>
      </p:sp>
      <p:sp>
        <p:nvSpPr>
          <p:cNvPr id="281" name="Google Shape;281;p36"/>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a:t>Fetch LW instruction from memory</a:t>
            </a:r>
            <a:endParaRPr/>
          </a:p>
          <a:p>
            <a:pPr marL="457200" lvl="0" indent="-342900" algn="l" rtl="0">
              <a:spcBef>
                <a:spcPts val="0"/>
              </a:spcBef>
              <a:spcAft>
                <a:spcPts val="0"/>
              </a:spcAft>
              <a:buSzPts val="1800"/>
              <a:buAutoNum type="arabicPeriod"/>
            </a:pPr>
            <a:r>
              <a:rPr lang="en"/>
              <a:t>Read source operand from register file</a:t>
            </a:r>
            <a:endParaRPr/>
          </a:p>
          <a:p>
            <a:pPr marL="457200" lvl="0" indent="-342900" algn="l" rtl="0">
              <a:spcBef>
                <a:spcPts val="0"/>
              </a:spcBef>
              <a:spcAft>
                <a:spcPts val="0"/>
              </a:spcAft>
              <a:buSzPts val="1800"/>
              <a:buAutoNum type="arabicPeriod"/>
            </a:pPr>
            <a:r>
              <a:rPr lang="en"/>
              <a:t>Sign-extend the immediate</a:t>
            </a:r>
            <a:endParaRPr/>
          </a:p>
          <a:p>
            <a:pPr marL="457200" lvl="0" indent="-342900" algn="l" rtl="0">
              <a:spcBef>
                <a:spcPts val="0"/>
              </a:spcBef>
              <a:spcAft>
                <a:spcPts val="0"/>
              </a:spcAft>
              <a:buSzPts val="1800"/>
              <a:buAutoNum type="arabicPeriod"/>
            </a:pPr>
            <a:r>
              <a:rPr lang="en"/>
              <a:t>Compute memory address</a:t>
            </a:r>
            <a:endParaRPr/>
          </a:p>
          <a:p>
            <a:pPr marL="457200" lvl="0" indent="-342900" algn="l" rtl="0">
              <a:spcBef>
                <a:spcPts val="0"/>
              </a:spcBef>
              <a:spcAft>
                <a:spcPts val="0"/>
              </a:spcAft>
              <a:buSzPts val="1800"/>
              <a:buAutoNum type="arabicPeriod"/>
            </a:pPr>
            <a:r>
              <a:rPr lang="en"/>
              <a:t>Write data back to register file</a:t>
            </a:r>
            <a:endParaRPr/>
          </a:p>
        </p:txBody>
      </p:sp>
      <p:sp>
        <p:nvSpPr>
          <p:cNvPr id="282" name="Google Shape;282;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 Fetch LW instruction from memory</a:t>
            </a:r>
            <a:endParaRPr/>
          </a:p>
        </p:txBody>
      </p:sp>
      <p:pic>
        <p:nvPicPr>
          <p:cNvPr id="288" name="Google Shape;288;p37"/>
          <p:cNvPicPr preferRelativeResize="0"/>
          <p:nvPr/>
        </p:nvPicPr>
        <p:blipFill>
          <a:blip r:embed="rId3">
            <a:alphaModFix/>
          </a:blip>
          <a:stretch>
            <a:fillRect/>
          </a:stretch>
        </p:blipFill>
        <p:spPr>
          <a:xfrm>
            <a:off x="152400" y="1761463"/>
            <a:ext cx="8839198" cy="2425429"/>
          </a:xfrm>
          <a:prstGeom prst="rect">
            <a:avLst/>
          </a:prstGeom>
          <a:noFill/>
          <a:ln>
            <a:noFill/>
          </a:ln>
        </p:spPr>
      </p:pic>
      <p:sp>
        <p:nvSpPr>
          <p:cNvPr id="289" name="Google Shape;289;p37"/>
          <p:cNvSpPr txBox="1">
            <a:spLocks noGrp="1"/>
          </p:cNvSpPr>
          <p:nvPr>
            <p:ph type="body" idx="1"/>
          </p:nvPr>
        </p:nvSpPr>
        <p:spPr>
          <a:xfrm>
            <a:off x="6381625" y="0"/>
            <a:ext cx="2762400" cy="1021200"/>
          </a:xfrm>
          <a:prstGeom prst="rect">
            <a:avLst/>
          </a:prstGeom>
        </p:spPr>
        <p:txBody>
          <a:bodyPr spcFirstLastPara="1" wrap="square" lIns="91425" tIns="91425" rIns="91425" bIns="91425" anchor="t" anchorCtr="0">
            <a:normAutofit/>
          </a:bodyPr>
          <a:lstStyle/>
          <a:p>
            <a:pPr marL="457200" lvl="0" indent="-285750" algn="l" rtl="0">
              <a:lnSpc>
                <a:spcPct val="105000"/>
              </a:lnSpc>
              <a:spcBef>
                <a:spcPts val="0"/>
              </a:spcBef>
              <a:spcAft>
                <a:spcPts val="0"/>
              </a:spcAft>
              <a:buSzPts val="900"/>
              <a:buAutoNum type="arabicPeriod"/>
            </a:pPr>
            <a:r>
              <a:rPr lang="en" sz="900" b="1"/>
              <a:t>Fetch LW instruction from memory</a:t>
            </a:r>
            <a:endParaRPr sz="900" b="1"/>
          </a:p>
          <a:p>
            <a:pPr marL="457200" lvl="0" indent="-285750" algn="l" rtl="0">
              <a:lnSpc>
                <a:spcPct val="105000"/>
              </a:lnSpc>
              <a:spcBef>
                <a:spcPts val="0"/>
              </a:spcBef>
              <a:spcAft>
                <a:spcPts val="0"/>
              </a:spcAft>
              <a:buSzPts val="900"/>
              <a:buAutoNum type="arabicPeriod"/>
            </a:pPr>
            <a:r>
              <a:rPr lang="en" sz="900"/>
              <a:t>Read source operand from register file</a:t>
            </a:r>
            <a:endParaRPr sz="900"/>
          </a:p>
          <a:p>
            <a:pPr marL="457200" lvl="0" indent="-285750" algn="l" rtl="0">
              <a:lnSpc>
                <a:spcPct val="105000"/>
              </a:lnSpc>
              <a:spcBef>
                <a:spcPts val="0"/>
              </a:spcBef>
              <a:spcAft>
                <a:spcPts val="0"/>
              </a:spcAft>
              <a:buSzPts val="900"/>
              <a:buAutoNum type="arabicPeriod"/>
            </a:pPr>
            <a:r>
              <a:rPr lang="en" sz="900"/>
              <a:t>Sign-extend the immediate</a:t>
            </a:r>
            <a:endParaRPr sz="900"/>
          </a:p>
          <a:p>
            <a:pPr marL="457200" lvl="0" indent="-285750" algn="l" rtl="0">
              <a:lnSpc>
                <a:spcPct val="105000"/>
              </a:lnSpc>
              <a:spcBef>
                <a:spcPts val="0"/>
              </a:spcBef>
              <a:spcAft>
                <a:spcPts val="0"/>
              </a:spcAft>
              <a:buSzPts val="900"/>
              <a:buAutoNum type="arabicPeriod"/>
            </a:pPr>
            <a:r>
              <a:rPr lang="en" sz="900"/>
              <a:t>Compute memory address</a:t>
            </a:r>
            <a:endParaRPr sz="900"/>
          </a:p>
          <a:p>
            <a:pPr marL="457200" lvl="0" indent="-285750" algn="l" rtl="0">
              <a:lnSpc>
                <a:spcPct val="105000"/>
              </a:lnSpc>
              <a:spcBef>
                <a:spcPts val="0"/>
              </a:spcBef>
              <a:spcAft>
                <a:spcPts val="0"/>
              </a:spcAft>
              <a:buSzPts val="900"/>
              <a:buAutoNum type="arabicPeriod"/>
            </a:pPr>
            <a:r>
              <a:rPr lang="en" sz="900"/>
              <a:t>Write data back to register file</a:t>
            </a:r>
            <a:endParaRPr sz="900"/>
          </a:p>
        </p:txBody>
      </p:sp>
      <p:sp>
        <p:nvSpPr>
          <p:cNvPr id="290" name="Google Shape;290;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 Read source operand from register file</a:t>
            </a:r>
            <a:endParaRPr/>
          </a:p>
        </p:txBody>
      </p:sp>
      <p:pic>
        <p:nvPicPr>
          <p:cNvPr id="296" name="Google Shape;296;p38"/>
          <p:cNvPicPr preferRelativeResize="0"/>
          <p:nvPr/>
        </p:nvPicPr>
        <p:blipFill>
          <a:blip r:embed="rId3">
            <a:alphaModFix/>
          </a:blip>
          <a:stretch>
            <a:fillRect/>
          </a:stretch>
        </p:blipFill>
        <p:spPr>
          <a:xfrm>
            <a:off x="152400" y="1667725"/>
            <a:ext cx="8839203" cy="2382242"/>
          </a:xfrm>
          <a:prstGeom prst="rect">
            <a:avLst/>
          </a:prstGeom>
          <a:noFill/>
          <a:ln>
            <a:noFill/>
          </a:ln>
        </p:spPr>
      </p:pic>
      <p:sp>
        <p:nvSpPr>
          <p:cNvPr id="297" name="Google Shape;297;p38"/>
          <p:cNvSpPr/>
          <p:nvPr/>
        </p:nvSpPr>
        <p:spPr>
          <a:xfrm>
            <a:off x="3429000" y="2028825"/>
            <a:ext cx="435600" cy="2643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8"/>
          <p:cNvSpPr/>
          <p:nvPr/>
        </p:nvSpPr>
        <p:spPr>
          <a:xfrm>
            <a:off x="6063950" y="1614500"/>
            <a:ext cx="451150" cy="704900"/>
          </a:xfrm>
          <a:custGeom>
            <a:avLst/>
            <a:gdLst/>
            <a:ahLst/>
            <a:cxnLst/>
            <a:rect l="l" t="t" r="r" b="b"/>
            <a:pathLst>
              <a:path w="18046" h="28196" extrusionOk="0">
                <a:moveTo>
                  <a:pt x="18046" y="0"/>
                </a:moveTo>
                <a:cubicBezTo>
                  <a:pt x="16998" y="2143"/>
                  <a:pt x="14768" y="8159"/>
                  <a:pt x="11760" y="12858"/>
                </a:cubicBezTo>
                <a:cubicBezTo>
                  <a:pt x="8752" y="17557"/>
                  <a:pt x="1960" y="25640"/>
                  <a:pt x="0" y="28196"/>
                </a:cubicBezTo>
              </a:path>
            </a:pathLst>
          </a:custGeom>
          <a:noFill/>
          <a:ln w="38100" cap="flat" cmpd="sng">
            <a:solidFill>
              <a:srgbClr val="00FDC8"/>
            </a:solidFill>
            <a:prstDash val="solid"/>
            <a:round/>
            <a:headEnd type="none" w="med" len="med"/>
            <a:tailEnd type="triangle" w="med" len="med"/>
          </a:ln>
        </p:spPr>
      </p:sp>
      <p:sp>
        <p:nvSpPr>
          <p:cNvPr id="299" name="Google Shape;299;p38"/>
          <p:cNvSpPr txBox="1"/>
          <p:nvPr/>
        </p:nvSpPr>
        <p:spPr>
          <a:xfrm>
            <a:off x="6357950" y="1335875"/>
            <a:ext cx="43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highlight>
                  <a:schemeClr val="dk1"/>
                </a:highlight>
                <a:latin typeface="Lato"/>
                <a:ea typeface="Lato"/>
                <a:cs typeface="Lato"/>
                <a:sym typeface="Lato"/>
              </a:rPr>
              <a:t>??</a:t>
            </a:r>
            <a:endParaRPr>
              <a:highlight>
                <a:schemeClr val="dk1"/>
              </a:highlight>
              <a:latin typeface="Lato"/>
              <a:ea typeface="Lato"/>
              <a:cs typeface="Lato"/>
              <a:sym typeface="Lato"/>
            </a:endParaRPr>
          </a:p>
        </p:txBody>
      </p:sp>
      <p:sp>
        <p:nvSpPr>
          <p:cNvPr id="300" name="Google Shape;300;p38"/>
          <p:cNvSpPr txBox="1">
            <a:spLocks noGrp="1"/>
          </p:cNvSpPr>
          <p:nvPr>
            <p:ph type="body" idx="1"/>
          </p:nvPr>
        </p:nvSpPr>
        <p:spPr>
          <a:xfrm>
            <a:off x="6381625" y="0"/>
            <a:ext cx="2762400" cy="1021200"/>
          </a:xfrm>
          <a:prstGeom prst="rect">
            <a:avLst/>
          </a:prstGeom>
        </p:spPr>
        <p:txBody>
          <a:bodyPr spcFirstLastPara="1" wrap="square" lIns="91425" tIns="91425" rIns="91425" bIns="91425" anchor="t" anchorCtr="0">
            <a:normAutofit/>
          </a:bodyPr>
          <a:lstStyle/>
          <a:p>
            <a:pPr marL="457200" lvl="0" indent="-285750" algn="l" rtl="0">
              <a:lnSpc>
                <a:spcPct val="105000"/>
              </a:lnSpc>
              <a:spcBef>
                <a:spcPts val="0"/>
              </a:spcBef>
              <a:spcAft>
                <a:spcPts val="0"/>
              </a:spcAft>
              <a:buSzPts val="900"/>
              <a:buAutoNum type="arabicPeriod"/>
            </a:pPr>
            <a:r>
              <a:rPr lang="en" sz="900"/>
              <a:t>Fetch LW instruction from memory</a:t>
            </a:r>
            <a:endParaRPr sz="900"/>
          </a:p>
          <a:p>
            <a:pPr marL="457200" lvl="0" indent="-285750" algn="l" rtl="0">
              <a:lnSpc>
                <a:spcPct val="105000"/>
              </a:lnSpc>
              <a:spcBef>
                <a:spcPts val="0"/>
              </a:spcBef>
              <a:spcAft>
                <a:spcPts val="0"/>
              </a:spcAft>
              <a:buSzPts val="900"/>
              <a:buAutoNum type="arabicPeriod"/>
            </a:pPr>
            <a:r>
              <a:rPr lang="en" sz="900" b="1"/>
              <a:t>Read source operand from register file</a:t>
            </a:r>
            <a:endParaRPr sz="900" b="1"/>
          </a:p>
          <a:p>
            <a:pPr marL="457200" lvl="0" indent="-285750" algn="l" rtl="0">
              <a:lnSpc>
                <a:spcPct val="105000"/>
              </a:lnSpc>
              <a:spcBef>
                <a:spcPts val="0"/>
              </a:spcBef>
              <a:spcAft>
                <a:spcPts val="0"/>
              </a:spcAft>
              <a:buSzPts val="900"/>
              <a:buAutoNum type="arabicPeriod"/>
            </a:pPr>
            <a:r>
              <a:rPr lang="en" sz="900"/>
              <a:t>Sign-extend the immediate</a:t>
            </a:r>
            <a:endParaRPr sz="900"/>
          </a:p>
          <a:p>
            <a:pPr marL="457200" lvl="0" indent="-285750" algn="l" rtl="0">
              <a:lnSpc>
                <a:spcPct val="105000"/>
              </a:lnSpc>
              <a:spcBef>
                <a:spcPts val="0"/>
              </a:spcBef>
              <a:spcAft>
                <a:spcPts val="0"/>
              </a:spcAft>
              <a:buSzPts val="900"/>
              <a:buAutoNum type="arabicPeriod"/>
            </a:pPr>
            <a:r>
              <a:rPr lang="en" sz="900"/>
              <a:t>Compute memory address</a:t>
            </a:r>
            <a:endParaRPr sz="900"/>
          </a:p>
          <a:p>
            <a:pPr marL="457200" lvl="0" indent="-285750" algn="l" rtl="0">
              <a:lnSpc>
                <a:spcPct val="105000"/>
              </a:lnSpc>
              <a:spcBef>
                <a:spcPts val="0"/>
              </a:spcBef>
              <a:spcAft>
                <a:spcPts val="0"/>
              </a:spcAft>
              <a:buSzPts val="900"/>
              <a:buAutoNum type="arabicPeriod"/>
            </a:pPr>
            <a:r>
              <a:rPr lang="en" sz="900"/>
              <a:t>Write data back to register file</a:t>
            </a:r>
            <a:endParaRPr sz="900"/>
          </a:p>
        </p:txBody>
      </p:sp>
      <p:sp>
        <p:nvSpPr>
          <p:cNvPr id="301" name="Google Shape;301;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pic>
        <p:nvPicPr>
          <p:cNvPr id="302" name="Google Shape;302;p38"/>
          <p:cNvPicPr preferRelativeResize="0"/>
          <p:nvPr/>
        </p:nvPicPr>
        <p:blipFill>
          <a:blip r:embed="rId4">
            <a:alphaModFix/>
          </a:blip>
          <a:stretch>
            <a:fillRect/>
          </a:stretch>
        </p:blipFill>
        <p:spPr>
          <a:xfrm>
            <a:off x="108798" y="4112375"/>
            <a:ext cx="2021050" cy="878725"/>
          </a:xfrm>
          <a:prstGeom prst="rect">
            <a:avLst/>
          </a:prstGeom>
          <a:noFill/>
          <a:ln w="9525" cap="flat" cmpd="sng">
            <a:solidFill>
              <a:schemeClr val="lt1"/>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9"/>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Sign-extend the immediate</a:t>
            </a:r>
            <a:endParaRPr/>
          </a:p>
          <a:p>
            <a:pPr marL="0" lvl="0" indent="0" algn="l" rtl="0">
              <a:spcBef>
                <a:spcPts val="0"/>
              </a:spcBef>
              <a:spcAft>
                <a:spcPts val="0"/>
              </a:spcAft>
              <a:buNone/>
            </a:pPr>
            <a:endParaRPr/>
          </a:p>
        </p:txBody>
      </p:sp>
      <p:pic>
        <p:nvPicPr>
          <p:cNvPr id="308" name="Google Shape;308;p39"/>
          <p:cNvPicPr preferRelativeResize="0"/>
          <p:nvPr/>
        </p:nvPicPr>
        <p:blipFill>
          <a:blip r:embed="rId3">
            <a:alphaModFix/>
          </a:blip>
          <a:stretch>
            <a:fillRect/>
          </a:stretch>
        </p:blipFill>
        <p:spPr>
          <a:xfrm>
            <a:off x="358263" y="1246250"/>
            <a:ext cx="8427465" cy="3744850"/>
          </a:xfrm>
          <a:prstGeom prst="rect">
            <a:avLst/>
          </a:prstGeom>
          <a:noFill/>
          <a:ln>
            <a:noFill/>
          </a:ln>
        </p:spPr>
      </p:pic>
      <p:sp>
        <p:nvSpPr>
          <p:cNvPr id="309" name="Google Shape;309;p39"/>
          <p:cNvSpPr/>
          <p:nvPr/>
        </p:nvSpPr>
        <p:spPr>
          <a:xfrm>
            <a:off x="3493275" y="4371975"/>
            <a:ext cx="435600" cy="2643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9"/>
          <p:cNvSpPr txBox="1">
            <a:spLocks noGrp="1"/>
          </p:cNvSpPr>
          <p:nvPr>
            <p:ph type="body" idx="1"/>
          </p:nvPr>
        </p:nvSpPr>
        <p:spPr>
          <a:xfrm>
            <a:off x="6381625" y="0"/>
            <a:ext cx="2762400" cy="1021200"/>
          </a:xfrm>
          <a:prstGeom prst="rect">
            <a:avLst/>
          </a:prstGeom>
        </p:spPr>
        <p:txBody>
          <a:bodyPr spcFirstLastPara="1" wrap="square" lIns="91425" tIns="91425" rIns="91425" bIns="91425" anchor="t" anchorCtr="0">
            <a:normAutofit/>
          </a:bodyPr>
          <a:lstStyle/>
          <a:p>
            <a:pPr marL="457200" lvl="0" indent="-285750" algn="l" rtl="0">
              <a:lnSpc>
                <a:spcPct val="105000"/>
              </a:lnSpc>
              <a:spcBef>
                <a:spcPts val="0"/>
              </a:spcBef>
              <a:spcAft>
                <a:spcPts val="0"/>
              </a:spcAft>
              <a:buSzPts val="900"/>
              <a:buAutoNum type="arabicPeriod"/>
            </a:pPr>
            <a:r>
              <a:rPr lang="en" sz="900"/>
              <a:t>Fetch LW instruction from memory</a:t>
            </a:r>
            <a:endParaRPr sz="900"/>
          </a:p>
          <a:p>
            <a:pPr marL="457200" lvl="0" indent="-285750" algn="l" rtl="0">
              <a:lnSpc>
                <a:spcPct val="105000"/>
              </a:lnSpc>
              <a:spcBef>
                <a:spcPts val="0"/>
              </a:spcBef>
              <a:spcAft>
                <a:spcPts val="0"/>
              </a:spcAft>
              <a:buSzPts val="900"/>
              <a:buAutoNum type="arabicPeriod"/>
            </a:pPr>
            <a:r>
              <a:rPr lang="en" sz="900"/>
              <a:t>Read source operand from register file</a:t>
            </a:r>
            <a:endParaRPr sz="900"/>
          </a:p>
          <a:p>
            <a:pPr marL="457200" lvl="0" indent="-285750" algn="l" rtl="0">
              <a:lnSpc>
                <a:spcPct val="105000"/>
              </a:lnSpc>
              <a:spcBef>
                <a:spcPts val="0"/>
              </a:spcBef>
              <a:spcAft>
                <a:spcPts val="0"/>
              </a:spcAft>
              <a:buSzPts val="900"/>
              <a:buAutoNum type="arabicPeriod"/>
            </a:pPr>
            <a:r>
              <a:rPr lang="en" sz="900" b="1"/>
              <a:t>Sign-extend the immediate</a:t>
            </a:r>
            <a:endParaRPr sz="900" b="1"/>
          </a:p>
          <a:p>
            <a:pPr marL="457200" lvl="0" indent="-285750" algn="l" rtl="0">
              <a:lnSpc>
                <a:spcPct val="105000"/>
              </a:lnSpc>
              <a:spcBef>
                <a:spcPts val="0"/>
              </a:spcBef>
              <a:spcAft>
                <a:spcPts val="0"/>
              </a:spcAft>
              <a:buSzPts val="900"/>
              <a:buAutoNum type="arabicPeriod"/>
            </a:pPr>
            <a:r>
              <a:rPr lang="en" sz="900"/>
              <a:t>Compute memory address</a:t>
            </a:r>
            <a:endParaRPr sz="900"/>
          </a:p>
          <a:p>
            <a:pPr marL="457200" lvl="0" indent="-285750" algn="l" rtl="0">
              <a:lnSpc>
                <a:spcPct val="105000"/>
              </a:lnSpc>
              <a:spcBef>
                <a:spcPts val="0"/>
              </a:spcBef>
              <a:spcAft>
                <a:spcPts val="0"/>
              </a:spcAft>
              <a:buSzPts val="900"/>
              <a:buAutoNum type="arabicPeriod"/>
            </a:pPr>
            <a:r>
              <a:rPr lang="en" sz="900"/>
              <a:t>Write data back to register file</a:t>
            </a:r>
            <a:endParaRPr sz="900"/>
          </a:p>
        </p:txBody>
      </p:sp>
      <p:sp>
        <p:nvSpPr>
          <p:cNvPr id="311" name="Google Shape;311;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27</a:t>
            </a:fld>
            <a:endParaRPr/>
          </a:p>
        </p:txBody>
      </p:sp>
      <p:pic>
        <p:nvPicPr>
          <p:cNvPr id="312" name="Google Shape;312;p39"/>
          <p:cNvPicPr preferRelativeResize="0"/>
          <p:nvPr/>
        </p:nvPicPr>
        <p:blipFill>
          <a:blip r:embed="rId4">
            <a:alphaModFix/>
          </a:blip>
          <a:stretch>
            <a:fillRect/>
          </a:stretch>
        </p:blipFill>
        <p:spPr>
          <a:xfrm>
            <a:off x="108798" y="4112375"/>
            <a:ext cx="2021050" cy="878725"/>
          </a:xfrm>
          <a:prstGeom prst="rect">
            <a:avLst/>
          </a:prstGeom>
          <a:noFill/>
          <a:ln w="9525" cap="flat" cmpd="sng">
            <a:solidFill>
              <a:schemeClr val="lt1"/>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Compute memory address</a:t>
            </a:r>
            <a:endParaRPr/>
          </a:p>
        </p:txBody>
      </p:sp>
      <p:pic>
        <p:nvPicPr>
          <p:cNvPr id="318" name="Google Shape;318;p40"/>
          <p:cNvPicPr preferRelativeResize="0"/>
          <p:nvPr/>
        </p:nvPicPr>
        <p:blipFill>
          <a:blip r:embed="rId3">
            <a:alphaModFix/>
          </a:blip>
          <a:stretch>
            <a:fillRect/>
          </a:stretch>
        </p:blipFill>
        <p:spPr>
          <a:xfrm>
            <a:off x="152400" y="1322450"/>
            <a:ext cx="8839199" cy="3314084"/>
          </a:xfrm>
          <a:prstGeom prst="rect">
            <a:avLst/>
          </a:prstGeom>
          <a:noFill/>
          <a:ln>
            <a:noFill/>
          </a:ln>
        </p:spPr>
      </p:pic>
      <p:pic>
        <p:nvPicPr>
          <p:cNvPr id="319" name="Google Shape;319;p40"/>
          <p:cNvPicPr preferRelativeResize="0"/>
          <p:nvPr/>
        </p:nvPicPr>
        <p:blipFill>
          <a:blip r:embed="rId4">
            <a:alphaModFix/>
          </a:blip>
          <a:stretch>
            <a:fillRect/>
          </a:stretch>
        </p:blipFill>
        <p:spPr>
          <a:xfrm>
            <a:off x="6372225" y="3574875"/>
            <a:ext cx="2771775" cy="1568626"/>
          </a:xfrm>
          <a:prstGeom prst="rect">
            <a:avLst/>
          </a:prstGeom>
          <a:noFill/>
          <a:ln w="9525" cap="flat" cmpd="sng">
            <a:solidFill>
              <a:schemeClr val="dk1"/>
            </a:solidFill>
            <a:prstDash val="solid"/>
            <a:round/>
            <a:headEnd type="none" w="sm" len="sm"/>
            <a:tailEnd type="none" w="sm" len="sm"/>
          </a:ln>
        </p:spPr>
      </p:pic>
      <p:sp>
        <p:nvSpPr>
          <p:cNvPr id="320" name="Google Shape;320;p40"/>
          <p:cNvSpPr txBox="1">
            <a:spLocks noGrp="1"/>
          </p:cNvSpPr>
          <p:nvPr>
            <p:ph type="body" idx="1"/>
          </p:nvPr>
        </p:nvSpPr>
        <p:spPr>
          <a:xfrm>
            <a:off x="6381625" y="0"/>
            <a:ext cx="2762400" cy="1021200"/>
          </a:xfrm>
          <a:prstGeom prst="rect">
            <a:avLst/>
          </a:prstGeom>
        </p:spPr>
        <p:txBody>
          <a:bodyPr spcFirstLastPara="1" wrap="square" lIns="91425" tIns="91425" rIns="91425" bIns="91425" anchor="t" anchorCtr="0">
            <a:normAutofit/>
          </a:bodyPr>
          <a:lstStyle/>
          <a:p>
            <a:pPr marL="457200" lvl="0" indent="-285750" algn="l" rtl="0">
              <a:lnSpc>
                <a:spcPct val="105000"/>
              </a:lnSpc>
              <a:spcBef>
                <a:spcPts val="0"/>
              </a:spcBef>
              <a:spcAft>
                <a:spcPts val="0"/>
              </a:spcAft>
              <a:buSzPts val="900"/>
              <a:buAutoNum type="arabicPeriod"/>
            </a:pPr>
            <a:r>
              <a:rPr lang="en" sz="900"/>
              <a:t>Fetch LW instruction from memory</a:t>
            </a:r>
            <a:endParaRPr sz="900"/>
          </a:p>
          <a:p>
            <a:pPr marL="457200" lvl="0" indent="-285750" algn="l" rtl="0">
              <a:lnSpc>
                <a:spcPct val="105000"/>
              </a:lnSpc>
              <a:spcBef>
                <a:spcPts val="0"/>
              </a:spcBef>
              <a:spcAft>
                <a:spcPts val="0"/>
              </a:spcAft>
              <a:buSzPts val="900"/>
              <a:buAutoNum type="arabicPeriod"/>
            </a:pPr>
            <a:r>
              <a:rPr lang="en" sz="900"/>
              <a:t>Read source operand from register file</a:t>
            </a:r>
            <a:endParaRPr sz="900"/>
          </a:p>
          <a:p>
            <a:pPr marL="457200" lvl="0" indent="-285750" algn="l" rtl="0">
              <a:lnSpc>
                <a:spcPct val="105000"/>
              </a:lnSpc>
              <a:spcBef>
                <a:spcPts val="0"/>
              </a:spcBef>
              <a:spcAft>
                <a:spcPts val="0"/>
              </a:spcAft>
              <a:buSzPts val="900"/>
              <a:buAutoNum type="arabicPeriod"/>
            </a:pPr>
            <a:r>
              <a:rPr lang="en" sz="900"/>
              <a:t>Sign-extend the immediate</a:t>
            </a:r>
            <a:endParaRPr sz="900"/>
          </a:p>
          <a:p>
            <a:pPr marL="457200" lvl="0" indent="-285750" algn="l" rtl="0">
              <a:lnSpc>
                <a:spcPct val="105000"/>
              </a:lnSpc>
              <a:spcBef>
                <a:spcPts val="0"/>
              </a:spcBef>
              <a:spcAft>
                <a:spcPts val="0"/>
              </a:spcAft>
              <a:buSzPts val="900"/>
              <a:buAutoNum type="arabicPeriod"/>
            </a:pPr>
            <a:r>
              <a:rPr lang="en" sz="900" b="1"/>
              <a:t>Compute memory address</a:t>
            </a:r>
            <a:endParaRPr sz="900" b="1"/>
          </a:p>
          <a:p>
            <a:pPr marL="457200" lvl="0" indent="-285750" algn="l" rtl="0">
              <a:lnSpc>
                <a:spcPct val="105000"/>
              </a:lnSpc>
              <a:spcBef>
                <a:spcPts val="0"/>
              </a:spcBef>
              <a:spcAft>
                <a:spcPts val="0"/>
              </a:spcAft>
              <a:buSzPts val="900"/>
              <a:buAutoNum type="arabicPeriod"/>
            </a:pPr>
            <a:r>
              <a:rPr lang="en" sz="900"/>
              <a:t>Write data back to register file</a:t>
            </a:r>
            <a:endParaRPr sz="900"/>
          </a:p>
        </p:txBody>
      </p:sp>
      <p:sp>
        <p:nvSpPr>
          <p:cNvPr id="321" name="Google Shape;321;p40"/>
          <p:cNvSpPr/>
          <p:nvPr/>
        </p:nvSpPr>
        <p:spPr>
          <a:xfrm>
            <a:off x="6839625" y="1309566"/>
            <a:ext cx="620550" cy="228650"/>
          </a:xfrm>
          <a:custGeom>
            <a:avLst/>
            <a:gdLst/>
            <a:ahLst/>
            <a:cxnLst/>
            <a:rect l="l" t="t" r="r" b="b"/>
            <a:pathLst>
              <a:path w="24822" h="9146" extrusionOk="0">
                <a:moveTo>
                  <a:pt x="24822" y="432"/>
                </a:moveTo>
                <a:cubicBezTo>
                  <a:pt x="22747" y="479"/>
                  <a:pt x="16507" y="-737"/>
                  <a:pt x="12370" y="715"/>
                </a:cubicBezTo>
                <a:cubicBezTo>
                  <a:pt x="8233" y="2167"/>
                  <a:pt x="2062" y="7741"/>
                  <a:pt x="0" y="9146"/>
                </a:cubicBezTo>
              </a:path>
            </a:pathLst>
          </a:custGeom>
          <a:noFill/>
          <a:ln w="38100" cap="flat" cmpd="sng">
            <a:solidFill>
              <a:srgbClr val="00FDC8"/>
            </a:solidFill>
            <a:prstDash val="solid"/>
            <a:round/>
            <a:headEnd type="none" w="med" len="med"/>
            <a:tailEnd type="triangle" w="med" len="med"/>
          </a:ln>
        </p:spPr>
      </p:sp>
      <p:sp>
        <p:nvSpPr>
          <p:cNvPr id="322" name="Google Shape;322;p40"/>
          <p:cNvSpPr txBox="1"/>
          <p:nvPr/>
        </p:nvSpPr>
        <p:spPr>
          <a:xfrm>
            <a:off x="7396500" y="1131425"/>
            <a:ext cx="1747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Lato"/>
                <a:ea typeface="Lato"/>
                <a:cs typeface="Lato"/>
                <a:sym typeface="Lato"/>
              </a:rPr>
              <a:t>We need control signals</a:t>
            </a:r>
            <a:endParaRPr sz="1000">
              <a:latin typeface="Lato"/>
              <a:ea typeface="Lato"/>
              <a:cs typeface="Lato"/>
              <a:sym typeface="Lato"/>
            </a:endParaRPr>
          </a:p>
        </p:txBody>
      </p:sp>
      <p:sp>
        <p:nvSpPr>
          <p:cNvPr id="323" name="Google Shape;323;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p:pic>
        <p:nvPicPr>
          <p:cNvPr id="324" name="Google Shape;324;p40"/>
          <p:cNvPicPr preferRelativeResize="0"/>
          <p:nvPr/>
        </p:nvPicPr>
        <p:blipFill>
          <a:blip r:embed="rId5">
            <a:alphaModFix/>
          </a:blip>
          <a:stretch>
            <a:fillRect/>
          </a:stretch>
        </p:blipFill>
        <p:spPr>
          <a:xfrm>
            <a:off x="108798" y="4112375"/>
            <a:ext cx="2021050" cy="878725"/>
          </a:xfrm>
          <a:prstGeom prst="rect">
            <a:avLst/>
          </a:prstGeom>
          <a:noFill/>
          <a:ln w="9525" cap="flat" cmpd="sng">
            <a:solidFill>
              <a:schemeClr val="lt1"/>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5. Write data back to register file</a:t>
            </a:r>
            <a:endParaRPr/>
          </a:p>
        </p:txBody>
      </p:sp>
      <p:pic>
        <p:nvPicPr>
          <p:cNvPr id="330" name="Google Shape;330;p41"/>
          <p:cNvPicPr preferRelativeResize="0"/>
          <p:nvPr/>
        </p:nvPicPr>
        <p:blipFill>
          <a:blip r:embed="rId3">
            <a:alphaModFix/>
          </a:blip>
          <a:stretch>
            <a:fillRect/>
          </a:stretch>
        </p:blipFill>
        <p:spPr>
          <a:xfrm>
            <a:off x="152400" y="1246250"/>
            <a:ext cx="8669511" cy="3744849"/>
          </a:xfrm>
          <a:prstGeom prst="rect">
            <a:avLst/>
          </a:prstGeom>
          <a:noFill/>
          <a:ln>
            <a:noFill/>
          </a:ln>
        </p:spPr>
      </p:pic>
      <p:sp>
        <p:nvSpPr>
          <p:cNvPr id="331" name="Google Shape;331;p41"/>
          <p:cNvSpPr/>
          <p:nvPr/>
        </p:nvSpPr>
        <p:spPr>
          <a:xfrm>
            <a:off x="2354200" y="2439600"/>
            <a:ext cx="435600" cy="2643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1"/>
          <p:cNvSpPr txBox="1">
            <a:spLocks noGrp="1"/>
          </p:cNvSpPr>
          <p:nvPr>
            <p:ph type="body" idx="1"/>
          </p:nvPr>
        </p:nvSpPr>
        <p:spPr>
          <a:xfrm>
            <a:off x="6381625" y="0"/>
            <a:ext cx="2762400" cy="1021200"/>
          </a:xfrm>
          <a:prstGeom prst="rect">
            <a:avLst/>
          </a:prstGeom>
        </p:spPr>
        <p:txBody>
          <a:bodyPr spcFirstLastPara="1" wrap="square" lIns="91425" tIns="91425" rIns="91425" bIns="91425" anchor="t" anchorCtr="0">
            <a:normAutofit/>
          </a:bodyPr>
          <a:lstStyle/>
          <a:p>
            <a:pPr marL="457200" lvl="0" indent="-285750" algn="l" rtl="0">
              <a:lnSpc>
                <a:spcPct val="105000"/>
              </a:lnSpc>
              <a:spcBef>
                <a:spcPts val="0"/>
              </a:spcBef>
              <a:spcAft>
                <a:spcPts val="0"/>
              </a:spcAft>
              <a:buSzPts val="900"/>
              <a:buAutoNum type="arabicPeriod"/>
            </a:pPr>
            <a:r>
              <a:rPr lang="en" sz="900"/>
              <a:t>Fetch LW instruction from memory</a:t>
            </a:r>
            <a:endParaRPr sz="900"/>
          </a:p>
          <a:p>
            <a:pPr marL="457200" lvl="0" indent="-285750" algn="l" rtl="0">
              <a:lnSpc>
                <a:spcPct val="105000"/>
              </a:lnSpc>
              <a:spcBef>
                <a:spcPts val="0"/>
              </a:spcBef>
              <a:spcAft>
                <a:spcPts val="0"/>
              </a:spcAft>
              <a:buSzPts val="900"/>
              <a:buAutoNum type="arabicPeriod"/>
            </a:pPr>
            <a:r>
              <a:rPr lang="en" sz="900"/>
              <a:t>Read source operand from register file</a:t>
            </a:r>
            <a:endParaRPr sz="900"/>
          </a:p>
          <a:p>
            <a:pPr marL="457200" lvl="0" indent="-285750" algn="l" rtl="0">
              <a:lnSpc>
                <a:spcPct val="105000"/>
              </a:lnSpc>
              <a:spcBef>
                <a:spcPts val="0"/>
              </a:spcBef>
              <a:spcAft>
                <a:spcPts val="0"/>
              </a:spcAft>
              <a:buSzPts val="900"/>
              <a:buAutoNum type="arabicPeriod"/>
            </a:pPr>
            <a:r>
              <a:rPr lang="en" sz="900"/>
              <a:t>Sign-extend the immediate</a:t>
            </a:r>
            <a:endParaRPr sz="900"/>
          </a:p>
          <a:p>
            <a:pPr marL="457200" lvl="0" indent="-285750" algn="l" rtl="0">
              <a:lnSpc>
                <a:spcPct val="105000"/>
              </a:lnSpc>
              <a:spcBef>
                <a:spcPts val="0"/>
              </a:spcBef>
              <a:spcAft>
                <a:spcPts val="0"/>
              </a:spcAft>
              <a:buSzPts val="900"/>
              <a:buAutoNum type="arabicPeriod"/>
            </a:pPr>
            <a:r>
              <a:rPr lang="en" sz="900"/>
              <a:t>Compute memory address</a:t>
            </a:r>
            <a:endParaRPr sz="900"/>
          </a:p>
          <a:p>
            <a:pPr marL="457200" lvl="0" indent="-285750" algn="l" rtl="0">
              <a:lnSpc>
                <a:spcPct val="105000"/>
              </a:lnSpc>
              <a:spcBef>
                <a:spcPts val="0"/>
              </a:spcBef>
              <a:spcAft>
                <a:spcPts val="0"/>
              </a:spcAft>
              <a:buSzPts val="900"/>
              <a:buAutoNum type="arabicPeriod"/>
            </a:pPr>
            <a:r>
              <a:rPr lang="en" sz="900" b="1"/>
              <a:t>Write data back to register file</a:t>
            </a:r>
            <a:endParaRPr sz="900" b="1"/>
          </a:p>
        </p:txBody>
      </p:sp>
      <p:pic>
        <p:nvPicPr>
          <p:cNvPr id="333" name="Google Shape;333;p41"/>
          <p:cNvPicPr preferRelativeResize="0"/>
          <p:nvPr/>
        </p:nvPicPr>
        <p:blipFill>
          <a:blip r:embed="rId4">
            <a:alphaModFix/>
          </a:blip>
          <a:stretch>
            <a:fillRect/>
          </a:stretch>
        </p:blipFill>
        <p:spPr>
          <a:xfrm flipH="1">
            <a:off x="8558175" y="514409"/>
            <a:ext cx="435600" cy="428629"/>
          </a:xfrm>
          <a:prstGeom prst="rect">
            <a:avLst/>
          </a:prstGeom>
          <a:noFill/>
          <a:ln>
            <a:noFill/>
          </a:ln>
        </p:spPr>
      </p:pic>
      <p:sp>
        <p:nvSpPr>
          <p:cNvPr id="334" name="Google Shape;334;p41"/>
          <p:cNvSpPr/>
          <p:nvPr/>
        </p:nvSpPr>
        <p:spPr>
          <a:xfrm>
            <a:off x="3631500" y="1121191"/>
            <a:ext cx="620550" cy="228650"/>
          </a:xfrm>
          <a:custGeom>
            <a:avLst/>
            <a:gdLst/>
            <a:ahLst/>
            <a:cxnLst/>
            <a:rect l="l" t="t" r="r" b="b"/>
            <a:pathLst>
              <a:path w="24822" h="9146" extrusionOk="0">
                <a:moveTo>
                  <a:pt x="24822" y="432"/>
                </a:moveTo>
                <a:cubicBezTo>
                  <a:pt x="22747" y="479"/>
                  <a:pt x="16507" y="-737"/>
                  <a:pt x="12370" y="715"/>
                </a:cubicBezTo>
                <a:cubicBezTo>
                  <a:pt x="8233" y="2167"/>
                  <a:pt x="2062" y="7741"/>
                  <a:pt x="0" y="9146"/>
                </a:cubicBezTo>
              </a:path>
            </a:pathLst>
          </a:custGeom>
          <a:noFill/>
          <a:ln w="38100" cap="flat" cmpd="sng">
            <a:solidFill>
              <a:srgbClr val="00FDC8"/>
            </a:solidFill>
            <a:prstDash val="solid"/>
            <a:round/>
            <a:headEnd type="none" w="med" len="med"/>
            <a:tailEnd type="triangle" w="med" len="med"/>
          </a:ln>
        </p:spPr>
      </p:sp>
      <p:sp>
        <p:nvSpPr>
          <p:cNvPr id="335" name="Google Shape;335;p41"/>
          <p:cNvSpPr txBox="1"/>
          <p:nvPr/>
        </p:nvSpPr>
        <p:spPr>
          <a:xfrm>
            <a:off x="4188375" y="943050"/>
            <a:ext cx="1747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Lato"/>
                <a:ea typeface="Lato"/>
                <a:cs typeface="Lato"/>
                <a:sym typeface="Lato"/>
              </a:rPr>
              <a:t>We need control signals (2)</a:t>
            </a:r>
            <a:endParaRPr sz="1000">
              <a:latin typeface="Lato"/>
              <a:ea typeface="Lato"/>
              <a:cs typeface="Lato"/>
              <a:sym typeface="Lato"/>
            </a:endParaRPr>
          </a:p>
        </p:txBody>
      </p:sp>
      <p:sp>
        <p:nvSpPr>
          <p:cNvPr id="336" name="Google Shape;33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29</a:t>
            </a:fld>
            <a:endParaRPr/>
          </a:p>
        </p:txBody>
      </p:sp>
      <p:pic>
        <p:nvPicPr>
          <p:cNvPr id="337" name="Google Shape;337;p41"/>
          <p:cNvPicPr preferRelativeResize="0"/>
          <p:nvPr/>
        </p:nvPicPr>
        <p:blipFill>
          <a:blip r:embed="rId5">
            <a:alphaModFix/>
          </a:blip>
          <a:stretch>
            <a:fillRect/>
          </a:stretch>
        </p:blipFill>
        <p:spPr>
          <a:xfrm>
            <a:off x="152400" y="4221325"/>
            <a:ext cx="1638651" cy="712475"/>
          </a:xfrm>
          <a:prstGeom prst="rect">
            <a:avLst/>
          </a:prstGeom>
          <a:noFill/>
          <a:ln w="9525" cap="flat" cmpd="sng">
            <a:solidFill>
              <a:schemeClr val="lt1"/>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2"/>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Determine address of next instruction for PC</a:t>
            </a:r>
            <a:endParaRPr/>
          </a:p>
        </p:txBody>
      </p:sp>
      <p:pic>
        <p:nvPicPr>
          <p:cNvPr id="343" name="Google Shape;343;p42"/>
          <p:cNvPicPr preferRelativeResize="0"/>
          <p:nvPr/>
        </p:nvPicPr>
        <p:blipFill>
          <a:blip r:embed="rId3">
            <a:alphaModFix/>
          </a:blip>
          <a:stretch>
            <a:fillRect/>
          </a:stretch>
        </p:blipFill>
        <p:spPr>
          <a:xfrm>
            <a:off x="152400" y="1246250"/>
            <a:ext cx="8839201" cy="3599442"/>
          </a:xfrm>
          <a:prstGeom prst="rect">
            <a:avLst/>
          </a:prstGeom>
          <a:noFill/>
          <a:ln>
            <a:noFill/>
          </a:ln>
        </p:spPr>
      </p:pic>
      <p:sp>
        <p:nvSpPr>
          <p:cNvPr id="344" name="Google Shape;34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3"/>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Write data to memory for SW instruction</a:t>
            </a:r>
            <a:endParaRPr/>
          </a:p>
        </p:txBody>
      </p:sp>
      <p:pic>
        <p:nvPicPr>
          <p:cNvPr id="350" name="Google Shape;350;p43"/>
          <p:cNvPicPr preferRelativeResize="0"/>
          <p:nvPr/>
        </p:nvPicPr>
        <p:blipFill>
          <a:blip r:embed="rId3">
            <a:alphaModFix/>
          </a:blip>
          <a:stretch>
            <a:fillRect/>
          </a:stretch>
        </p:blipFill>
        <p:spPr>
          <a:xfrm>
            <a:off x="280713" y="1246250"/>
            <a:ext cx="8582577" cy="3744851"/>
          </a:xfrm>
          <a:prstGeom prst="rect">
            <a:avLst/>
          </a:prstGeom>
          <a:noFill/>
          <a:ln>
            <a:noFill/>
          </a:ln>
        </p:spPr>
      </p:pic>
      <p:sp>
        <p:nvSpPr>
          <p:cNvPr id="351" name="Google Shape;351;p43"/>
          <p:cNvSpPr/>
          <p:nvPr/>
        </p:nvSpPr>
        <p:spPr>
          <a:xfrm>
            <a:off x="2658425" y="2206150"/>
            <a:ext cx="435600" cy="2643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2" name="Google Shape;352;p43"/>
          <p:cNvPicPr preferRelativeResize="0"/>
          <p:nvPr/>
        </p:nvPicPr>
        <p:blipFill>
          <a:blip r:embed="rId4">
            <a:alphaModFix/>
          </a:blip>
          <a:stretch>
            <a:fillRect/>
          </a:stretch>
        </p:blipFill>
        <p:spPr>
          <a:xfrm>
            <a:off x="6326567" y="3904450"/>
            <a:ext cx="2766925" cy="1203000"/>
          </a:xfrm>
          <a:prstGeom prst="rect">
            <a:avLst/>
          </a:prstGeom>
          <a:noFill/>
          <a:ln w="9525" cap="flat" cmpd="sng">
            <a:solidFill>
              <a:schemeClr val="lt1"/>
            </a:solidFill>
            <a:prstDash val="solid"/>
            <a:round/>
            <a:headEnd type="none" w="sm" len="sm"/>
            <a:tailEnd type="none" w="sm" len="sm"/>
          </a:ln>
        </p:spPr>
      </p:pic>
      <p:sp>
        <p:nvSpPr>
          <p:cNvPr id="353" name="Google Shape;353;p43"/>
          <p:cNvSpPr/>
          <p:nvPr/>
        </p:nvSpPr>
        <p:spPr>
          <a:xfrm>
            <a:off x="7155175" y="4879200"/>
            <a:ext cx="783300" cy="2643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R-type commands</a:t>
            </a:r>
            <a:endParaRPr/>
          </a:p>
        </p:txBody>
      </p:sp>
      <p:pic>
        <p:nvPicPr>
          <p:cNvPr id="360" name="Google Shape;360;p44"/>
          <p:cNvPicPr preferRelativeResize="0"/>
          <p:nvPr/>
        </p:nvPicPr>
        <p:blipFill>
          <a:blip r:embed="rId3">
            <a:alphaModFix/>
          </a:blip>
          <a:stretch>
            <a:fillRect/>
          </a:stretch>
        </p:blipFill>
        <p:spPr>
          <a:xfrm>
            <a:off x="1903200" y="1231875"/>
            <a:ext cx="5337601" cy="1420750"/>
          </a:xfrm>
          <a:prstGeom prst="rect">
            <a:avLst/>
          </a:prstGeom>
          <a:noFill/>
          <a:ln>
            <a:noFill/>
          </a:ln>
        </p:spPr>
      </p:pic>
      <p:pic>
        <p:nvPicPr>
          <p:cNvPr id="361" name="Google Shape;361;p44"/>
          <p:cNvPicPr preferRelativeResize="0"/>
          <p:nvPr/>
        </p:nvPicPr>
        <p:blipFill>
          <a:blip r:embed="rId4">
            <a:alphaModFix/>
          </a:blip>
          <a:stretch>
            <a:fillRect/>
          </a:stretch>
        </p:blipFill>
        <p:spPr>
          <a:xfrm>
            <a:off x="152400" y="3221950"/>
            <a:ext cx="8839200" cy="1373484"/>
          </a:xfrm>
          <a:prstGeom prst="rect">
            <a:avLst/>
          </a:prstGeom>
          <a:noFill/>
          <a:ln>
            <a:noFill/>
          </a:ln>
        </p:spPr>
      </p:pic>
      <p:sp>
        <p:nvSpPr>
          <p:cNvPr id="362" name="Google Shape;362;p44"/>
          <p:cNvSpPr/>
          <p:nvPr/>
        </p:nvSpPr>
        <p:spPr>
          <a:xfrm>
            <a:off x="5850450" y="1356200"/>
            <a:ext cx="793550" cy="317425"/>
          </a:xfrm>
          <a:custGeom>
            <a:avLst/>
            <a:gdLst/>
            <a:ahLst/>
            <a:cxnLst/>
            <a:rect l="l" t="t" r="r" b="b"/>
            <a:pathLst>
              <a:path w="31742" h="12697" extrusionOk="0">
                <a:moveTo>
                  <a:pt x="31742" y="0"/>
                </a:moveTo>
                <a:cubicBezTo>
                  <a:pt x="27895" y="673"/>
                  <a:pt x="13947" y="1924"/>
                  <a:pt x="8657" y="4040"/>
                </a:cubicBezTo>
                <a:cubicBezTo>
                  <a:pt x="3367" y="6156"/>
                  <a:pt x="1443" y="11254"/>
                  <a:pt x="0" y="12697"/>
                </a:cubicBezTo>
              </a:path>
            </a:pathLst>
          </a:custGeom>
          <a:noFill/>
          <a:ln w="38100" cap="flat" cmpd="sng">
            <a:solidFill>
              <a:srgbClr val="00FDC8"/>
            </a:solidFill>
            <a:prstDash val="solid"/>
            <a:round/>
            <a:headEnd type="none" w="med" len="med"/>
            <a:tailEnd type="triangle" w="med" len="med"/>
          </a:ln>
        </p:spPr>
      </p:sp>
      <p:sp>
        <p:nvSpPr>
          <p:cNvPr id="363" name="Google Shape;363;p44"/>
          <p:cNvSpPr txBox="1"/>
          <p:nvPr/>
        </p:nvSpPr>
        <p:spPr>
          <a:xfrm>
            <a:off x="6560400" y="976475"/>
            <a:ext cx="2271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Lato"/>
                <a:ea typeface="Lato"/>
                <a:cs typeface="Lato"/>
                <a:sym typeface="Lato"/>
              </a:rPr>
              <a:t>Shift amount</a:t>
            </a:r>
            <a:br>
              <a:rPr lang="en" sz="1000">
                <a:latin typeface="Lato"/>
                <a:ea typeface="Lato"/>
                <a:cs typeface="Lato"/>
                <a:sym typeface="Lato"/>
              </a:rPr>
            </a:br>
            <a:r>
              <a:rPr lang="en" sz="1000">
                <a:latin typeface="Lato"/>
                <a:ea typeface="Lato"/>
                <a:cs typeface="Lato"/>
                <a:sym typeface="Lato"/>
              </a:rPr>
              <a:t>Not used in R-types commands</a:t>
            </a:r>
            <a:endParaRPr sz="1000">
              <a:latin typeface="Lato"/>
              <a:ea typeface="Lato"/>
              <a:cs typeface="Lato"/>
              <a:sym typeface="Lato"/>
            </a:endParaRPr>
          </a:p>
        </p:txBody>
      </p:sp>
      <p:sp>
        <p:nvSpPr>
          <p:cNvPr id="364" name="Google Shape;364;p44"/>
          <p:cNvSpPr/>
          <p:nvPr/>
        </p:nvSpPr>
        <p:spPr>
          <a:xfrm>
            <a:off x="7173125" y="2005475"/>
            <a:ext cx="668375" cy="173125"/>
          </a:xfrm>
          <a:custGeom>
            <a:avLst/>
            <a:gdLst/>
            <a:ahLst/>
            <a:cxnLst/>
            <a:rect l="l" t="t" r="r" b="b"/>
            <a:pathLst>
              <a:path w="26735" h="6925" extrusionOk="0">
                <a:moveTo>
                  <a:pt x="26735" y="6925"/>
                </a:moveTo>
                <a:cubicBezTo>
                  <a:pt x="24233" y="6153"/>
                  <a:pt x="16180" y="3449"/>
                  <a:pt x="11724" y="2295"/>
                </a:cubicBezTo>
                <a:cubicBezTo>
                  <a:pt x="7268" y="1141"/>
                  <a:pt x="1954" y="383"/>
                  <a:pt x="0" y="0"/>
                </a:cubicBezTo>
              </a:path>
            </a:pathLst>
          </a:custGeom>
          <a:noFill/>
          <a:ln w="38100" cap="flat" cmpd="sng">
            <a:solidFill>
              <a:srgbClr val="00FDC8"/>
            </a:solidFill>
            <a:prstDash val="solid"/>
            <a:round/>
            <a:headEnd type="none" w="med" len="med"/>
            <a:tailEnd type="triangle" w="med" len="med"/>
          </a:ln>
        </p:spPr>
      </p:sp>
      <p:sp>
        <p:nvSpPr>
          <p:cNvPr id="365" name="Google Shape;365;p44"/>
          <p:cNvSpPr txBox="1"/>
          <p:nvPr/>
        </p:nvSpPr>
        <p:spPr>
          <a:xfrm>
            <a:off x="7665050" y="2106475"/>
            <a:ext cx="9051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Lato"/>
                <a:ea typeface="Lato"/>
                <a:cs typeface="Lato"/>
                <a:sym typeface="Lato"/>
              </a:rPr>
              <a:t>For ALU</a:t>
            </a:r>
            <a:endParaRPr sz="1000">
              <a:latin typeface="Lato"/>
              <a:ea typeface="Lato"/>
              <a:cs typeface="Lato"/>
              <a:sym typeface="Lato"/>
            </a:endParaRPr>
          </a:p>
        </p:txBody>
      </p:sp>
      <p:sp>
        <p:nvSpPr>
          <p:cNvPr id="366" name="Google Shape;366;p44"/>
          <p:cNvSpPr/>
          <p:nvPr/>
        </p:nvSpPr>
        <p:spPr>
          <a:xfrm>
            <a:off x="1370650" y="2083500"/>
            <a:ext cx="604700" cy="148800"/>
          </a:xfrm>
          <a:custGeom>
            <a:avLst/>
            <a:gdLst/>
            <a:ahLst/>
            <a:cxnLst/>
            <a:rect l="l" t="t" r="r" b="b"/>
            <a:pathLst>
              <a:path w="24188" h="5952" extrusionOk="0">
                <a:moveTo>
                  <a:pt x="0" y="5952"/>
                </a:moveTo>
                <a:cubicBezTo>
                  <a:pt x="2054" y="5189"/>
                  <a:pt x="8290" y="2364"/>
                  <a:pt x="12321" y="1372"/>
                </a:cubicBezTo>
                <a:cubicBezTo>
                  <a:pt x="16352" y="380"/>
                  <a:pt x="22210" y="229"/>
                  <a:pt x="24188" y="0"/>
                </a:cubicBezTo>
              </a:path>
            </a:pathLst>
          </a:custGeom>
          <a:noFill/>
          <a:ln w="38100" cap="flat" cmpd="sng">
            <a:solidFill>
              <a:srgbClr val="00FDC8"/>
            </a:solidFill>
            <a:prstDash val="solid"/>
            <a:round/>
            <a:headEnd type="none" w="med" len="med"/>
            <a:tailEnd type="triangle" w="med" len="med"/>
          </a:ln>
        </p:spPr>
      </p:sp>
      <p:sp>
        <p:nvSpPr>
          <p:cNvPr id="367" name="Google Shape;367;p44"/>
          <p:cNvSpPr txBox="1"/>
          <p:nvPr/>
        </p:nvSpPr>
        <p:spPr>
          <a:xfrm>
            <a:off x="803625" y="2156975"/>
            <a:ext cx="9051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Lato"/>
                <a:ea typeface="Lato"/>
                <a:cs typeface="Lato"/>
                <a:sym typeface="Lato"/>
              </a:rPr>
              <a:t>0 for R-type</a:t>
            </a:r>
            <a:endParaRPr sz="1000">
              <a:latin typeface="Lato"/>
              <a:ea typeface="Lato"/>
              <a:cs typeface="Lato"/>
              <a:sym typeface="Lato"/>
            </a:endParaRPr>
          </a:p>
        </p:txBody>
      </p:sp>
      <p:sp>
        <p:nvSpPr>
          <p:cNvPr id="368" name="Google Shape;368;p44"/>
          <p:cNvSpPr txBox="1"/>
          <p:nvPr/>
        </p:nvSpPr>
        <p:spPr>
          <a:xfrm>
            <a:off x="6812525" y="1988550"/>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0</a:t>
            </a:r>
            <a:endParaRPr sz="1000">
              <a:solidFill>
                <a:srgbClr val="FF9900"/>
              </a:solidFill>
              <a:latin typeface="Lato"/>
              <a:ea typeface="Lato"/>
              <a:cs typeface="Lato"/>
              <a:sym typeface="Lato"/>
            </a:endParaRPr>
          </a:p>
        </p:txBody>
      </p:sp>
      <p:sp>
        <p:nvSpPr>
          <p:cNvPr id="369" name="Google Shape;369;p44"/>
          <p:cNvSpPr txBox="1"/>
          <p:nvPr/>
        </p:nvSpPr>
        <p:spPr>
          <a:xfrm>
            <a:off x="5761450" y="1988550"/>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6</a:t>
            </a:r>
            <a:endParaRPr sz="1000">
              <a:solidFill>
                <a:srgbClr val="FF9900"/>
              </a:solidFill>
              <a:latin typeface="Lato"/>
              <a:ea typeface="Lato"/>
              <a:cs typeface="Lato"/>
              <a:sym typeface="Lato"/>
            </a:endParaRPr>
          </a:p>
        </p:txBody>
      </p:sp>
      <p:sp>
        <p:nvSpPr>
          <p:cNvPr id="370" name="Google Shape;370;p44"/>
          <p:cNvSpPr txBox="1"/>
          <p:nvPr/>
        </p:nvSpPr>
        <p:spPr>
          <a:xfrm>
            <a:off x="4880425" y="1988550"/>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11</a:t>
            </a:r>
            <a:endParaRPr sz="1000">
              <a:solidFill>
                <a:srgbClr val="FF9900"/>
              </a:solidFill>
              <a:latin typeface="Lato"/>
              <a:ea typeface="Lato"/>
              <a:cs typeface="Lato"/>
              <a:sym typeface="Lato"/>
            </a:endParaRPr>
          </a:p>
        </p:txBody>
      </p:sp>
      <p:sp>
        <p:nvSpPr>
          <p:cNvPr id="371" name="Google Shape;371;p44"/>
          <p:cNvSpPr txBox="1"/>
          <p:nvPr/>
        </p:nvSpPr>
        <p:spPr>
          <a:xfrm>
            <a:off x="3448575" y="1988538"/>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21</a:t>
            </a:r>
            <a:endParaRPr sz="1000">
              <a:solidFill>
                <a:srgbClr val="FF9900"/>
              </a:solidFill>
              <a:latin typeface="Lato"/>
              <a:ea typeface="Lato"/>
              <a:cs typeface="Lato"/>
              <a:sym typeface="Lato"/>
            </a:endParaRPr>
          </a:p>
        </p:txBody>
      </p:sp>
      <p:sp>
        <p:nvSpPr>
          <p:cNvPr id="372" name="Google Shape;372;p44"/>
          <p:cNvSpPr txBox="1"/>
          <p:nvPr/>
        </p:nvSpPr>
        <p:spPr>
          <a:xfrm>
            <a:off x="4154150" y="1988550"/>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16</a:t>
            </a:r>
            <a:endParaRPr sz="1000">
              <a:solidFill>
                <a:srgbClr val="FF9900"/>
              </a:solidFill>
              <a:latin typeface="Lato"/>
              <a:ea typeface="Lato"/>
              <a:cs typeface="Lato"/>
              <a:sym typeface="Lato"/>
            </a:endParaRPr>
          </a:p>
        </p:txBody>
      </p:sp>
      <p:sp>
        <p:nvSpPr>
          <p:cNvPr id="373" name="Google Shape;373;p44"/>
          <p:cNvSpPr txBox="1"/>
          <p:nvPr/>
        </p:nvSpPr>
        <p:spPr>
          <a:xfrm>
            <a:off x="2673275" y="1988538"/>
            <a:ext cx="516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Lato"/>
                <a:ea typeface="Lato"/>
                <a:cs typeface="Lato"/>
                <a:sym typeface="Lato"/>
              </a:rPr>
              <a:t>26</a:t>
            </a:r>
            <a:endParaRPr sz="1000">
              <a:solidFill>
                <a:srgbClr val="FF9900"/>
              </a:solidFill>
              <a:latin typeface="Lato"/>
              <a:ea typeface="Lato"/>
              <a:cs typeface="Lato"/>
              <a:sym typeface="Lato"/>
            </a:endParaRPr>
          </a:p>
        </p:txBody>
      </p:sp>
      <p:sp>
        <p:nvSpPr>
          <p:cNvPr id="374" name="Google Shape;374;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Datapath enhancements for R-type instruction</a:t>
            </a:r>
            <a:endParaRPr/>
          </a:p>
        </p:txBody>
      </p:sp>
      <p:pic>
        <p:nvPicPr>
          <p:cNvPr id="380" name="Google Shape;380;p45"/>
          <p:cNvPicPr preferRelativeResize="0"/>
          <p:nvPr/>
        </p:nvPicPr>
        <p:blipFill>
          <a:blip r:embed="rId3">
            <a:alphaModFix/>
          </a:blip>
          <a:stretch>
            <a:fillRect/>
          </a:stretch>
        </p:blipFill>
        <p:spPr>
          <a:xfrm>
            <a:off x="152400" y="1246250"/>
            <a:ext cx="8839199" cy="3591624"/>
          </a:xfrm>
          <a:prstGeom prst="rect">
            <a:avLst/>
          </a:prstGeom>
          <a:noFill/>
          <a:ln>
            <a:noFill/>
          </a:ln>
        </p:spPr>
      </p:pic>
      <p:sp>
        <p:nvSpPr>
          <p:cNvPr id="381" name="Google Shape;381;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Datapath enhancements for beq instruction</a:t>
            </a:r>
            <a:endParaRPr/>
          </a:p>
        </p:txBody>
      </p:sp>
      <p:pic>
        <p:nvPicPr>
          <p:cNvPr id="387" name="Google Shape;387;p46"/>
          <p:cNvPicPr preferRelativeResize="0"/>
          <p:nvPr/>
        </p:nvPicPr>
        <p:blipFill>
          <a:blip r:embed="rId3">
            <a:alphaModFix/>
          </a:blip>
          <a:stretch>
            <a:fillRect/>
          </a:stretch>
        </p:blipFill>
        <p:spPr>
          <a:xfrm>
            <a:off x="152400" y="1246250"/>
            <a:ext cx="8770545" cy="3744849"/>
          </a:xfrm>
          <a:prstGeom prst="rect">
            <a:avLst/>
          </a:prstGeom>
          <a:noFill/>
          <a:ln>
            <a:noFill/>
          </a:ln>
        </p:spPr>
      </p:pic>
      <p:sp>
        <p:nvSpPr>
          <p:cNvPr id="388" name="Google Shape;388;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We need control signals!</a:t>
            </a:r>
            <a:endParaRPr/>
          </a:p>
        </p:txBody>
      </p:sp>
      <p:pic>
        <p:nvPicPr>
          <p:cNvPr id="394" name="Google Shape;394;p47"/>
          <p:cNvPicPr preferRelativeResize="0"/>
          <p:nvPr/>
        </p:nvPicPr>
        <p:blipFill>
          <a:blip r:embed="rId3">
            <a:alphaModFix/>
          </a:blip>
          <a:stretch>
            <a:fillRect/>
          </a:stretch>
        </p:blipFill>
        <p:spPr>
          <a:xfrm>
            <a:off x="152400" y="1246250"/>
            <a:ext cx="8770545" cy="3744849"/>
          </a:xfrm>
          <a:prstGeom prst="rect">
            <a:avLst/>
          </a:prstGeom>
          <a:noFill/>
          <a:ln>
            <a:noFill/>
          </a:ln>
        </p:spPr>
      </p:pic>
      <p:sp>
        <p:nvSpPr>
          <p:cNvPr id="395" name="Google Shape;395;p47"/>
          <p:cNvSpPr/>
          <p:nvPr/>
        </p:nvSpPr>
        <p:spPr>
          <a:xfrm>
            <a:off x="3255825" y="1427950"/>
            <a:ext cx="5741700" cy="3426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Control unit internal structure</a:t>
            </a:r>
            <a:endParaRPr/>
          </a:p>
        </p:txBody>
      </p:sp>
      <p:pic>
        <p:nvPicPr>
          <p:cNvPr id="402" name="Google Shape;402;p48"/>
          <p:cNvPicPr preferRelativeResize="0"/>
          <p:nvPr/>
        </p:nvPicPr>
        <p:blipFill>
          <a:blip r:embed="rId3">
            <a:alphaModFix/>
          </a:blip>
          <a:stretch>
            <a:fillRect/>
          </a:stretch>
        </p:blipFill>
        <p:spPr>
          <a:xfrm>
            <a:off x="735225" y="1450275"/>
            <a:ext cx="3118825" cy="3205126"/>
          </a:xfrm>
          <a:prstGeom prst="rect">
            <a:avLst/>
          </a:prstGeom>
          <a:noFill/>
          <a:ln>
            <a:noFill/>
          </a:ln>
        </p:spPr>
      </p:pic>
      <p:pic>
        <p:nvPicPr>
          <p:cNvPr id="403" name="Google Shape;403;p48"/>
          <p:cNvPicPr preferRelativeResize="0"/>
          <p:nvPr/>
        </p:nvPicPr>
        <p:blipFill>
          <a:blip r:embed="rId4">
            <a:alphaModFix/>
          </a:blip>
          <a:stretch>
            <a:fillRect/>
          </a:stretch>
        </p:blipFill>
        <p:spPr>
          <a:xfrm>
            <a:off x="5186675" y="1204063"/>
            <a:ext cx="2659726" cy="1366700"/>
          </a:xfrm>
          <a:prstGeom prst="rect">
            <a:avLst/>
          </a:prstGeom>
          <a:noFill/>
          <a:ln>
            <a:noFill/>
          </a:ln>
        </p:spPr>
      </p:pic>
      <p:pic>
        <p:nvPicPr>
          <p:cNvPr id="404" name="Google Shape;404;p48"/>
          <p:cNvPicPr preferRelativeResize="0"/>
          <p:nvPr/>
        </p:nvPicPr>
        <p:blipFill>
          <a:blip r:embed="rId5">
            <a:alphaModFix/>
          </a:blip>
          <a:stretch>
            <a:fillRect/>
          </a:stretch>
        </p:blipFill>
        <p:spPr>
          <a:xfrm>
            <a:off x="5135675" y="2680979"/>
            <a:ext cx="2659726" cy="2462522"/>
          </a:xfrm>
          <a:prstGeom prst="rect">
            <a:avLst/>
          </a:prstGeom>
          <a:noFill/>
          <a:ln>
            <a:noFill/>
          </a:ln>
        </p:spPr>
      </p:pic>
      <p:sp>
        <p:nvSpPr>
          <p:cNvPr id="405" name="Google Shape;405;p48"/>
          <p:cNvSpPr/>
          <p:nvPr/>
        </p:nvSpPr>
        <p:spPr>
          <a:xfrm>
            <a:off x="3861275" y="3832125"/>
            <a:ext cx="1296800" cy="232050"/>
          </a:xfrm>
          <a:custGeom>
            <a:avLst/>
            <a:gdLst/>
            <a:ahLst/>
            <a:cxnLst/>
            <a:rect l="l" t="t" r="r" b="b"/>
            <a:pathLst>
              <a:path w="51872" h="9282" extrusionOk="0">
                <a:moveTo>
                  <a:pt x="51872" y="0"/>
                </a:moveTo>
                <a:cubicBezTo>
                  <a:pt x="48181" y="1409"/>
                  <a:pt x="38369" y="6945"/>
                  <a:pt x="29724" y="8451"/>
                </a:cubicBezTo>
                <a:cubicBezTo>
                  <a:pt x="21079" y="9957"/>
                  <a:pt x="4954" y="8937"/>
                  <a:pt x="0" y="9034"/>
                </a:cubicBezTo>
              </a:path>
            </a:pathLst>
          </a:custGeom>
          <a:noFill/>
          <a:ln w="38100" cap="flat" cmpd="sng">
            <a:solidFill>
              <a:srgbClr val="00FDC8"/>
            </a:solidFill>
            <a:prstDash val="solid"/>
            <a:round/>
            <a:headEnd type="none" w="med" len="med"/>
            <a:tailEnd type="triangle" w="med" len="med"/>
          </a:ln>
        </p:spPr>
      </p:sp>
      <p:sp>
        <p:nvSpPr>
          <p:cNvPr id="406" name="Google Shape;406;p48"/>
          <p:cNvSpPr/>
          <p:nvPr/>
        </p:nvSpPr>
        <p:spPr>
          <a:xfrm>
            <a:off x="3067150" y="2018050"/>
            <a:ext cx="1945225" cy="1416650"/>
          </a:xfrm>
          <a:custGeom>
            <a:avLst/>
            <a:gdLst/>
            <a:ahLst/>
            <a:cxnLst/>
            <a:rect l="l" t="t" r="r" b="b"/>
            <a:pathLst>
              <a:path w="77809" h="56666" extrusionOk="0">
                <a:moveTo>
                  <a:pt x="77809" y="0"/>
                </a:moveTo>
                <a:cubicBezTo>
                  <a:pt x="68775" y="8403"/>
                  <a:pt x="36573" y="40993"/>
                  <a:pt x="23605" y="50415"/>
                </a:cubicBezTo>
                <a:cubicBezTo>
                  <a:pt x="10637" y="59838"/>
                  <a:pt x="3934" y="55515"/>
                  <a:pt x="0" y="56535"/>
                </a:cubicBezTo>
              </a:path>
            </a:pathLst>
          </a:custGeom>
          <a:noFill/>
          <a:ln w="38100" cap="flat" cmpd="sng">
            <a:solidFill>
              <a:srgbClr val="00FDC8"/>
            </a:solidFill>
            <a:prstDash val="solid"/>
            <a:round/>
            <a:headEnd type="none" w="med" len="med"/>
            <a:tailEnd type="triangle" w="med" len="med"/>
          </a:ln>
        </p:spPr>
      </p:sp>
      <p:sp>
        <p:nvSpPr>
          <p:cNvPr id="407" name="Google Shape;407;p48"/>
          <p:cNvSpPr/>
          <p:nvPr/>
        </p:nvSpPr>
        <p:spPr>
          <a:xfrm>
            <a:off x="6301875" y="1974325"/>
            <a:ext cx="1821300" cy="298800"/>
          </a:xfrm>
          <a:prstGeom prst="roundRect">
            <a:avLst>
              <a:gd name="adj" fmla="val 16667"/>
            </a:avLst>
          </a:prstGeom>
          <a:solidFill>
            <a:srgbClr val="00FFCA">
              <a:alpha val="9520"/>
            </a:srgbClr>
          </a:solid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highlight>
                  <a:schemeClr val="dk1"/>
                </a:highlight>
              </a:rPr>
              <a:t>!!!</a:t>
            </a:r>
            <a:endParaRPr>
              <a:highlight>
                <a:schemeClr val="dk1"/>
              </a:highlight>
            </a:endParaRPr>
          </a:p>
        </p:txBody>
      </p:sp>
      <p:sp>
        <p:nvSpPr>
          <p:cNvPr id="408" name="Google Shape;408;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9"/>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ALU decoder truth table</a:t>
            </a:r>
            <a:endParaRPr/>
          </a:p>
        </p:txBody>
      </p:sp>
      <p:pic>
        <p:nvPicPr>
          <p:cNvPr id="414" name="Google Shape;414;p49"/>
          <p:cNvPicPr preferRelativeResize="0"/>
          <p:nvPr/>
        </p:nvPicPr>
        <p:blipFill>
          <a:blip r:embed="rId3">
            <a:alphaModFix/>
          </a:blip>
          <a:stretch>
            <a:fillRect/>
          </a:stretch>
        </p:blipFill>
        <p:spPr>
          <a:xfrm>
            <a:off x="1341186" y="1361275"/>
            <a:ext cx="6461625" cy="3360324"/>
          </a:xfrm>
          <a:prstGeom prst="rect">
            <a:avLst/>
          </a:prstGeom>
          <a:noFill/>
          <a:ln>
            <a:noFill/>
          </a:ln>
        </p:spPr>
      </p:pic>
      <p:sp>
        <p:nvSpPr>
          <p:cNvPr id="415" name="Google Shape;415;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Complete single-cycle MIPS processor</a:t>
            </a:r>
            <a:endParaRPr/>
          </a:p>
        </p:txBody>
      </p:sp>
      <p:pic>
        <p:nvPicPr>
          <p:cNvPr id="421" name="Google Shape;421;p50"/>
          <p:cNvPicPr preferRelativeResize="0"/>
          <p:nvPr/>
        </p:nvPicPr>
        <p:blipFill>
          <a:blip r:embed="rId3">
            <a:alphaModFix/>
          </a:blip>
          <a:stretch>
            <a:fillRect/>
          </a:stretch>
        </p:blipFill>
        <p:spPr>
          <a:xfrm>
            <a:off x="791863" y="1093850"/>
            <a:ext cx="7560280" cy="4049650"/>
          </a:xfrm>
          <a:prstGeom prst="rect">
            <a:avLst/>
          </a:prstGeom>
          <a:noFill/>
          <a:ln>
            <a:noFill/>
          </a:ln>
        </p:spPr>
      </p:pic>
      <p:sp>
        <p:nvSpPr>
          <p:cNvPr id="422" name="Google Shape;422;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5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Main decoder truth table</a:t>
            </a:r>
            <a:endParaRPr/>
          </a:p>
        </p:txBody>
      </p:sp>
      <p:pic>
        <p:nvPicPr>
          <p:cNvPr id="428" name="Google Shape;428;p51"/>
          <p:cNvPicPr preferRelativeResize="0"/>
          <p:nvPr/>
        </p:nvPicPr>
        <p:blipFill>
          <a:blip r:embed="rId3">
            <a:alphaModFix/>
          </a:blip>
          <a:stretch>
            <a:fillRect/>
          </a:stretch>
        </p:blipFill>
        <p:spPr>
          <a:xfrm>
            <a:off x="152400" y="1815675"/>
            <a:ext cx="8839199" cy="2200043"/>
          </a:xfrm>
          <a:prstGeom prst="rect">
            <a:avLst/>
          </a:prstGeom>
          <a:noFill/>
          <a:ln>
            <a:noFill/>
          </a:ln>
        </p:spPr>
      </p:pic>
      <p:sp>
        <p:nvSpPr>
          <p:cNvPr id="429" name="Google Shape;429;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2"/>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Executing or instruction</a:t>
            </a:r>
            <a:endParaRPr/>
          </a:p>
        </p:txBody>
      </p:sp>
      <p:pic>
        <p:nvPicPr>
          <p:cNvPr id="435" name="Google Shape;435;p52"/>
          <p:cNvPicPr preferRelativeResize="0"/>
          <p:nvPr/>
        </p:nvPicPr>
        <p:blipFill>
          <a:blip r:embed="rId3">
            <a:alphaModFix/>
          </a:blip>
          <a:stretch>
            <a:fillRect/>
          </a:stretch>
        </p:blipFill>
        <p:spPr>
          <a:xfrm>
            <a:off x="879675" y="1093850"/>
            <a:ext cx="7384661" cy="4049650"/>
          </a:xfrm>
          <a:prstGeom prst="rect">
            <a:avLst/>
          </a:prstGeom>
          <a:noFill/>
          <a:ln>
            <a:noFill/>
          </a:ln>
        </p:spPr>
      </p:pic>
      <p:pic>
        <p:nvPicPr>
          <p:cNvPr id="436" name="Google Shape;436;p52"/>
          <p:cNvPicPr preferRelativeResize="0"/>
          <p:nvPr/>
        </p:nvPicPr>
        <p:blipFill>
          <a:blip r:embed="rId4">
            <a:alphaModFix/>
          </a:blip>
          <a:stretch>
            <a:fillRect/>
          </a:stretch>
        </p:blipFill>
        <p:spPr>
          <a:xfrm>
            <a:off x="5839315" y="168675"/>
            <a:ext cx="3304684" cy="801000"/>
          </a:xfrm>
          <a:prstGeom prst="rect">
            <a:avLst/>
          </a:prstGeom>
          <a:noFill/>
          <a:ln w="9525" cap="flat" cmpd="sng">
            <a:solidFill>
              <a:srgbClr val="00FDC8"/>
            </a:solidFill>
            <a:prstDash val="solid"/>
            <a:round/>
            <a:headEnd type="none" w="sm" len="sm"/>
            <a:tailEnd type="none" w="sm" len="sm"/>
          </a:ln>
        </p:spPr>
      </p:pic>
      <p:sp>
        <p:nvSpPr>
          <p:cNvPr id="437" name="Google Shape;437;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53"/>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Datapath enhanced to support the J instruction</a:t>
            </a:r>
            <a:endParaRPr/>
          </a:p>
        </p:txBody>
      </p:sp>
      <p:pic>
        <p:nvPicPr>
          <p:cNvPr id="443" name="Google Shape;443;p53"/>
          <p:cNvPicPr preferRelativeResize="0"/>
          <p:nvPr/>
        </p:nvPicPr>
        <p:blipFill>
          <a:blip r:embed="rId3">
            <a:alphaModFix/>
          </a:blip>
          <a:stretch>
            <a:fillRect/>
          </a:stretch>
        </p:blipFill>
        <p:spPr>
          <a:xfrm>
            <a:off x="840425" y="897800"/>
            <a:ext cx="7377526" cy="4198649"/>
          </a:xfrm>
          <a:prstGeom prst="rect">
            <a:avLst/>
          </a:prstGeom>
          <a:noFill/>
          <a:ln>
            <a:noFill/>
          </a:ln>
        </p:spPr>
      </p:pic>
      <p:pic>
        <p:nvPicPr>
          <p:cNvPr id="444" name="Google Shape;444;p53"/>
          <p:cNvPicPr preferRelativeResize="0"/>
          <p:nvPr/>
        </p:nvPicPr>
        <p:blipFill>
          <a:blip r:embed="rId4">
            <a:alphaModFix/>
          </a:blip>
          <a:stretch>
            <a:fillRect/>
          </a:stretch>
        </p:blipFill>
        <p:spPr>
          <a:xfrm>
            <a:off x="6301875" y="4391300"/>
            <a:ext cx="2842124" cy="752200"/>
          </a:xfrm>
          <a:prstGeom prst="rect">
            <a:avLst/>
          </a:prstGeom>
          <a:noFill/>
          <a:ln w="9525" cap="flat" cmpd="sng">
            <a:solidFill>
              <a:schemeClr val="dk1"/>
            </a:solidFill>
            <a:prstDash val="solid"/>
            <a:round/>
            <a:headEnd type="none" w="sm" len="sm"/>
            <a:tailEnd type="none" w="sm" len="sm"/>
          </a:ln>
        </p:spPr>
      </p:pic>
      <p:sp>
        <p:nvSpPr>
          <p:cNvPr id="445" name="Google Shape;445;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4"/>
          <p:cNvSpPr txBox="1">
            <a:spLocks noGrp="1"/>
          </p:cNvSpPr>
          <p:nvPr>
            <p:ph type="title"/>
          </p:nvPr>
        </p:nvSpPr>
        <p:spPr>
          <a:xfrm>
            <a:off x="2802750" y="802500"/>
            <a:ext cx="3538500" cy="35385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Multicycle Datapath</a:t>
            </a:r>
            <a:endParaRPr/>
          </a:p>
          <a:p>
            <a:pPr marL="0" lvl="0" indent="0" algn="ctr" rtl="0">
              <a:spcBef>
                <a:spcPts val="0"/>
              </a:spcBef>
              <a:spcAft>
                <a:spcPts val="0"/>
              </a:spcAft>
              <a:buNone/>
            </a:pPr>
            <a:r>
              <a:rPr lang="en"/>
              <a:t>(LW first)</a:t>
            </a:r>
            <a:endParaRPr/>
          </a:p>
        </p:txBody>
      </p:sp>
      <p:sp>
        <p:nvSpPr>
          <p:cNvPr id="451" name="Google Shape;451;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State elements with unified instruction/data memory</a:t>
            </a:r>
            <a:endParaRPr/>
          </a:p>
        </p:txBody>
      </p:sp>
      <p:pic>
        <p:nvPicPr>
          <p:cNvPr id="457" name="Google Shape;457;p55"/>
          <p:cNvPicPr preferRelativeResize="0"/>
          <p:nvPr/>
        </p:nvPicPr>
        <p:blipFill>
          <a:blip r:embed="rId3">
            <a:alphaModFix/>
          </a:blip>
          <a:stretch>
            <a:fillRect/>
          </a:stretch>
        </p:blipFill>
        <p:spPr>
          <a:xfrm>
            <a:off x="590475" y="1552750"/>
            <a:ext cx="7963051" cy="2785700"/>
          </a:xfrm>
          <a:prstGeom prst="rect">
            <a:avLst/>
          </a:prstGeom>
          <a:noFill/>
          <a:ln>
            <a:noFill/>
          </a:ln>
        </p:spPr>
      </p:pic>
      <p:sp>
        <p:nvSpPr>
          <p:cNvPr id="458" name="Google Shape;458;p55"/>
          <p:cNvSpPr/>
          <p:nvPr/>
        </p:nvSpPr>
        <p:spPr>
          <a:xfrm rot="-8756189" flipH="1">
            <a:off x="3442923" y="4256734"/>
            <a:ext cx="793534" cy="317418"/>
          </a:xfrm>
          <a:custGeom>
            <a:avLst/>
            <a:gdLst/>
            <a:ahLst/>
            <a:cxnLst/>
            <a:rect l="l" t="t" r="r" b="b"/>
            <a:pathLst>
              <a:path w="31742" h="12697" extrusionOk="0">
                <a:moveTo>
                  <a:pt x="31742" y="0"/>
                </a:moveTo>
                <a:cubicBezTo>
                  <a:pt x="27895" y="673"/>
                  <a:pt x="13947" y="1924"/>
                  <a:pt x="8657" y="4040"/>
                </a:cubicBezTo>
                <a:cubicBezTo>
                  <a:pt x="3367" y="6156"/>
                  <a:pt x="1443" y="11254"/>
                  <a:pt x="0" y="12697"/>
                </a:cubicBezTo>
              </a:path>
            </a:pathLst>
          </a:custGeom>
          <a:noFill/>
          <a:ln w="38100" cap="flat" cmpd="sng">
            <a:solidFill>
              <a:srgbClr val="00FDC8"/>
            </a:solidFill>
            <a:prstDash val="solid"/>
            <a:round/>
            <a:headEnd type="none" w="med" len="med"/>
            <a:tailEnd type="triangle" w="med" len="med"/>
          </a:ln>
        </p:spPr>
      </p:sp>
      <p:sp>
        <p:nvSpPr>
          <p:cNvPr id="459" name="Google Shape;459;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5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Fetch instruction from memory</a:t>
            </a:r>
            <a:endParaRPr/>
          </a:p>
        </p:txBody>
      </p:sp>
      <p:pic>
        <p:nvPicPr>
          <p:cNvPr id="465" name="Google Shape;465;p56"/>
          <p:cNvPicPr preferRelativeResize="0"/>
          <p:nvPr/>
        </p:nvPicPr>
        <p:blipFill>
          <a:blip r:embed="rId3">
            <a:alphaModFix/>
          </a:blip>
          <a:stretch>
            <a:fillRect/>
          </a:stretch>
        </p:blipFill>
        <p:spPr>
          <a:xfrm>
            <a:off x="507525" y="1322450"/>
            <a:ext cx="8128949" cy="3291725"/>
          </a:xfrm>
          <a:prstGeom prst="rect">
            <a:avLst/>
          </a:prstGeom>
          <a:noFill/>
          <a:ln>
            <a:noFill/>
          </a:ln>
        </p:spPr>
      </p:pic>
      <p:sp>
        <p:nvSpPr>
          <p:cNvPr id="466" name="Google Shape;46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5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Read source operand from register file</a:t>
            </a:r>
            <a:endParaRPr/>
          </a:p>
        </p:txBody>
      </p:sp>
      <p:pic>
        <p:nvPicPr>
          <p:cNvPr id="472" name="Google Shape;472;p57"/>
          <p:cNvPicPr preferRelativeResize="0"/>
          <p:nvPr/>
        </p:nvPicPr>
        <p:blipFill>
          <a:blip r:embed="rId3">
            <a:alphaModFix/>
          </a:blip>
          <a:stretch>
            <a:fillRect/>
          </a:stretch>
        </p:blipFill>
        <p:spPr>
          <a:xfrm>
            <a:off x="152400" y="1246250"/>
            <a:ext cx="8839199" cy="3312260"/>
          </a:xfrm>
          <a:prstGeom prst="rect">
            <a:avLst/>
          </a:prstGeom>
          <a:noFill/>
          <a:ln>
            <a:noFill/>
          </a:ln>
        </p:spPr>
      </p:pic>
      <p:pic>
        <p:nvPicPr>
          <p:cNvPr id="473" name="Google Shape;473;p57"/>
          <p:cNvPicPr preferRelativeResize="0"/>
          <p:nvPr/>
        </p:nvPicPr>
        <p:blipFill>
          <a:blip r:embed="rId4">
            <a:alphaModFix/>
          </a:blip>
          <a:stretch>
            <a:fillRect/>
          </a:stretch>
        </p:blipFill>
        <p:spPr>
          <a:xfrm>
            <a:off x="6276067" y="153250"/>
            <a:ext cx="2766925" cy="1203000"/>
          </a:xfrm>
          <a:prstGeom prst="rect">
            <a:avLst/>
          </a:prstGeom>
          <a:noFill/>
          <a:ln w="9525" cap="flat" cmpd="sng">
            <a:solidFill>
              <a:srgbClr val="FFFFFF"/>
            </a:solidFill>
            <a:prstDash val="solid"/>
            <a:round/>
            <a:headEnd type="none" w="sm" len="sm"/>
            <a:tailEnd type="none" w="sm" len="sm"/>
          </a:ln>
        </p:spPr>
      </p:pic>
      <p:sp>
        <p:nvSpPr>
          <p:cNvPr id="474" name="Google Shape;474;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5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Sign-extend the immediate</a:t>
            </a:r>
            <a:endParaRPr/>
          </a:p>
        </p:txBody>
      </p:sp>
      <p:pic>
        <p:nvPicPr>
          <p:cNvPr id="480" name="Google Shape;480;p58"/>
          <p:cNvPicPr preferRelativeResize="0"/>
          <p:nvPr/>
        </p:nvPicPr>
        <p:blipFill>
          <a:blip r:embed="rId3">
            <a:alphaModFix/>
          </a:blip>
          <a:stretch>
            <a:fillRect/>
          </a:stretch>
        </p:blipFill>
        <p:spPr>
          <a:xfrm>
            <a:off x="885988" y="1202950"/>
            <a:ext cx="7372034" cy="3744850"/>
          </a:xfrm>
          <a:prstGeom prst="rect">
            <a:avLst/>
          </a:prstGeom>
          <a:noFill/>
          <a:ln>
            <a:noFill/>
          </a:ln>
        </p:spPr>
      </p:pic>
      <p:pic>
        <p:nvPicPr>
          <p:cNvPr id="481" name="Google Shape;481;p58"/>
          <p:cNvPicPr preferRelativeResize="0"/>
          <p:nvPr/>
        </p:nvPicPr>
        <p:blipFill>
          <a:blip r:embed="rId4">
            <a:alphaModFix/>
          </a:blip>
          <a:stretch>
            <a:fillRect/>
          </a:stretch>
        </p:blipFill>
        <p:spPr>
          <a:xfrm>
            <a:off x="6276067" y="153250"/>
            <a:ext cx="2766925" cy="1203000"/>
          </a:xfrm>
          <a:prstGeom prst="rect">
            <a:avLst/>
          </a:prstGeom>
          <a:noFill/>
          <a:ln w="9525" cap="flat" cmpd="sng">
            <a:solidFill>
              <a:srgbClr val="FFFFFF"/>
            </a:solidFill>
            <a:prstDash val="solid"/>
            <a:round/>
            <a:headEnd type="none" w="sm" len="sm"/>
            <a:tailEnd type="none" w="sm" len="sm"/>
          </a:ln>
        </p:spPr>
      </p:pic>
      <p:sp>
        <p:nvSpPr>
          <p:cNvPr id="482" name="Google Shape;482;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59"/>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Add base address to offset</a:t>
            </a:r>
            <a:endParaRPr/>
          </a:p>
        </p:txBody>
      </p:sp>
      <p:pic>
        <p:nvPicPr>
          <p:cNvPr id="488" name="Google Shape;488;p59"/>
          <p:cNvPicPr preferRelativeResize="0"/>
          <p:nvPr/>
        </p:nvPicPr>
        <p:blipFill>
          <a:blip r:embed="rId3">
            <a:alphaModFix/>
          </a:blip>
          <a:stretch>
            <a:fillRect/>
          </a:stretch>
        </p:blipFill>
        <p:spPr>
          <a:xfrm>
            <a:off x="152400" y="1398650"/>
            <a:ext cx="8839198" cy="2873262"/>
          </a:xfrm>
          <a:prstGeom prst="rect">
            <a:avLst/>
          </a:prstGeom>
          <a:noFill/>
          <a:ln>
            <a:noFill/>
          </a:ln>
        </p:spPr>
      </p:pic>
      <p:sp>
        <p:nvSpPr>
          <p:cNvPr id="489" name="Google Shape;489;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Load data from memory</a:t>
            </a:r>
            <a:endParaRPr/>
          </a:p>
        </p:txBody>
      </p:sp>
      <p:pic>
        <p:nvPicPr>
          <p:cNvPr id="495" name="Google Shape;495;p60"/>
          <p:cNvPicPr preferRelativeResize="0"/>
          <p:nvPr/>
        </p:nvPicPr>
        <p:blipFill>
          <a:blip r:embed="rId3">
            <a:alphaModFix/>
          </a:blip>
          <a:stretch>
            <a:fillRect/>
          </a:stretch>
        </p:blipFill>
        <p:spPr>
          <a:xfrm>
            <a:off x="152400" y="1606950"/>
            <a:ext cx="8839196" cy="2767612"/>
          </a:xfrm>
          <a:prstGeom prst="rect">
            <a:avLst/>
          </a:prstGeom>
          <a:noFill/>
          <a:ln>
            <a:noFill/>
          </a:ln>
        </p:spPr>
      </p:pic>
      <p:sp>
        <p:nvSpPr>
          <p:cNvPr id="496" name="Google Shape;496;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6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Write data back to register file</a:t>
            </a:r>
            <a:endParaRPr/>
          </a:p>
        </p:txBody>
      </p:sp>
      <p:pic>
        <p:nvPicPr>
          <p:cNvPr id="502" name="Google Shape;502;p61"/>
          <p:cNvPicPr preferRelativeResize="0"/>
          <p:nvPr/>
        </p:nvPicPr>
        <p:blipFill>
          <a:blip r:embed="rId3">
            <a:alphaModFix/>
          </a:blip>
          <a:stretch>
            <a:fillRect/>
          </a:stretch>
        </p:blipFill>
        <p:spPr>
          <a:xfrm>
            <a:off x="152400" y="1322450"/>
            <a:ext cx="8839197" cy="2976464"/>
          </a:xfrm>
          <a:prstGeom prst="rect">
            <a:avLst/>
          </a:prstGeom>
          <a:noFill/>
          <a:ln>
            <a:noFill/>
          </a:ln>
        </p:spPr>
      </p:pic>
      <p:pic>
        <p:nvPicPr>
          <p:cNvPr id="503" name="Google Shape;503;p61"/>
          <p:cNvPicPr preferRelativeResize="0"/>
          <p:nvPr/>
        </p:nvPicPr>
        <p:blipFill>
          <a:blip r:embed="rId4">
            <a:alphaModFix/>
          </a:blip>
          <a:stretch>
            <a:fillRect/>
          </a:stretch>
        </p:blipFill>
        <p:spPr>
          <a:xfrm>
            <a:off x="6276067" y="153250"/>
            <a:ext cx="2766925" cy="1203000"/>
          </a:xfrm>
          <a:prstGeom prst="rect">
            <a:avLst/>
          </a:prstGeom>
          <a:noFill/>
          <a:ln w="9525" cap="flat" cmpd="sng">
            <a:solidFill>
              <a:srgbClr val="FFFFFF"/>
            </a:solidFill>
            <a:prstDash val="solid"/>
            <a:round/>
            <a:headEnd type="none" w="sm" len="sm"/>
            <a:tailEnd type="none" w="sm" len="sm"/>
          </a:ln>
        </p:spPr>
      </p:pic>
      <p:sp>
        <p:nvSpPr>
          <p:cNvPr id="504" name="Google Shape;504;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62"/>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Increment PC by 4</a:t>
            </a:r>
            <a:endParaRPr/>
          </a:p>
        </p:txBody>
      </p:sp>
      <p:pic>
        <p:nvPicPr>
          <p:cNvPr id="510" name="Google Shape;510;p62"/>
          <p:cNvPicPr preferRelativeResize="0"/>
          <p:nvPr/>
        </p:nvPicPr>
        <p:blipFill>
          <a:blip r:embed="rId3">
            <a:alphaModFix/>
          </a:blip>
          <a:stretch>
            <a:fillRect/>
          </a:stretch>
        </p:blipFill>
        <p:spPr>
          <a:xfrm>
            <a:off x="152400" y="1246250"/>
            <a:ext cx="8839202" cy="3093721"/>
          </a:xfrm>
          <a:prstGeom prst="rect">
            <a:avLst/>
          </a:prstGeom>
          <a:noFill/>
          <a:ln>
            <a:noFill/>
          </a:ln>
        </p:spPr>
      </p:pic>
      <p:sp>
        <p:nvSpPr>
          <p:cNvPr id="511" name="Google Shape;511;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63"/>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Enhanced datapath for SW instruction</a:t>
            </a:r>
            <a:endParaRPr/>
          </a:p>
        </p:txBody>
      </p:sp>
      <p:pic>
        <p:nvPicPr>
          <p:cNvPr id="517" name="Google Shape;517;p63"/>
          <p:cNvPicPr preferRelativeResize="0"/>
          <p:nvPr/>
        </p:nvPicPr>
        <p:blipFill>
          <a:blip r:embed="rId3">
            <a:alphaModFix/>
          </a:blip>
          <a:stretch>
            <a:fillRect/>
          </a:stretch>
        </p:blipFill>
        <p:spPr>
          <a:xfrm>
            <a:off x="152400" y="1246250"/>
            <a:ext cx="8839198" cy="3081828"/>
          </a:xfrm>
          <a:prstGeom prst="rect">
            <a:avLst/>
          </a:prstGeom>
          <a:noFill/>
          <a:ln>
            <a:noFill/>
          </a:ln>
        </p:spPr>
      </p:pic>
      <p:pic>
        <p:nvPicPr>
          <p:cNvPr id="518" name="Google Shape;518;p63"/>
          <p:cNvPicPr preferRelativeResize="0"/>
          <p:nvPr/>
        </p:nvPicPr>
        <p:blipFill rotWithShape="1">
          <a:blip r:embed="rId4">
            <a:alphaModFix/>
          </a:blip>
          <a:srcRect b="9140"/>
          <a:stretch/>
        </p:blipFill>
        <p:spPr>
          <a:xfrm>
            <a:off x="6276075" y="77050"/>
            <a:ext cx="2766925" cy="1093000"/>
          </a:xfrm>
          <a:prstGeom prst="rect">
            <a:avLst/>
          </a:prstGeom>
          <a:noFill/>
          <a:ln w="9525" cap="flat" cmpd="sng">
            <a:solidFill>
              <a:srgbClr val="FFFFFF"/>
            </a:solidFill>
            <a:prstDash val="solid"/>
            <a:round/>
            <a:headEnd type="none" w="sm" len="sm"/>
            <a:tailEnd type="none" w="sm" len="sm"/>
          </a:ln>
        </p:spPr>
      </p:pic>
      <p:sp>
        <p:nvSpPr>
          <p:cNvPr id="519" name="Google Shape;519;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pic>
        <p:nvPicPr>
          <p:cNvPr id="524" name="Google Shape;524;p64"/>
          <p:cNvPicPr preferRelativeResize="0"/>
          <p:nvPr/>
        </p:nvPicPr>
        <p:blipFill>
          <a:blip r:embed="rId3">
            <a:alphaModFix/>
          </a:blip>
          <a:stretch>
            <a:fillRect/>
          </a:stretch>
        </p:blipFill>
        <p:spPr>
          <a:xfrm>
            <a:off x="5839315" y="683075"/>
            <a:ext cx="3304684" cy="801000"/>
          </a:xfrm>
          <a:prstGeom prst="rect">
            <a:avLst/>
          </a:prstGeom>
          <a:noFill/>
          <a:ln>
            <a:noFill/>
          </a:ln>
        </p:spPr>
      </p:pic>
      <p:sp>
        <p:nvSpPr>
          <p:cNvPr id="525" name="Google Shape;525;p6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Enhanced datapath for R-type instructions</a:t>
            </a:r>
            <a:endParaRPr/>
          </a:p>
        </p:txBody>
      </p:sp>
      <p:pic>
        <p:nvPicPr>
          <p:cNvPr id="526" name="Google Shape;526;p64"/>
          <p:cNvPicPr preferRelativeResize="0"/>
          <p:nvPr/>
        </p:nvPicPr>
        <p:blipFill>
          <a:blip r:embed="rId4">
            <a:alphaModFix/>
          </a:blip>
          <a:stretch>
            <a:fillRect/>
          </a:stretch>
        </p:blipFill>
        <p:spPr>
          <a:xfrm>
            <a:off x="152400" y="1636475"/>
            <a:ext cx="8839201" cy="3113687"/>
          </a:xfrm>
          <a:prstGeom prst="rect">
            <a:avLst/>
          </a:prstGeom>
          <a:noFill/>
          <a:ln>
            <a:noFill/>
          </a:ln>
        </p:spPr>
      </p:pic>
      <p:sp>
        <p:nvSpPr>
          <p:cNvPr id="527" name="Google Shape;527;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6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Enhanced datapath for beq instruction</a:t>
            </a:r>
            <a:endParaRPr/>
          </a:p>
        </p:txBody>
      </p:sp>
      <p:pic>
        <p:nvPicPr>
          <p:cNvPr id="533" name="Google Shape;533;p65"/>
          <p:cNvPicPr preferRelativeResize="0"/>
          <p:nvPr/>
        </p:nvPicPr>
        <p:blipFill>
          <a:blip r:embed="rId3">
            <a:alphaModFix/>
          </a:blip>
          <a:stretch>
            <a:fillRect/>
          </a:stretch>
        </p:blipFill>
        <p:spPr>
          <a:xfrm>
            <a:off x="152400" y="1246250"/>
            <a:ext cx="8839201" cy="3332902"/>
          </a:xfrm>
          <a:prstGeom prst="rect">
            <a:avLst/>
          </a:prstGeom>
          <a:noFill/>
          <a:ln>
            <a:noFill/>
          </a:ln>
        </p:spPr>
      </p:pic>
      <p:sp>
        <p:nvSpPr>
          <p:cNvPr id="534" name="Google Shape;534;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6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Complete multicycle MIPS processor</a:t>
            </a:r>
            <a:endParaRPr/>
          </a:p>
        </p:txBody>
      </p:sp>
      <p:pic>
        <p:nvPicPr>
          <p:cNvPr id="540" name="Google Shape;540;p66"/>
          <p:cNvPicPr preferRelativeResize="0"/>
          <p:nvPr/>
        </p:nvPicPr>
        <p:blipFill>
          <a:blip r:embed="rId3">
            <a:alphaModFix/>
          </a:blip>
          <a:stretch>
            <a:fillRect/>
          </a:stretch>
        </p:blipFill>
        <p:spPr>
          <a:xfrm>
            <a:off x="661926" y="979550"/>
            <a:ext cx="7823169" cy="4049649"/>
          </a:xfrm>
          <a:prstGeom prst="rect">
            <a:avLst/>
          </a:prstGeom>
          <a:noFill/>
          <a:ln>
            <a:noFill/>
          </a:ln>
        </p:spPr>
      </p:pic>
      <p:sp>
        <p:nvSpPr>
          <p:cNvPr id="541" name="Google Shape;541;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Control unit structure</a:t>
            </a:r>
            <a:endParaRPr/>
          </a:p>
        </p:txBody>
      </p:sp>
      <p:pic>
        <p:nvPicPr>
          <p:cNvPr id="547" name="Google Shape;547;p67"/>
          <p:cNvPicPr preferRelativeResize="0"/>
          <p:nvPr/>
        </p:nvPicPr>
        <p:blipFill>
          <a:blip r:embed="rId3">
            <a:alphaModFix/>
          </a:blip>
          <a:stretch>
            <a:fillRect/>
          </a:stretch>
        </p:blipFill>
        <p:spPr>
          <a:xfrm>
            <a:off x="302650" y="1246250"/>
            <a:ext cx="3814305" cy="3744849"/>
          </a:xfrm>
          <a:prstGeom prst="rect">
            <a:avLst/>
          </a:prstGeom>
          <a:noFill/>
          <a:ln>
            <a:noFill/>
          </a:ln>
        </p:spPr>
      </p:pic>
      <p:sp>
        <p:nvSpPr>
          <p:cNvPr id="548" name="Google Shape;548;p67"/>
          <p:cNvSpPr/>
          <p:nvPr/>
        </p:nvSpPr>
        <p:spPr>
          <a:xfrm>
            <a:off x="4054150" y="1839025"/>
            <a:ext cx="1296800" cy="232050"/>
          </a:xfrm>
          <a:custGeom>
            <a:avLst/>
            <a:gdLst/>
            <a:ahLst/>
            <a:cxnLst/>
            <a:rect l="l" t="t" r="r" b="b"/>
            <a:pathLst>
              <a:path w="51872" h="9282" extrusionOk="0">
                <a:moveTo>
                  <a:pt x="51872" y="0"/>
                </a:moveTo>
                <a:cubicBezTo>
                  <a:pt x="48181" y="1409"/>
                  <a:pt x="38369" y="6945"/>
                  <a:pt x="29724" y="8451"/>
                </a:cubicBezTo>
                <a:cubicBezTo>
                  <a:pt x="21079" y="9957"/>
                  <a:pt x="4954" y="8937"/>
                  <a:pt x="0" y="9034"/>
                </a:cubicBezTo>
              </a:path>
            </a:pathLst>
          </a:custGeom>
          <a:noFill/>
          <a:ln w="38100" cap="flat" cmpd="sng">
            <a:solidFill>
              <a:srgbClr val="00FDC8"/>
            </a:solidFill>
            <a:prstDash val="solid"/>
            <a:round/>
            <a:headEnd type="none" w="med" len="med"/>
            <a:tailEnd type="triangle" w="med" len="med"/>
          </a:ln>
        </p:spPr>
      </p:sp>
      <p:sp>
        <p:nvSpPr>
          <p:cNvPr id="549" name="Google Shape;549;p67"/>
          <p:cNvSpPr/>
          <p:nvPr/>
        </p:nvSpPr>
        <p:spPr>
          <a:xfrm>
            <a:off x="3913650" y="3055825"/>
            <a:ext cx="1296800" cy="232050"/>
          </a:xfrm>
          <a:custGeom>
            <a:avLst/>
            <a:gdLst/>
            <a:ahLst/>
            <a:cxnLst/>
            <a:rect l="l" t="t" r="r" b="b"/>
            <a:pathLst>
              <a:path w="51872" h="9282" extrusionOk="0">
                <a:moveTo>
                  <a:pt x="51872" y="0"/>
                </a:moveTo>
                <a:cubicBezTo>
                  <a:pt x="48181" y="1409"/>
                  <a:pt x="38369" y="6945"/>
                  <a:pt x="29724" y="8451"/>
                </a:cubicBezTo>
                <a:cubicBezTo>
                  <a:pt x="21079" y="9957"/>
                  <a:pt x="4954" y="8937"/>
                  <a:pt x="0" y="9034"/>
                </a:cubicBezTo>
              </a:path>
            </a:pathLst>
          </a:custGeom>
          <a:noFill/>
          <a:ln w="38100" cap="flat" cmpd="sng">
            <a:solidFill>
              <a:srgbClr val="00FDC8"/>
            </a:solidFill>
            <a:prstDash val="solid"/>
            <a:round/>
            <a:headEnd type="none" w="med" len="med"/>
            <a:tailEnd type="triangle" w="med" len="med"/>
          </a:ln>
        </p:spPr>
      </p:sp>
      <p:sp>
        <p:nvSpPr>
          <p:cNvPr id="550" name="Google Shape;550;p67"/>
          <p:cNvSpPr/>
          <p:nvPr/>
        </p:nvSpPr>
        <p:spPr>
          <a:xfrm>
            <a:off x="3273125" y="4272625"/>
            <a:ext cx="1296800" cy="232050"/>
          </a:xfrm>
          <a:custGeom>
            <a:avLst/>
            <a:gdLst/>
            <a:ahLst/>
            <a:cxnLst/>
            <a:rect l="l" t="t" r="r" b="b"/>
            <a:pathLst>
              <a:path w="51872" h="9282" extrusionOk="0">
                <a:moveTo>
                  <a:pt x="51872" y="0"/>
                </a:moveTo>
                <a:cubicBezTo>
                  <a:pt x="48181" y="1409"/>
                  <a:pt x="38369" y="6945"/>
                  <a:pt x="29724" y="8451"/>
                </a:cubicBezTo>
                <a:cubicBezTo>
                  <a:pt x="21079" y="9957"/>
                  <a:pt x="4954" y="8937"/>
                  <a:pt x="0" y="9034"/>
                </a:cubicBezTo>
              </a:path>
            </a:pathLst>
          </a:custGeom>
          <a:noFill/>
          <a:ln w="38100" cap="flat" cmpd="sng">
            <a:solidFill>
              <a:srgbClr val="00FDC8"/>
            </a:solidFill>
            <a:prstDash val="solid"/>
            <a:round/>
            <a:headEnd type="none" w="med" len="med"/>
            <a:tailEnd type="triangle" w="med" len="med"/>
          </a:ln>
        </p:spPr>
      </p:sp>
      <p:pic>
        <p:nvPicPr>
          <p:cNvPr id="551" name="Google Shape;551;p67"/>
          <p:cNvPicPr preferRelativeResize="0"/>
          <p:nvPr/>
        </p:nvPicPr>
        <p:blipFill>
          <a:blip r:embed="rId4">
            <a:alphaModFix/>
          </a:blip>
          <a:stretch>
            <a:fillRect/>
          </a:stretch>
        </p:blipFill>
        <p:spPr>
          <a:xfrm>
            <a:off x="6484275" y="3747238"/>
            <a:ext cx="2659726" cy="1366700"/>
          </a:xfrm>
          <a:prstGeom prst="rect">
            <a:avLst/>
          </a:prstGeom>
          <a:noFill/>
          <a:ln>
            <a:noFill/>
          </a:ln>
        </p:spPr>
      </p:pic>
      <p:sp>
        <p:nvSpPr>
          <p:cNvPr id="552" name="Google Shape;552;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implement FSM?</a:t>
            </a:r>
            <a:endParaRPr/>
          </a:p>
        </p:txBody>
      </p:sp>
      <p:sp>
        <p:nvSpPr>
          <p:cNvPr id="558" name="Google Shape;558;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69"/>
          <p:cNvSpPr txBox="1">
            <a:spLocks noGrp="1"/>
          </p:cNvSpPr>
          <p:nvPr>
            <p:ph type="title"/>
          </p:nvPr>
        </p:nvSpPr>
        <p:spPr>
          <a:xfrm>
            <a:off x="2802750" y="802500"/>
            <a:ext cx="3538500" cy="35385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get some rest?</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564" name="Google Shape;564;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57</a:t>
            </a:fld>
            <a:endParaRPr/>
          </a:p>
        </p:txBody>
      </p:sp>
      <p:pic>
        <p:nvPicPr>
          <p:cNvPr id="565" name="Google Shape;565;p69"/>
          <p:cNvPicPr preferRelativeResize="0"/>
          <p:nvPr/>
        </p:nvPicPr>
        <p:blipFill>
          <a:blip r:embed="rId3">
            <a:alphaModFix/>
          </a:blip>
          <a:stretch>
            <a:fillRect/>
          </a:stretch>
        </p:blipFill>
        <p:spPr>
          <a:xfrm>
            <a:off x="2329875" y="2621109"/>
            <a:ext cx="4484250" cy="252239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7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FSM: Fetch</a:t>
            </a:r>
            <a:endParaRPr/>
          </a:p>
        </p:txBody>
      </p:sp>
      <p:pic>
        <p:nvPicPr>
          <p:cNvPr id="571" name="Google Shape;571;p70"/>
          <p:cNvPicPr preferRelativeResize="0"/>
          <p:nvPr/>
        </p:nvPicPr>
        <p:blipFill>
          <a:blip r:embed="rId3">
            <a:alphaModFix/>
          </a:blip>
          <a:stretch>
            <a:fillRect/>
          </a:stretch>
        </p:blipFill>
        <p:spPr>
          <a:xfrm>
            <a:off x="3081338" y="1696300"/>
            <a:ext cx="2981325" cy="2403475"/>
          </a:xfrm>
          <a:prstGeom prst="rect">
            <a:avLst/>
          </a:prstGeom>
          <a:noFill/>
          <a:ln>
            <a:noFill/>
          </a:ln>
        </p:spPr>
      </p:pic>
      <p:sp>
        <p:nvSpPr>
          <p:cNvPr id="572" name="Google Shape;572;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7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 flow during the fetch step</a:t>
            </a:r>
            <a:endParaRPr/>
          </a:p>
        </p:txBody>
      </p:sp>
      <p:pic>
        <p:nvPicPr>
          <p:cNvPr id="578" name="Google Shape;578;p71"/>
          <p:cNvPicPr preferRelativeResize="0"/>
          <p:nvPr/>
        </p:nvPicPr>
        <p:blipFill>
          <a:blip r:embed="rId3">
            <a:alphaModFix/>
          </a:blip>
          <a:stretch>
            <a:fillRect/>
          </a:stretch>
        </p:blipFill>
        <p:spPr>
          <a:xfrm>
            <a:off x="1550200" y="1164425"/>
            <a:ext cx="7570373" cy="3964776"/>
          </a:xfrm>
          <a:prstGeom prst="rect">
            <a:avLst/>
          </a:prstGeom>
          <a:noFill/>
          <a:ln>
            <a:noFill/>
          </a:ln>
        </p:spPr>
      </p:pic>
      <p:pic>
        <p:nvPicPr>
          <p:cNvPr id="579" name="Google Shape;579;p71"/>
          <p:cNvPicPr preferRelativeResize="0"/>
          <p:nvPr/>
        </p:nvPicPr>
        <p:blipFill>
          <a:blip r:embed="rId4">
            <a:alphaModFix/>
          </a:blip>
          <a:stretch>
            <a:fillRect/>
          </a:stretch>
        </p:blipFill>
        <p:spPr>
          <a:xfrm>
            <a:off x="-5" y="943825"/>
            <a:ext cx="1750500" cy="1411226"/>
          </a:xfrm>
          <a:prstGeom prst="rect">
            <a:avLst/>
          </a:prstGeom>
          <a:noFill/>
          <a:ln>
            <a:noFill/>
          </a:ln>
        </p:spPr>
      </p:pic>
      <p:sp>
        <p:nvSpPr>
          <p:cNvPr id="580" name="Google Shape;580;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2"/>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Decode step</a:t>
            </a:r>
            <a:endParaRPr/>
          </a:p>
        </p:txBody>
      </p:sp>
      <p:pic>
        <p:nvPicPr>
          <p:cNvPr id="586" name="Google Shape;586;p72"/>
          <p:cNvPicPr preferRelativeResize="0"/>
          <p:nvPr/>
        </p:nvPicPr>
        <p:blipFill>
          <a:blip r:embed="rId3">
            <a:alphaModFix/>
          </a:blip>
          <a:stretch>
            <a:fillRect/>
          </a:stretch>
        </p:blipFill>
        <p:spPr>
          <a:xfrm>
            <a:off x="1449250" y="1164425"/>
            <a:ext cx="7694750" cy="3979074"/>
          </a:xfrm>
          <a:prstGeom prst="rect">
            <a:avLst/>
          </a:prstGeom>
          <a:noFill/>
          <a:ln>
            <a:noFill/>
          </a:ln>
        </p:spPr>
      </p:pic>
      <p:pic>
        <p:nvPicPr>
          <p:cNvPr id="587" name="Google Shape;587;p72"/>
          <p:cNvPicPr preferRelativeResize="0"/>
          <p:nvPr/>
        </p:nvPicPr>
        <p:blipFill>
          <a:blip r:embed="rId4">
            <a:alphaModFix/>
          </a:blip>
          <a:stretch>
            <a:fillRect/>
          </a:stretch>
        </p:blipFill>
        <p:spPr>
          <a:xfrm>
            <a:off x="50000" y="942975"/>
            <a:ext cx="3161592" cy="1407325"/>
          </a:xfrm>
          <a:prstGeom prst="rect">
            <a:avLst/>
          </a:prstGeom>
          <a:noFill/>
          <a:ln w="9525" cap="flat" cmpd="sng">
            <a:solidFill>
              <a:schemeClr val="dk1"/>
            </a:solidFill>
            <a:prstDash val="solid"/>
            <a:round/>
            <a:headEnd type="none" w="sm" len="sm"/>
            <a:tailEnd type="none" w="sm" len="sm"/>
          </a:ln>
        </p:spPr>
      </p:pic>
      <p:sp>
        <p:nvSpPr>
          <p:cNvPr id="588" name="Google Shape;588;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pic>
        <p:nvPicPr>
          <p:cNvPr id="593" name="Google Shape;593;p73"/>
          <p:cNvPicPr preferRelativeResize="0"/>
          <p:nvPr/>
        </p:nvPicPr>
        <p:blipFill>
          <a:blip r:embed="rId3">
            <a:alphaModFix/>
          </a:blip>
          <a:stretch>
            <a:fillRect/>
          </a:stretch>
        </p:blipFill>
        <p:spPr>
          <a:xfrm>
            <a:off x="1831175" y="1367700"/>
            <a:ext cx="7264212" cy="3744850"/>
          </a:xfrm>
          <a:prstGeom prst="rect">
            <a:avLst/>
          </a:prstGeom>
          <a:noFill/>
          <a:ln>
            <a:noFill/>
          </a:ln>
        </p:spPr>
      </p:pic>
      <p:sp>
        <p:nvSpPr>
          <p:cNvPr id="595" name="Google Shape;595;p73"/>
          <p:cNvSpPr txBox="1">
            <a:spLocks noGrp="1"/>
          </p:cNvSpPr>
          <p:nvPr>
            <p:ph type="title"/>
          </p:nvPr>
        </p:nvSpPr>
        <p:spPr>
          <a:xfrm>
            <a:off x="311700" y="292850"/>
            <a:ext cx="4260300" cy="801000"/>
          </a:xfrm>
          <a:prstGeom prst="rect">
            <a:avLst/>
          </a:prstGeom>
          <a:solidFill>
            <a:srgbClr val="FFFFFF">
              <a:alpha val="70830"/>
            </a:srgbClr>
          </a:solid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Memory address computation</a:t>
            </a:r>
            <a:endParaRPr/>
          </a:p>
        </p:txBody>
      </p:sp>
      <p:sp>
        <p:nvSpPr>
          <p:cNvPr id="596" name="Google Shape;596;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Memory read</a:t>
            </a:r>
            <a:endParaRPr/>
          </a:p>
        </p:txBody>
      </p:sp>
      <p:pic>
        <p:nvPicPr>
          <p:cNvPr id="602" name="Google Shape;602;p74"/>
          <p:cNvPicPr preferRelativeResize="0"/>
          <p:nvPr/>
        </p:nvPicPr>
        <p:blipFill>
          <a:blip r:embed="rId3">
            <a:alphaModFix/>
          </a:blip>
          <a:stretch>
            <a:fillRect/>
          </a:stretch>
        </p:blipFill>
        <p:spPr>
          <a:xfrm>
            <a:off x="3381375" y="370500"/>
            <a:ext cx="4848226" cy="4613451"/>
          </a:xfrm>
          <a:prstGeom prst="rect">
            <a:avLst/>
          </a:prstGeom>
          <a:noFill/>
          <a:ln>
            <a:noFill/>
          </a:ln>
        </p:spPr>
      </p:pic>
      <p:sp>
        <p:nvSpPr>
          <p:cNvPr id="603" name="Google Shape;603;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7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Memory read (2)</a:t>
            </a:r>
            <a:endParaRPr/>
          </a:p>
          <a:p>
            <a:pPr marL="0" lvl="0" indent="0" algn="l" rtl="0">
              <a:spcBef>
                <a:spcPts val="0"/>
              </a:spcBef>
              <a:spcAft>
                <a:spcPts val="0"/>
              </a:spcAft>
              <a:buNone/>
            </a:pPr>
            <a:endParaRPr/>
          </a:p>
          <a:p>
            <a:pPr marL="0" lvl="0" indent="0" algn="l" rtl="0">
              <a:spcBef>
                <a:spcPts val="0"/>
              </a:spcBef>
              <a:spcAft>
                <a:spcPts val="0"/>
              </a:spcAft>
              <a:buNone/>
            </a:pPr>
            <a:r>
              <a:rPr lang="en"/>
              <a:t>(2</a:t>
            </a:r>
            <a:endParaRPr/>
          </a:p>
        </p:txBody>
      </p:sp>
      <p:pic>
        <p:nvPicPr>
          <p:cNvPr id="609" name="Google Shape;609;p75"/>
          <p:cNvPicPr preferRelativeResize="0"/>
          <p:nvPr/>
        </p:nvPicPr>
        <p:blipFill>
          <a:blip r:embed="rId3">
            <a:alphaModFix/>
          </a:blip>
          <a:stretch>
            <a:fillRect/>
          </a:stretch>
        </p:blipFill>
        <p:spPr>
          <a:xfrm>
            <a:off x="1635925" y="1256950"/>
            <a:ext cx="7508076" cy="3886550"/>
          </a:xfrm>
          <a:prstGeom prst="rect">
            <a:avLst/>
          </a:prstGeom>
          <a:noFill/>
          <a:ln>
            <a:noFill/>
          </a:ln>
        </p:spPr>
      </p:pic>
      <p:pic>
        <p:nvPicPr>
          <p:cNvPr id="610" name="Google Shape;610;p75"/>
          <p:cNvPicPr preferRelativeResize="0"/>
          <p:nvPr/>
        </p:nvPicPr>
        <p:blipFill rotWithShape="1">
          <a:blip r:embed="rId4">
            <a:alphaModFix/>
          </a:blip>
          <a:srcRect t="30371" r="70431"/>
          <a:stretch/>
        </p:blipFill>
        <p:spPr>
          <a:xfrm>
            <a:off x="0" y="1164425"/>
            <a:ext cx="1433525" cy="3212299"/>
          </a:xfrm>
          <a:prstGeom prst="rect">
            <a:avLst/>
          </a:prstGeom>
          <a:noFill/>
          <a:ln w="9525" cap="flat" cmpd="sng">
            <a:solidFill>
              <a:srgbClr val="00FDC8"/>
            </a:solidFill>
            <a:prstDash val="solid"/>
            <a:round/>
            <a:headEnd type="none" w="sm" len="sm"/>
            <a:tailEnd type="none" w="sm" len="sm"/>
          </a:ln>
        </p:spPr>
      </p:pic>
      <p:sp>
        <p:nvSpPr>
          <p:cNvPr id="611" name="Google Shape;611;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7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Memory write</a:t>
            </a:r>
            <a:endParaRPr/>
          </a:p>
        </p:txBody>
      </p:sp>
      <p:pic>
        <p:nvPicPr>
          <p:cNvPr id="617" name="Google Shape;617;p76"/>
          <p:cNvPicPr preferRelativeResize="0"/>
          <p:nvPr/>
        </p:nvPicPr>
        <p:blipFill>
          <a:blip r:embed="rId3">
            <a:alphaModFix/>
          </a:blip>
          <a:stretch>
            <a:fillRect/>
          </a:stretch>
        </p:blipFill>
        <p:spPr>
          <a:xfrm>
            <a:off x="3140900" y="231100"/>
            <a:ext cx="4926799" cy="4788575"/>
          </a:xfrm>
          <a:prstGeom prst="rect">
            <a:avLst/>
          </a:prstGeom>
          <a:noFill/>
          <a:ln>
            <a:noFill/>
          </a:ln>
        </p:spPr>
      </p:pic>
      <p:sp>
        <p:nvSpPr>
          <p:cNvPr id="618" name="Google Shape;618;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7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Memory write (2)</a:t>
            </a:r>
            <a:endParaRPr/>
          </a:p>
        </p:txBody>
      </p:sp>
      <p:pic>
        <p:nvPicPr>
          <p:cNvPr id="624" name="Google Shape;624;p77"/>
          <p:cNvPicPr preferRelativeResize="0"/>
          <p:nvPr/>
        </p:nvPicPr>
        <p:blipFill>
          <a:blip r:embed="rId3">
            <a:alphaModFix/>
          </a:blip>
          <a:stretch>
            <a:fillRect/>
          </a:stretch>
        </p:blipFill>
        <p:spPr>
          <a:xfrm>
            <a:off x="1635925" y="1256950"/>
            <a:ext cx="7508076" cy="3886550"/>
          </a:xfrm>
          <a:prstGeom prst="rect">
            <a:avLst/>
          </a:prstGeom>
          <a:noFill/>
          <a:ln>
            <a:noFill/>
          </a:ln>
        </p:spPr>
      </p:pic>
      <p:pic>
        <p:nvPicPr>
          <p:cNvPr id="625" name="Google Shape;625;p77"/>
          <p:cNvPicPr preferRelativeResize="0"/>
          <p:nvPr/>
        </p:nvPicPr>
        <p:blipFill>
          <a:blip r:embed="rId4">
            <a:alphaModFix/>
          </a:blip>
          <a:stretch>
            <a:fillRect/>
          </a:stretch>
        </p:blipFill>
        <p:spPr>
          <a:xfrm>
            <a:off x="104775" y="1197775"/>
            <a:ext cx="1562950" cy="2788450"/>
          </a:xfrm>
          <a:prstGeom prst="rect">
            <a:avLst/>
          </a:prstGeom>
          <a:noFill/>
          <a:ln w="9525" cap="flat" cmpd="sng">
            <a:solidFill>
              <a:schemeClr val="dk1"/>
            </a:solidFill>
            <a:prstDash val="solid"/>
            <a:round/>
            <a:headEnd type="none" w="sm" len="sm"/>
            <a:tailEnd type="none" w="sm" len="sm"/>
          </a:ln>
        </p:spPr>
      </p:pic>
      <p:sp>
        <p:nvSpPr>
          <p:cNvPr id="626" name="Google Shape;626;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7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Execute R-type operation</a:t>
            </a:r>
            <a:endParaRPr/>
          </a:p>
        </p:txBody>
      </p:sp>
      <p:pic>
        <p:nvPicPr>
          <p:cNvPr id="632" name="Google Shape;632;p78"/>
          <p:cNvPicPr preferRelativeResize="0"/>
          <p:nvPr/>
        </p:nvPicPr>
        <p:blipFill>
          <a:blip r:embed="rId3">
            <a:alphaModFix/>
          </a:blip>
          <a:stretch>
            <a:fillRect/>
          </a:stretch>
        </p:blipFill>
        <p:spPr>
          <a:xfrm>
            <a:off x="4248553" y="516625"/>
            <a:ext cx="4895449" cy="4626875"/>
          </a:xfrm>
          <a:prstGeom prst="rect">
            <a:avLst/>
          </a:prstGeom>
          <a:noFill/>
          <a:ln>
            <a:noFill/>
          </a:ln>
        </p:spPr>
      </p:pic>
      <p:sp>
        <p:nvSpPr>
          <p:cNvPr id="633" name="Google Shape;633;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79"/>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Execute R-type operation (2)</a:t>
            </a:r>
            <a:endParaRPr/>
          </a:p>
        </p:txBody>
      </p:sp>
      <p:pic>
        <p:nvPicPr>
          <p:cNvPr id="639" name="Google Shape;639;p79"/>
          <p:cNvPicPr preferRelativeResize="0"/>
          <p:nvPr/>
        </p:nvPicPr>
        <p:blipFill>
          <a:blip r:embed="rId3">
            <a:alphaModFix/>
          </a:blip>
          <a:stretch>
            <a:fillRect/>
          </a:stretch>
        </p:blipFill>
        <p:spPr>
          <a:xfrm>
            <a:off x="1635925" y="1256950"/>
            <a:ext cx="7508076" cy="3886550"/>
          </a:xfrm>
          <a:prstGeom prst="rect">
            <a:avLst/>
          </a:prstGeom>
          <a:noFill/>
          <a:ln>
            <a:noFill/>
          </a:ln>
        </p:spPr>
      </p:pic>
      <p:pic>
        <p:nvPicPr>
          <p:cNvPr id="640" name="Google Shape;640;p79"/>
          <p:cNvPicPr preferRelativeResize="0"/>
          <p:nvPr/>
        </p:nvPicPr>
        <p:blipFill rotWithShape="1">
          <a:blip r:embed="rId4">
            <a:alphaModFix/>
          </a:blip>
          <a:srcRect l="43512" r="26088" b="23733"/>
          <a:stretch/>
        </p:blipFill>
        <p:spPr>
          <a:xfrm>
            <a:off x="72250" y="1435825"/>
            <a:ext cx="1488149" cy="3528800"/>
          </a:xfrm>
          <a:prstGeom prst="rect">
            <a:avLst/>
          </a:prstGeom>
          <a:noFill/>
          <a:ln w="9525" cap="flat" cmpd="sng">
            <a:solidFill>
              <a:srgbClr val="00FDC8"/>
            </a:solidFill>
            <a:prstDash val="solid"/>
            <a:round/>
            <a:headEnd type="none" w="sm" len="sm"/>
            <a:tailEnd type="none" w="sm" len="sm"/>
          </a:ln>
        </p:spPr>
      </p:pic>
      <p:sp>
        <p:nvSpPr>
          <p:cNvPr id="641" name="Google Shape;641;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8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Branch support</a:t>
            </a:r>
            <a:endParaRPr/>
          </a:p>
        </p:txBody>
      </p:sp>
      <p:pic>
        <p:nvPicPr>
          <p:cNvPr id="647" name="Google Shape;647;p80"/>
          <p:cNvPicPr preferRelativeResize="0"/>
          <p:nvPr/>
        </p:nvPicPr>
        <p:blipFill>
          <a:blip r:embed="rId3">
            <a:alphaModFix/>
          </a:blip>
          <a:stretch>
            <a:fillRect/>
          </a:stretch>
        </p:blipFill>
        <p:spPr>
          <a:xfrm>
            <a:off x="4086009" y="292850"/>
            <a:ext cx="5057992" cy="4850650"/>
          </a:xfrm>
          <a:prstGeom prst="rect">
            <a:avLst/>
          </a:prstGeom>
          <a:noFill/>
          <a:ln>
            <a:noFill/>
          </a:ln>
        </p:spPr>
      </p:pic>
      <p:sp>
        <p:nvSpPr>
          <p:cNvPr id="648" name="Google Shape;648;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pic>
        <p:nvPicPr>
          <p:cNvPr id="653" name="Google Shape;653;p81"/>
          <p:cNvPicPr preferRelativeResize="0"/>
          <p:nvPr/>
        </p:nvPicPr>
        <p:blipFill>
          <a:blip r:embed="rId3">
            <a:alphaModFix/>
          </a:blip>
          <a:stretch>
            <a:fillRect/>
          </a:stretch>
        </p:blipFill>
        <p:spPr>
          <a:xfrm>
            <a:off x="1635925" y="1256950"/>
            <a:ext cx="7508076" cy="3886550"/>
          </a:xfrm>
          <a:prstGeom prst="rect">
            <a:avLst/>
          </a:prstGeom>
          <a:noFill/>
          <a:ln>
            <a:noFill/>
          </a:ln>
        </p:spPr>
      </p:pic>
      <p:pic>
        <p:nvPicPr>
          <p:cNvPr id="654" name="Google Shape;654;p81"/>
          <p:cNvPicPr preferRelativeResize="0"/>
          <p:nvPr/>
        </p:nvPicPr>
        <p:blipFill rotWithShape="1">
          <a:blip r:embed="rId4">
            <a:alphaModFix/>
          </a:blip>
          <a:srcRect l="44187" t="6171" r="3396" b="46170"/>
          <a:stretch/>
        </p:blipFill>
        <p:spPr>
          <a:xfrm>
            <a:off x="0" y="621225"/>
            <a:ext cx="2651201" cy="2311700"/>
          </a:xfrm>
          <a:prstGeom prst="rect">
            <a:avLst/>
          </a:prstGeom>
          <a:noFill/>
          <a:ln w="9525" cap="flat" cmpd="sng">
            <a:solidFill>
              <a:srgbClr val="00FDC8"/>
            </a:solidFill>
            <a:prstDash val="solid"/>
            <a:round/>
            <a:headEnd type="none" w="sm" len="sm"/>
            <a:tailEnd type="none" w="sm" len="sm"/>
          </a:ln>
        </p:spPr>
      </p:pic>
      <p:sp>
        <p:nvSpPr>
          <p:cNvPr id="655" name="Google Shape;655;p8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Branch support (2)</a:t>
            </a:r>
            <a:endParaRPr/>
          </a:p>
        </p:txBody>
      </p:sp>
      <p:sp>
        <p:nvSpPr>
          <p:cNvPr id="656" name="Google Shape;656;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p82"/>
          <p:cNvPicPr preferRelativeResize="0"/>
          <p:nvPr/>
        </p:nvPicPr>
        <p:blipFill>
          <a:blip r:embed="rId3">
            <a:alphaModFix/>
          </a:blip>
          <a:stretch>
            <a:fillRect/>
          </a:stretch>
        </p:blipFill>
        <p:spPr>
          <a:xfrm>
            <a:off x="3713150" y="840300"/>
            <a:ext cx="5430850" cy="4303201"/>
          </a:xfrm>
          <a:prstGeom prst="rect">
            <a:avLst/>
          </a:prstGeom>
          <a:noFill/>
          <a:ln>
            <a:noFill/>
          </a:ln>
        </p:spPr>
      </p:pic>
      <p:sp>
        <p:nvSpPr>
          <p:cNvPr id="662" name="Google Shape;662;p82"/>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Main controller states for addi</a:t>
            </a:r>
            <a:endParaRPr/>
          </a:p>
        </p:txBody>
      </p:sp>
      <p:sp>
        <p:nvSpPr>
          <p:cNvPr id="663" name="Google Shape;663;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83"/>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Multicycle datapath enhanced to support the J instruction</a:t>
            </a:r>
            <a:endParaRPr/>
          </a:p>
        </p:txBody>
      </p:sp>
      <p:pic>
        <p:nvPicPr>
          <p:cNvPr id="669" name="Google Shape;669;p83"/>
          <p:cNvPicPr preferRelativeResize="0"/>
          <p:nvPr/>
        </p:nvPicPr>
        <p:blipFill>
          <a:blip r:embed="rId3">
            <a:alphaModFix/>
          </a:blip>
          <a:stretch>
            <a:fillRect/>
          </a:stretch>
        </p:blipFill>
        <p:spPr>
          <a:xfrm>
            <a:off x="152400" y="1246250"/>
            <a:ext cx="8839202" cy="3438557"/>
          </a:xfrm>
          <a:prstGeom prst="rect">
            <a:avLst/>
          </a:prstGeom>
          <a:noFill/>
          <a:ln>
            <a:noFill/>
          </a:ln>
        </p:spPr>
      </p:pic>
      <p:sp>
        <p:nvSpPr>
          <p:cNvPr id="670" name="Google Shape;670;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pic>
        <p:nvPicPr>
          <p:cNvPr id="675" name="Google Shape;675;p84"/>
          <p:cNvPicPr preferRelativeResize="0"/>
          <p:nvPr/>
        </p:nvPicPr>
        <p:blipFill>
          <a:blip r:embed="rId3">
            <a:alphaModFix/>
          </a:blip>
          <a:stretch>
            <a:fillRect/>
          </a:stretch>
        </p:blipFill>
        <p:spPr>
          <a:xfrm>
            <a:off x="3378776" y="729625"/>
            <a:ext cx="5765224" cy="4413874"/>
          </a:xfrm>
          <a:prstGeom prst="rect">
            <a:avLst/>
          </a:prstGeom>
          <a:noFill/>
          <a:ln>
            <a:noFill/>
          </a:ln>
        </p:spPr>
      </p:pic>
      <p:sp>
        <p:nvSpPr>
          <p:cNvPr id="676" name="Google Shape;676;p8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Main controller state for J</a:t>
            </a:r>
            <a:endParaRPr/>
          </a:p>
        </p:txBody>
      </p:sp>
      <p:sp>
        <p:nvSpPr>
          <p:cNvPr id="677" name="Google Shape;677;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8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Performance Analysis</a:t>
            </a:r>
            <a:endParaRPr/>
          </a:p>
        </p:txBody>
      </p:sp>
      <p:sp>
        <p:nvSpPr>
          <p:cNvPr id="683" name="Google Shape;683;p85"/>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Instruction execution time = number of cycles *cycle time</a:t>
            </a:r>
            <a:endParaRPr/>
          </a:p>
          <a:p>
            <a:pPr marL="457200" lvl="0" indent="-342900" algn="l" rtl="0">
              <a:spcBef>
                <a:spcPts val="0"/>
              </a:spcBef>
              <a:spcAft>
                <a:spcPts val="0"/>
              </a:spcAft>
              <a:buSzPts val="1800"/>
              <a:buChar char="●"/>
            </a:pPr>
            <a:r>
              <a:rPr lang="en"/>
              <a:t>25% loads, 10% stores, 11% branches, 2% jumps, and 52% R-type instructions == Average CPI (Cycles Per Instruction) is 4.12</a:t>
            </a:r>
            <a:endParaRPr/>
          </a:p>
          <a:p>
            <a:pPr marL="457200" lvl="0" indent="-342900" algn="l" rtl="0">
              <a:spcBef>
                <a:spcPts val="0"/>
              </a:spcBef>
              <a:spcAft>
                <a:spcPts val="0"/>
              </a:spcAft>
              <a:buSzPts val="1800"/>
              <a:buChar char="●"/>
            </a:pPr>
            <a:r>
              <a:rPr lang="en"/>
              <a:t>100 billion instructions</a:t>
            </a:r>
            <a:endParaRPr/>
          </a:p>
          <a:p>
            <a:pPr marL="457200" lvl="0" indent="-342900" algn="l" rtl="0">
              <a:spcBef>
                <a:spcPts val="0"/>
              </a:spcBef>
              <a:spcAft>
                <a:spcPts val="0"/>
              </a:spcAft>
              <a:buSzPts val="1800"/>
              <a:buChar char="●"/>
            </a:pPr>
            <a:r>
              <a:rPr lang="en"/>
              <a:t>Multicycle processor = 133.9 seconds</a:t>
            </a:r>
            <a:endParaRPr/>
          </a:p>
          <a:p>
            <a:pPr marL="457200" lvl="0" indent="-342900" algn="l" rtl="0">
              <a:spcBef>
                <a:spcPts val="0"/>
              </a:spcBef>
              <a:spcAft>
                <a:spcPts val="0"/>
              </a:spcAft>
              <a:buSzPts val="1800"/>
              <a:buChar char="●"/>
            </a:pPr>
            <a:r>
              <a:rPr lang="en"/>
              <a:t>Single-cycle processor = 92.5 seconds</a:t>
            </a:r>
            <a:endParaRPr/>
          </a:p>
          <a:p>
            <a:pPr marL="457200" lvl="0" indent="-342900" algn="l" rtl="0">
              <a:spcBef>
                <a:spcPts val="0"/>
              </a:spcBef>
              <a:spcAft>
                <a:spcPts val="0"/>
              </a:spcAft>
              <a:buSzPts val="1800"/>
              <a:buChar char="●"/>
            </a:pPr>
            <a:r>
              <a:rPr lang="en"/>
              <a:t>Multicycle processor is likely to be less expensive: </a:t>
            </a:r>
            <a:endParaRPr/>
          </a:p>
          <a:p>
            <a:pPr marL="914400" lvl="1" indent="-317500" algn="l" rtl="0">
              <a:spcBef>
                <a:spcPts val="0"/>
              </a:spcBef>
              <a:spcAft>
                <a:spcPts val="0"/>
              </a:spcAft>
              <a:buSzPts val="1400"/>
              <a:buChar char="○"/>
            </a:pPr>
            <a:r>
              <a:rPr lang="en"/>
              <a:t>+ Eliminates two adders and combines the instruction and data memories into a single unit</a:t>
            </a:r>
            <a:endParaRPr/>
          </a:p>
          <a:p>
            <a:pPr marL="914400" lvl="1" indent="-317500" algn="l" rtl="0">
              <a:spcBef>
                <a:spcPts val="0"/>
              </a:spcBef>
              <a:spcAft>
                <a:spcPts val="0"/>
              </a:spcAft>
              <a:buSzPts val="1400"/>
              <a:buChar char="○"/>
            </a:pPr>
            <a:r>
              <a:rPr lang="en"/>
              <a:t>- However, require five nonarchitectural registers and additional multiplexers</a:t>
            </a:r>
            <a:endParaRPr/>
          </a:p>
        </p:txBody>
      </p:sp>
      <p:sp>
        <p:nvSpPr>
          <p:cNvPr id="684" name="Google Shape;684;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73</a:t>
            </a:fld>
            <a:endParaRPr/>
          </a:p>
        </p:txBody>
      </p:sp>
    </p:spTree>
  </p:cSld>
  <p:clrMapOvr>
    <a:masterClrMapping/>
  </p:clrMapOvr>
</p:sld>
</file>

<file path=ppt/theme/theme1.xml><?xml version="1.0" encoding="utf-8"?>
<a:theme xmlns:a="http://schemas.openxmlformats.org/drawingml/2006/main"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0BD9EB7E11F04EA357E6193B42B320" ma:contentTypeVersion="11" ma:contentTypeDescription="Create a new document." ma:contentTypeScope="" ma:versionID="8f9c07e4a451874118cb5857def06f94">
  <xsd:schema xmlns:xsd="http://www.w3.org/2001/XMLSchema" xmlns:xs="http://www.w3.org/2001/XMLSchema" xmlns:p="http://schemas.microsoft.com/office/2006/metadata/properties" xmlns:ns2="55c32a25-091c-4bf8-97bd-6d87deae368e" xmlns:ns3="43211266-15a2-4273-b298-e1da35e3510c" targetNamespace="http://schemas.microsoft.com/office/2006/metadata/properties" ma:root="true" ma:fieldsID="f58ab503aa9fd46ead416d745539b33d" ns2:_="" ns3:_="">
    <xsd:import namespace="55c32a25-091c-4bf8-97bd-6d87deae368e"/>
    <xsd:import namespace="43211266-15a2-4273-b298-e1da35e3510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c32a25-091c-4bf8-97bd-6d87deae36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4681046-6e08-4508-887b-d7ffc39f868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3211266-15a2-4273-b298-e1da35e3510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7ba52b8-3cf6-4dd8-bb6b-c284c0787a6b}" ma:internalName="TaxCatchAll" ma:showField="CatchAllData" ma:web="43211266-15a2-4273-b298-e1da35e3510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5c32a25-091c-4bf8-97bd-6d87deae368e">
      <Terms xmlns="http://schemas.microsoft.com/office/infopath/2007/PartnerControls"/>
    </lcf76f155ced4ddcb4097134ff3c332f>
    <TaxCatchAll xmlns="43211266-15a2-4273-b298-e1da35e3510c" xsi:nil="true"/>
  </documentManagement>
</p:properties>
</file>

<file path=customXml/itemProps1.xml><?xml version="1.0" encoding="utf-8"?>
<ds:datastoreItem xmlns:ds="http://schemas.openxmlformats.org/officeDocument/2006/customXml" ds:itemID="{55D3353D-FDA9-4796-B2A1-2A6CC2A6DC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5c32a25-091c-4bf8-97bd-6d87deae368e"/>
    <ds:schemaRef ds:uri="43211266-15a2-4273-b298-e1da35e351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5BA07BB-28C4-4B96-9EB8-2C423152B621}">
  <ds:schemaRefs>
    <ds:schemaRef ds:uri="http://schemas.microsoft.com/sharepoint/v3/contenttype/forms"/>
  </ds:schemaRefs>
</ds:datastoreItem>
</file>

<file path=customXml/itemProps3.xml><?xml version="1.0" encoding="utf-8"?>
<ds:datastoreItem xmlns:ds="http://schemas.openxmlformats.org/officeDocument/2006/customXml" ds:itemID="{85F66137-5987-4820-AF0A-03EA10F85A60}">
  <ds:schemaRefs>
    <ds:schemaRef ds:uri="http://schemas.microsoft.com/office/2006/metadata/properties"/>
    <ds:schemaRef ds:uri="http://schemas.microsoft.com/office/infopath/2007/PartnerControls"/>
    <ds:schemaRef ds:uri="55c32a25-091c-4bf8-97bd-6d87deae368e"/>
    <ds:schemaRef ds:uri="43211266-15a2-4273-b298-e1da35e3510c"/>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Affichage à l'écran (16:9)</PresentationFormat>
  <Slides>73</Slides>
  <Notes>73</Notes>
  <HiddenSlides>0</HiddenSlides>
  <ScaleCrop>false</ScaleCrop>
  <HeadingPairs>
    <vt:vector size="4" baseType="variant">
      <vt:variant>
        <vt:lpstr>Thème</vt:lpstr>
      </vt:variant>
      <vt:variant>
        <vt:i4>1</vt:i4>
      </vt:variant>
      <vt:variant>
        <vt:lpstr>Titres des diapositives</vt:lpstr>
      </vt:variant>
      <vt:variant>
        <vt:i4>73</vt:i4>
      </vt:variant>
    </vt:vector>
  </HeadingPairs>
  <TitlesOfParts>
    <vt:vector size="74" baseType="lpstr">
      <vt:lpstr>Beach Day</vt:lpstr>
      <vt:lpstr>Computer Architecture Lecture 7:Multi-cycle processor: data path, control unit</vt:lpstr>
      <vt:lpstr>In previous episodes</vt:lpstr>
      <vt:lpstr>Single-cycle processor problems</vt:lpstr>
      <vt:lpstr>MIPS architecture</vt:lpstr>
      <vt:lpstr>Instruction types</vt:lpstr>
      <vt:lpstr>R-type commands</vt:lpstr>
      <vt:lpstr>I-type commands</vt:lpstr>
      <vt:lpstr>LW (Load word)</vt:lpstr>
      <vt:lpstr>J-type commands</vt:lpstr>
      <vt:lpstr>x86 instructions encoding (Interesting to see)</vt:lpstr>
      <vt:lpstr>Major differences between MIPS and x86</vt:lpstr>
      <vt:lpstr>MIPS addressing modes</vt:lpstr>
      <vt:lpstr>Register-Only Addressing</vt:lpstr>
      <vt:lpstr>Immediate Addressing</vt:lpstr>
      <vt:lpstr>Base Addressing</vt:lpstr>
      <vt:lpstr> Byte-addressable / Word-addressable memory</vt:lpstr>
      <vt:lpstr>PC-Relative Addressing</vt:lpstr>
      <vt:lpstr>Pseudo-Direct Addressing</vt:lpstr>
      <vt:lpstr>Single cycle MIPS datapath</vt:lpstr>
      <vt:lpstr>(H&amp;H 7.3)</vt:lpstr>
      <vt:lpstr>Instruction types</vt:lpstr>
      <vt:lpstr>State elements of MIPS processor (Data path)</vt:lpstr>
      <vt:lpstr>LW (Load word)</vt:lpstr>
      <vt:lpstr>LW instruction execution stages</vt:lpstr>
      <vt:lpstr>1. Fetch LW instruction from memory</vt:lpstr>
      <vt:lpstr>2. Read source operand from register file</vt:lpstr>
      <vt:lpstr>3. Sign-extend the immediate </vt:lpstr>
      <vt:lpstr>4. Compute memory address</vt:lpstr>
      <vt:lpstr>5. Write data back to register file</vt:lpstr>
      <vt:lpstr>Determine address of next instruction for PC</vt:lpstr>
      <vt:lpstr>Write data to memory for SW instruction</vt:lpstr>
      <vt:lpstr>R-type commands</vt:lpstr>
      <vt:lpstr>Datapath enhancements for R-type instruction</vt:lpstr>
      <vt:lpstr>Datapath enhancements for beq instruction</vt:lpstr>
      <vt:lpstr>We need control signals!</vt:lpstr>
      <vt:lpstr>Control unit internal structure</vt:lpstr>
      <vt:lpstr>ALU decoder truth table</vt:lpstr>
      <vt:lpstr>Complete single-cycle MIPS processor</vt:lpstr>
      <vt:lpstr>Main decoder truth table</vt:lpstr>
      <vt:lpstr>Executing or instruction</vt:lpstr>
      <vt:lpstr>Datapath enhanced to support the J instruction</vt:lpstr>
      <vt:lpstr>Multicycle Datapath (LW first)</vt:lpstr>
      <vt:lpstr>State elements with unified instruction/data memory</vt:lpstr>
      <vt:lpstr>Fetch instruction from memory</vt:lpstr>
      <vt:lpstr>Read source operand from register file</vt:lpstr>
      <vt:lpstr>Sign-extend the immediate</vt:lpstr>
      <vt:lpstr>Add base address to offset</vt:lpstr>
      <vt:lpstr>Load data from memory</vt:lpstr>
      <vt:lpstr>Write data back to register file</vt:lpstr>
      <vt:lpstr>Increment PC by 4</vt:lpstr>
      <vt:lpstr>Enhanced datapath for SW instruction</vt:lpstr>
      <vt:lpstr>Enhanced datapath for R-type instructions</vt:lpstr>
      <vt:lpstr>Enhanced datapath for beq instruction</vt:lpstr>
      <vt:lpstr>Complete multicycle MIPS processor</vt:lpstr>
      <vt:lpstr>Control unit structure</vt:lpstr>
      <vt:lpstr>How to implement FSM?</vt:lpstr>
      <vt:lpstr>get some rest?  </vt:lpstr>
      <vt:lpstr>FSM: Fetch</vt:lpstr>
      <vt:lpstr>Data flow during the fetch step</vt:lpstr>
      <vt:lpstr>Decode step</vt:lpstr>
      <vt:lpstr>Memory address computation</vt:lpstr>
      <vt:lpstr>Memory read</vt:lpstr>
      <vt:lpstr>Memory read (2)  (2</vt:lpstr>
      <vt:lpstr>Memory write</vt:lpstr>
      <vt:lpstr>Memory write (2)</vt:lpstr>
      <vt:lpstr>Execute R-type operation</vt:lpstr>
      <vt:lpstr>Execute R-type operation (2)</vt:lpstr>
      <vt:lpstr>Branch support</vt:lpstr>
      <vt:lpstr>Branch support (2)</vt:lpstr>
      <vt:lpstr>Main controller states for addi</vt:lpstr>
      <vt:lpstr>Multicycle datapath enhanced to support the J instruction</vt:lpstr>
      <vt:lpstr>Main controller state for J</vt:lpstr>
      <vt:lpstr>Performance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9</cp:revision>
  <dcterms:modified xsi:type="dcterms:W3CDTF">2025-05-24T17:08:00Z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0x010100760BD9EB7E11F04EA357E6193B42B320</vt:lpwstr>
  </property>
  <property fmtid="{D5CDD505-2E9C-101B-9397-08002B2CF9AE}" pid="3" name="MediaServiceImageTags">
    <vt:lpwstr/>
  </property>
</Properties>
</file>