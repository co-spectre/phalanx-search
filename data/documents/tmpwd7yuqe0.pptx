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4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5143500" type="screen16x9"/>
  <p:notesSz cx="6858000" cy="9144000"/>
  <p:embeddedFontLst>
    <p:embeddedFont>
      <p:font typeface="Lato" panose="020F0502020204030203" pitchFamily="34" charset="0"/>
      <p:regular r:id="rId49"/>
      <p:bold r:id="rId50"/>
      <p:italic r:id="rId51"/>
      <p:boldItalic r:id="rId52"/>
    </p:embeddedFont>
    <p:embeddedFont>
      <p:font typeface="Source Code Pro" panose="020B0509030403020204" pitchFamily="49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D769AC-EEFA-4AF2-B35B-3A12D8398536}" v="1" dt="2025-07-25T13:23:1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ramanaiah, Thushar" userId="S::tvenkatara@constructor.university::17bfdec8-bcfc-4db6-ae64-856e2186f67e" providerId="AD" clId="Web-{668A4F01-D3A4-CCE5-C9F8-C9EB952219C3}"/>
    <pc:docChg chg="sldOrd">
      <pc:chgData name="Venkataramanaiah, Thushar" userId="S::tvenkatara@constructor.university::17bfdec8-bcfc-4db6-ae64-856e2186f67e" providerId="AD" clId="Web-{668A4F01-D3A4-CCE5-C9F8-C9EB952219C3}" dt="2025-04-22T12:53:04.674" v="1"/>
      <pc:docMkLst>
        <pc:docMk/>
      </pc:docMkLst>
      <pc:sldChg chg="ord">
        <pc:chgData name="Venkataramanaiah, Thushar" userId="S::tvenkatara@constructor.university::17bfdec8-bcfc-4db6-ae64-856e2186f67e" providerId="AD" clId="Web-{668A4F01-D3A4-CCE5-C9F8-C9EB952219C3}" dt="2025-04-22T12:53:04.674" v="1"/>
        <pc:sldMkLst>
          <pc:docMk/>
          <pc:sldMk cId="0" sldId="257"/>
        </pc:sldMkLst>
      </pc:sldChg>
    </pc:docChg>
  </pc:docChgLst>
  <pc:docChgLst>
    <pc:chgData name="Azam, Aaisha Mohamed Abbas Abdo Hassan" userId="S::aazam@constructor.university::c8bea94b-8f81-4bc3-9995-cc2e00a01216" providerId="AD" clId="Web-{BED3B2AE-926E-5BA1-E3EC-FCD477F5C49F}"/>
    <pc:docChg chg="modSld">
      <pc:chgData name="Azam, Aaisha Mohamed Abbas Abdo Hassan" userId="S::aazam@constructor.university::c8bea94b-8f81-4bc3-9995-cc2e00a01216" providerId="AD" clId="Web-{BED3B2AE-926E-5BA1-E3EC-FCD477F5C49F}" dt="2025-03-07T18:26:02.536" v="0" actId="1076"/>
      <pc:docMkLst>
        <pc:docMk/>
      </pc:docMkLst>
      <pc:sldChg chg="modSp">
        <pc:chgData name="Azam, Aaisha Mohamed Abbas Abdo Hassan" userId="S::aazam@constructor.university::c8bea94b-8f81-4bc3-9995-cc2e00a01216" providerId="AD" clId="Web-{BED3B2AE-926E-5BA1-E3EC-FCD477F5C49F}" dt="2025-03-07T18:26:02.536" v="0" actId="1076"/>
        <pc:sldMkLst>
          <pc:docMk/>
          <pc:sldMk cId="0" sldId="263"/>
        </pc:sldMkLst>
      </pc:sldChg>
    </pc:docChg>
  </pc:docChgLst>
  <pc:docChgLst>
    <pc:chgData name="Onder, Sinan" userId="S::sonder@constructor.university::633e1f38-ae50-4d34-823f-80dfac31ee7a" providerId="AD" clId="Web-{F5D769AC-EEFA-4AF2-B35B-3A12D8398536}"/>
    <pc:docChg chg="modSld">
      <pc:chgData name="Onder, Sinan" userId="S::sonder@constructor.university::633e1f38-ae50-4d34-823f-80dfac31ee7a" providerId="AD" clId="Web-{F5D769AC-EEFA-4AF2-B35B-3A12D8398536}" dt="2025-07-25T13:23:17.290" v="0" actId="1076"/>
      <pc:docMkLst>
        <pc:docMk/>
      </pc:docMkLst>
      <pc:sldChg chg="modSp">
        <pc:chgData name="Onder, Sinan" userId="S::sonder@constructor.university::633e1f38-ae50-4d34-823f-80dfac31ee7a" providerId="AD" clId="Web-{F5D769AC-EEFA-4AF2-B35B-3A12D8398536}" dt="2025-07-25T13:23:17.290" v="0" actId="1076"/>
        <pc:sldMkLst>
          <pc:docMk/>
          <pc:sldMk cId="0" sldId="257"/>
        </pc:sldMkLst>
        <pc:picChg chg="mod">
          <ac:chgData name="Onder, Sinan" userId="S::sonder@constructor.university::633e1f38-ae50-4d34-823f-80dfac31ee7a" providerId="AD" clId="Web-{F5D769AC-EEFA-4AF2-B35B-3A12D8398536}" dt="2025-07-25T13:23:17.290" v="0" actId="1076"/>
          <ac:picMkLst>
            <pc:docMk/>
            <pc:sldMk cId="0" sldId="257"/>
            <ac:picMk id="6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d81bfbf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d81bfbf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9825128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9825128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d81bfbf3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d81bfbf3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6e5ae6a14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6e5ae6a14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6e5ae6a14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6e5ae6a14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d81bfbf3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d81bfbf3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d81bfbf3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d81bfbf3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d81bfbf3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d81bfbf3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d81bfbf3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d81bfbf3a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missing?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d81bfbf3a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d81bfbf3a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https://everycircuit.com/circuit/5202013106995200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d81bfbf3a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d81bfbf3a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d81bfbf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d81bfbf3a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d81bfbf3a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d81bfbf3a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https://everycircuit.com/circuit/6045634936963072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d81bfbf3a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d81bfbf3a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f205ed7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f205ed7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d81bfbf3a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d81bfbf3a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https://everycircuit.com/circuit/4874096380477440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d81bfbf3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d81bfbf3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https://everycircuit.com/circuit/4874096380477440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f205ed78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ef205ed78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f205ed78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ef205ed78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https://nand2tetris.github.io/web-ide/chip/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f205ed78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f205ed78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every cycle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f205ed78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f205ed78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f205ed78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f205ed78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f205ed78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f205ed78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f205ed78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f205ed78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f205ed78a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f205ed78a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f205ed78a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f205ed78a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ef205ed78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ef205ed78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f205ed78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ef205ed78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f205ed78a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f205ed78a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f205ed78a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f205ed78a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f205ed78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f205ed78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what each component is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f205ed78a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f205ed78a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f205ed78a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ef205ed78a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ef205ed78a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ef205ed78a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ef205ed78a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ef205ed78a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ef205ed78a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ef205ed78a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085d732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085d732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f085d732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f085d732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085d7323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f085d7323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f085d7323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f085d7323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085d7323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f085d7323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f085d7323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f085d7323c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04300" y="0"/>
            <a:ext cx="5339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Architecture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3: Memory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311700" y="3369800"/>
            <a:ext cx="85206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Lector: Konstantin Chaika</a:t>
            </a:r>
            <a:endParaRPr sz="2100" b="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1700" y="3887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Based on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- David Harris, Sarah L. Harris, Digital Design and Computer Architecture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- Nand to Tetris / www.nand2tetris.org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11700" y="4534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79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Constructor</a:t>
            </a:r>
            <a: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 University Bremen</a:t>
            </a:r>
            <a:b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sz="1679" b="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me when you're tired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t="5014" b="4307"/>
          <a:stretch/>
        </p:blipFill>
        <p:spPr>
          <a:xfrm>
            <a:off x="2049836" y="2720450"/>
            <a:ext cx="4514850" cy="24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3" y="852488"/>
            <a:ext cx="65817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is done?</a:t>
            </a: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6900" y="677700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/>
              <a:t>Have we built a computer yet?</a:t>
            </a:r>
            <a:endParaRPr b="1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725" y="1191725"/>
            <a:ext cx="6761277" cy="395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is done??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we built a computer yet?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What are we missing now?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is done?!?!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we built a computer yet?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are we missing now?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Where do we get the data for the ALU?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we need a memory!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special feature does the memory have that our previous circuits did not have? (adder, ALU, …)?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432197" y="241208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VS Sequential Logic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what is the difference?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type of logic does memory belong to? 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t="11064" b="11888"/>
          <a:stretch/>
        </p:blipFill>
        <p:spPr>
          <a:xfrm>
            <a:off x="6656875" y="2588450"/>
            <a:ext cx="2487126" cy="25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Cross-coupled inverter pair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888" y="1464825"/>
            <a:ext cx="6352225" cy="31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5908475" y="4641925"/>
            <a:ext cx="268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How does it work?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states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100" y="1716900"/>
            <a:ext cx="5187800" cy="27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SR(RS)-Latch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450" y="1093848"/>
            <a:ext cx="4612250" cy="21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249" y="3504299"/>
            <a:ext cx="2936275" cy="14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6750" y="3504299"/>
            <a:ext cx="1382546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7190788" y="458465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8498" y="456503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SR(RS)-Latch have </a:t>
            </a:r>
            <a:r>
              <a:rPr lang="en" u="sng"/>
              <a:t>disadvantages</a:t>
            </a:r>
            <a:r>
              <a:rPr lang="en"/>
              <a:t>?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725" y="1267674"/>
            <a:ext cx="1382546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SR(RS)-Latch </a:t>
            </a:r>
            <a:r>
              <a:rPr lang="en" u="sng"/>
              <a:t>disadvantage</a:t>
            </a:r>
            <a:endParaRPr u="sng"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725" y="1267674"/>
            <a:ext cx="1382546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3229946" y="2879350"/>
            <a:ext cx="268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arenR"/>
            </a:pPr>
            <a:r>
              <a:rPr lang="en" sz="1800" b="1">
                <a:latin typeface="Lato"/>
                <a:ea typeface="Lato"/>
                <a:cs typeface="Lato"/>
                <a:sym typeface="Lato"/>
              </a:rPr>
              <a:t>What do we write?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arenR"/>
            </a:pPr>
            <a:r>
              <a:rPr lang="en" sz="1800" b="1">
                <a:latin typeface="Lato"/>
                <a:ea typeface="Lato"/>
                <a:cs typeface="Lato"/>
                <a:sym typeface="Lato"/>
              </a:rPr>
              <a:t>When do we write?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has a processing 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 rotWithShape="1">
          <a:blip r:embed="rId3">
            <a:alphaModFix/>
          </a:blip>
          <a:srcRect t="12242" b="28613"/>
          <a:stretch/>
        </p:blipFill>
        <p:spPr>
          <a:xfrm>
            <a:off x="1243250" y="1399975"/>
            <a:ext cx="6657499" cy="22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7190788" y="458465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8498" y="456503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words about Clock</a:t>
            </a: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components, different speed?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synchronize the work of components?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/>
          </a:blip>
          <a:srcRect t="55949"/>
          <a:stretch/>
        </p:blipFill>
        <p:spPr>
          <a:xfrm>
            <a:off x="0" y="2396900"/>
            <a:ext cx="9144000" cy="22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311700" y="-881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 behavior over time</a:t>
            </a:r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350" y="570300"/>
            <a:ext cx="6499300" cy="45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D-Latch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50" y="1238975"/>
            <a:ext cx="5639499" cy="197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375" y="3561675"/>
            <a:ext cx="5827250" cy="14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7485613" y="381240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323" y="379278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D-Latch disadvantage</a:t>
            </a:r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50" y="1238975"/>
            <a:ext cx="5639499" cy="197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/>
        </p:nvSpPr>
        <p:spPr>
          <a:xfrm>
            <a:off x="3818425" y="443165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136" y="441203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2065800" y="3464200"/>
            <a:ext cx="501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Lato"/>
                <a:ea typeface="Lato"/>
                <a:cs typeface="Lato"/>
                <a:sym typeface="Lato"/>
              </a:rPr>
              <a:t>When does the state of the outputs change?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D-flip-flop (D-trigger)</a:t>
            </a:r>
            <a:endParaRPr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250" y="1238950"/>
            <a:ext cx="2965749" cy="23302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2150" y="3198697"/>
            <a:ext cx="2477625" cy="165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1259750" y="4104125"/>
            <a:ext cx="227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Lato"/>
                <a:ea typeface="Lato"/>
                <a:cs typeface="Lato"/>
                <a:sym typeface="Lato"/>
              </a:rPr>
              <a:t>How does it work?</a:t>
            </a:r>
            <a:endParaRPr sz="18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1"/>
          <p:cNvSpPr/>
          <p:nvPr/>
        </p:nvSpPr>
        <p:spPr>
          <a:xfrm rot="1499195">
            <a:off x="4246197" y="4039021"/>
            <a:ext cx="1584491" cy="211448"/>
          </a:xfrm>
          <a:custGeom>
            <a:avLst/>
            <a:gdLst/>
            <a:ahLst/>
            <a:cxnLst/>
            <a:rect l="l" t="t" r="r" b="b"/>
            <a:pathLst>
              <a:path w="99082" h="8458" extrusionOk="0">
                <a:moveTo>
                  <a:pt x="0" y="1457"/>
                </a:moveTo>
                <a:cubicBezTo>
                  <a:pt x="8500" y="2623"/>
                  <a:pt x="34484" y="8694"/>
                  <a:pt x="50998" y="8451"/>
                </a:cubicBezTo>
                <a:cubicBezTo>
                  <a:pt x="67512" y="8208"/>
                  <a:pt x="91068" y="1409"/>
                  <a:pt x="99082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05" name="Google Shape;20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13" y="2290999"/>
            <a:ext cx="8003376" cy="28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D-flip-flop is given</a:t>
            </a: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DFF is given in your home work and you will use it as a base building block for another components.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disadvantage you can see here?</a:t>
            </a:r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always want to control everything.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want to know when each signal will change</a:t>
            </a:r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21" name="Google Shape;22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200" y="2910322"/>
            <a:ext cx="2477625" cy="16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1-bit registers</a:t>
            </a: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What’s the </a:t>
            </a:r>
            <a:r>
              <a:rPr lang="en" b="1"/>
              <a:t>load</a:t>
            </a:r>
            <a:r>
              <a:rPr lang="en"/>
              <a:t> signal?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implement 1-bit register?</a:t>
            </a:r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1-Bit register signal diagram</a:t>
            </a:r>
            <a:endParaRPr/>
          </a:p>
        </p:txBody>
      </p:sp>
      <p:sp>
        <p:nvSpPr>
          <p:cNvPr id="234" name="Google Shape;2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513" y="1150125"/>
            <a:ext cx="6790976" cy="399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Multi-bit register</a:t>
            </a:r>
            <a:endParaRPr/>
          </a:p>
        </p:txBody>
      </p:sp>
      <p:sp>
        <p:nvSpPr>
          <p:cNvPr id="241" name="Google Shape;241;p3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implement it?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many bits we need in our CPU?</a:t>
            </a:r>
            <a:endParaRPr/>
          </a:p>
        </p:txBody>
      </p:sp>
      <p:sp>
        <p:nvSpPr>
          <p:cNvPr id="242" name="Google Shape;24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43" name="Google Shape;24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000" y="2491175"/>
            <a:ext cx="3746300" cy="20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Register file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Inside CPU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Stores the data that the processor is currently working with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External storage (from the CPU's point of view)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Stores instructions and all other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reality, they have nothing in common in terms of hardware implementation.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There's common ground in terms of the interface.</a:t>
            </a:r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interface</a:t>
            </a:r>
            <a:endParaRPr/>
          </a:p>
        </p:txBody>
      </p:sp>
      <p:sp>
        <p:nvSpPr>
          <p:cNvPr id="256" name="Google Shape;256;p3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it include?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abstraction</a:t>
            </a:r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choose k?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choose n?</a:t>
            </a:r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65" name="Google Shape;2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150" y="1246250"/>
            <a:ext cx="3796942" cy="3264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instruction to execute?</a:t>
            </a:r>
            <a:endParaRPr/>
          </a:p>
        </p:txBody>
      </p:sp>
      <p:sp>
        <p:nvSpPr>
          <p:cNvPr id="271" name="Google Shape;271;p4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we're storing instructions in our memory.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read one instruction and executed it. How do we know what the next one is?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 -- Program Counter</a:t>
            </a:r>
            <a:endParaRPr/>
          </a:p>
        </p:txBody>
      </p:sp>
      <p:sp>
        <p:nvSpPr>
          <p:cNvPr id="278" name="Google Shape;278;p4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interface should it have?</a:t>
            </a:r>
            <a:endParaRPr/>
          </a:p>
        </p:txBody>
      </p:sp>
      <p:sp>
        <p:nvSpPr>
          <p:cNvPr id="279" name="Google Shape;27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 interface </a:t>
            </a:r>
            <a:endParaRPr/>
          </a:p>
        </p:txBody>
      </p:sp>
      <p:sp>
        <p:nvSpPr>
          <p:cNvPr id="285" name="Google Shape;285;p4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86" name="Google Shape;28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000" y="1929600"/>
            <a:ext cx="7918001" cy="15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293" name="Google Shape;293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Work</a:t>
            </a:r>
            <a:endParaRPr/>
          </a:p>
        </p:txBody>
      </p:sp>
      <p:sp>
        <p:nvSpPr>
          <p:cNvPr id="299" name="Google Shape;299;p4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DFF (given)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 (1-bit register)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Register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RAM8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RAM64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RAM512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RAM4K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RAM16K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</a:t>
            </a:r>
            <a:endParaRPr/>
          </a:p>
        </p:txBody>
      </p:sp>
      <p:sp>
        <p:nvSpPr>
          <p:cNvPr id="300" name="Google Shape;300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?</a:t>
            </a:r>
            <a:endParaRPr/>
          </a:p>
        </p:txBody>
      </p:sp>
      <p:sp>
        <p:nvSpPr>
          <p:cNvPr id="306" name="Google Shape;306;p4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to implement it?</a:t>
            </a:r>
            <a:endParaRPr/>
          </a:p>
        </p:txBody>
      </p:sp>
      <p:pic>
        <p:nvPicPr>
          <p:cNvPr id="307" name="Google Shape;3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073" y="1750075"/>
            <a:ext cx="5770699" cy="339342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309" name="Google Shape;309;p45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!</a:t>
            </a:r>
            <a:endParaRPr/>
          </a:p>
        </p:txBody>
      </p:sp>
      <p:sp>
        <p:nvSpPr>
          <p:cNvPr id="315" name="Google Shape;31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316" name="Google Shape;316;p46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pic>
        <p:nvPicPr>
          <p:cNvPr id="317" name="Google Shape;3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25" y="1593000"/>
            <a:ext cx="8148160" cy="291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</a:t>
            </a:r>
            <a:endParaRPr/>
          </a:p>
        </p:txBody>
      </p:sp>
      <p:sp>
        <p:nvSpPr>
          <p:cNvPr id="323" name="Google Shape;323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324" name="Google Shape;324;p47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sp>
        <p:nvSpPr>
          <p:cNvPr id="325" name="Google Shape;325;p4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16-bit register</a:t>
            </a:r>
            <a:endParaRPr/>
          </a:p>
        </p:txBody>
      </p:sp>
      <p:pic>
        <p:nvPicPr>
          <p:cNvPr id="326" name="Google Shape;3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575" y="3408325"/>
            <a:ext cx="1404724" cy="125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850" y="1859925"/>
            <a:ext cx="3746300" cy="20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575" y="1295188"/>
            <a:ext cx="3730200" cy="32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RAM8 ?</a:t>
            </a:r>
            <a:endParaRPr/>
          </a:p>
        </p:txBody>
      </p:sp>
      <p:sp>
        <p:nvSpPr>
          <p:cNvPr id="334" name="Google Shape;334;p48"/>
          <p:cNvSpPr txBox="1">
            <a:spLocks noGrp="1"/>
          </p:cNvSpPr>
          <p:nvPr>
            <p:ph type="body" idx="1"/>
          </p:nvPr>
        </p:nvSpPr>
        <p:spPr>
          <a:xfrm>
            <a:off x="56925" y="1228675"/>
            <a:ext cx="54423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Any ideas about implementation for </a:t>
            </a:r>
            <a:r>
              <a:rPr lang="en" sz="1600" b="1"/>
              <a:t>n == 8</a:t>
            </a:r>
            <a:r>
              <a:rPr lang="en" sz="1600"/>
              <a:t>?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/>
              <a:t>Read</a:t>
            </a:r>
            <a:endParaRPr sz="1600" b="1"/>
          </a:p>
          <a:p>
            <a:pPr marL="3429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select which register output be used?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/>
              <a:t>Write</a:t>
            </a:r>
            <a:endParaRPr sz="1600" b="1"/>
          </a:p>
          <a:p>
            <a:pPr marL="3429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select which register should be loaded?</a:t>
            </a:r>
            <a:endParaRPr sz="1600"/>
          </a:p>
          <a:p>
            <a:pPr marL="3429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send in signal to the input of the right register?  </a:t>
            </a:r>
            <a:endParaRPr sz="1600"/>
          </a:p>
        </p:txBody>
      </p:sp>
      <p:sp>
        <p:nvSpPr>
          <p:cNvPr id="335" name="Google Shape;335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336" name="Google Shape;336;p48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RAM8 !</a:t>
            </a:r>
            <a:endParaRPr/>
          </a:p>
        </p:txBody>
      </p:sp>
      <p:sp>
        <p:nvSpPr>
          <p:cNvPr id="342" name="Google Shape;342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343" name="Google Shape;34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200" y="1538148"/>
            <a:ext cx="6459599" cy="35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9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RAM64, 512, 4K, 16K ?</a:t>
            </a:r>
            <a:endParaRPr/>
          </a:p>
        </p:txBody>
      </p:sp>
      <p:sp>
        <p:nvSpPr>
          <p:cNvPr id="350" name="Google Shape;350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351" name="Google Shape;351;p50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pic>
        <p:nvPicPr>
          <p:cNvPr id="352" name="Google Shape;3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737" y="1877400"/>
            <a:ext cx="7308525" cy="31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ideas about realization?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RAM64, 512, 4K, 16K !</a:t>
            </a:r>
            <a:endParaRPr/>
          </a:p>
        </p:txBody>
      </p:sp>
      <p:sp>
        <p:nvSpPr>
          <p:cNvPr id="359" name="Google Shape;359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360" name="Google Shape;360;p51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pic>
        <p:nvPicPr>
          <p:cNvPr id="361" name="Google Shape;36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388" y="1093850"/>
            <a:ext cx="6163231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 ?</a:t>
            </a:r>
            <a:endParaRPr/>
          </a:p>
        </p:txBody>
      </p:sp>
      <p:sp>
        <p:nvSpPr>
          <p:cNvPr id="367" name="Google Shape;367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368" name="Google Shape;368;p52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▶PC</a:t>
            </a:r>
            <a:endParaRPr sz="400"/>
          </a:p>
        </p:txBody>
      </p:sp>
      <p:pic>
        <p:nvPicPr>
          <p:cNvPr id="369" name="Google Shape;36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000" y="2539200"/>
            <a:ext cx="7918001" cy="1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10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ideas about realization?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HW</a:t>
            </a:r>
            <a:endParaRPr/>
          </a:p>
        </p:txBody>
      </p:sp>
      <p:sp>
        <p:nvSpPr>
          <p:cNvPr id="376" name="Google Shape;376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377" name="Google Shape;3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150" y="1246250"/>
            <a:ext cx="7221709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HW</a:t>
            </a:r>
            <a:endParaRPr/>
          </a:p>
        </p:txBody>
      </p:sp>
      <p:sp>
        <p:nvSpPr>
          <p:cNvPr id="383" name="Google Shape;38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pic>
        <p:nvPicPr>
          <p:cNvPr id="384" name="Google Shape;38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788" y="1246250"/>
            <a:ext cx="7160430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Ready to do the homework?</a:t>
            </a:r>
            <a:endParaRPr/>
          </a:p>
        </p:txBody>
      </p:sp>
      <p:sp>
        <p:nvSpPr>
          <p:cNvPr id="390" name="Google Shape;39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391" name="Google Shape;391;p55"/>
          <p:cNvPicPr preferRelativeResize="0"/>
          <p:nvPr/>
        </p:nvPicPr>
        <p:blipFill rotWithShape="1">
          <a:blip r:embed="rId3">
            <a:alphaModFix/>
          </a:blip>
          <a:srcRect l="6052" t="22763" r="6862" b="18155"/>
          <a:stretch/>
        </p:blipFill>
        <p:spPr>
          <a:xfrm>
            <a:off x="2909675" y="1442450"/>
            <a:ext cx="3293825" cy="31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c32a25-091c-4bf8-97bd-6d87deae368e">
      <Terms xmlns="http://schemas.microsoft.com/office/infopath/2007/PartnerControls"/>
    </lcf76f155ced4ddcb4097134ff3c332f>
    <TaxCatchAll xmlns="43211266-15a2-4273-b298-e1da35e3510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BD9EB7E11F04EA357E6193B42B320" ma:contentTypeVersion="11" ma:contentTypeDescription="Create a new document." ma:contentTypeScope="" ma:versionID="8f9c07e4a451874118cb5857def06f94">
  <xsd:schema xmlns:xsd="http://www.w3.org/2001/XMLSchema" xmlns:xs="http://www.w3.org/2001/XMLSchema" xmlns:p="http://schemas.microsoft.com/office/2006/metadata/properties" xmlns:ns2="55c32a25-091c-4bf8-97bd-6d87deae368e" xmlns:ns3="43211266-15a2-4273-b298-e1da35e3510c" targetNamespace="http://schemas.microsoft.com/office/2006/metadata/properties" ma:root="true" ma:fieldsID="f58ab503aa9fd46ead416d745539b33d" ns2:_="" ns3:_="">
    <xsd:import namespace="55c32a25-091c-4bf8-97bd-6d87deae368e"/>
    <xsd:import namespace="43211266-15a2-4273-b298-e1da35e351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32a25-091c-4bf8-97bd-6d87deae3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4681046-6e08-4508-887b-d7ffc39f86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11266-15a2-4273-b298-e1da35e351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ba52b8-3cf6-4dd8-bb6b-c284c0787a6b}" ma:internalName="TaxCatchAll" ma:showField="CatchAllData" ma:web="43211266-15a2-4273-b298-e1da35e351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E4BCB8-4F4A-42BB-AA0B-9963255CBC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95422-EBA0-4789-B2A5-FEE277FF82FC}">
  <ds:schemaRefs>
    <ds:schemaRef ds:uri="http://schemas.microsoft.com/office/2006/metadata/properties"/>
    <ds:schemaRef ds:uri="http://schemas.microsoft.com/office/infopath/2007/PartnerControls"/>
    <ds:schemaRef ds:uri="55c32a25-091c-4bf8-97bd-6d87deae368e"/>
    <ds:schemaRef ds:uri="43211266-15a2-4273-b298-e1da35e3510c"/>
  </ds:schemaRefs>
</ds:datastoreItem>
</file>

<file path=customXml/itemProps3.xml><?xml version="1.0" encoding="utf-8"?>
<ds:datastoreItem xmlns:ds="http://schemas.openxmlformats.org/officeDocument/2006/customXml" ds:itemID="{273099B9-07A4-4520-976E-05275A86C3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c32a25-091c-4bf8-97bd-6d87deae368e"/>
    <ds:schemaRef ds:uri="43211266-15a2-4273-b298-e1da35e351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Ekran Gösterisi (16:9)</PresentationFormat>
  <Slides>43</Slides>
  <Notes>43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43</vt:i4>
      </vt:variant>
    </vt:vector>
  </HeadingPairs>
  <TitlesOfParts>
    <vt:vector size="44" baseType="lpstr">
      <vt:lpstr>Beach Day</vt:lpstr>
      <vt:lpstr>Computer Architecture Lecture 3: Memory</vt:lpstr>
      <vt:lpstr>Tell me when you're tired  </vt:lpstr>
      <vt:lpstr>PowerPoint Sunusu</vt:lpstr>
      <vt:lpstr>ALU is done?</vt:lpstr>
      <vt:lpstr>ALU is done??</vt:lpstr>
      <vt:lpstr>ALU is done?!?!</vt:lpstr>
      <vt:lpstr>So, we need a memory!</vt:lpstr>
      <vt:lpstr>Combinational VS Sequential Logic</vt:lpstr>
      <vt:lpstr>Cross-coupled inverter pair</vt:lpstr>
      <vt:lpstr>Stable states</vt:lpstr>
      <vt:lpstr>SR(RS)-Latch</vt:lpstr>
      <vt:lpstr>Do SR(RS)-Latch have disadvantages?</vt:lpstr>
      <vt:lpstr>SR(RS)-Latch disadvantage</vt:lpstr>
      <vt:lpstr>Everything has a processing time </vt:lpstr>
      <vt:lpstr>A few words about Clock</vt:lpstr>
      <vt:lpstr>Chip behavior over time</vt:lpstr>
      <vt:lpstr>D-Latch</vt:lpstr>
      <vt:lpstr>D-Latch disadvantage</vt:lpstr>
      <vt:lpstr>D-flip-flop (D-trigger)</vt:lpstr>
      <vt:lpstr>D-flip-flop is given</vt:lpstr>
      <vt:lpstr>What disadvantage you can see here?</vt:lpstr>
      <vt:lpstr>1-bit registers</vt:lpstr>
      <vt:lpstr>1-Bit register signal diagram</vt:lpstr>
      <vt:lpstr>Multi-bit register</vt:lpstr>
      <vt:lpstr>Memory</vt:lpstr>
      <vt:lpstr>Memory interface</vt:lpstr>
      <vt:lpstr>Memory abstraction</vt:lpstr>
      <vt:lpstr>Which instruction to execute?</vt:lpstr>
      <vt:lpstr>PC -- Program Counter</vt:lpstr>
      <vt:lpstr>PC interface </vt:lpstr>
      <vt:lpstr>Practice</vt:lpstr>
      <vt:lpstr>Home Work</vt:lpstr>
      <vt:lpstr>Bit ?</vt:lpstr>
      <vt:lpstr>Bit !</vt:lpstr>
      <vt:lpstr>Register</vt:lpstr>
      <vt:lpstr>RAM8 ?</vt:lpstr>
      <vt:lpstr>RAM8 !</vt:lpstr>
      <vt:lpstr>RAM64, 512, 4K, 16K ?</vt:lpstr>
      <vt:lpstr>RAM64, 512, 4K, 16K !</vt:lpstr>
      <vt:lpstr>PC ?</vt:lpstr>
      <vt:lpstr>Previous HW</vt:lpstr>
      <vt:lpstr>Current HW</vt:lpstr>
      <vt:lpstr>Ready to do the homework?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18</cp:revision>
  <dcterms:modified xsi:type="dcterms:W3CDTF">2025-07-25T13:23:18Z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0x010100760BD9EB7E11F04EA357E6193B42B320</vt:lpwstr>
  </property>
  <property fmtid="{D5CDD505-2E9C-101B-9397-08002B2CF9AE}" pid="3" name="MediaServiceImageTags">
    <vt:lpwstr/>
  </property>
</Properties>
</file>