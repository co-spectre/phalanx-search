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6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</p:sldIdLst>
  <p:sldSz cx="9144000" cy="5143500" type="screen16x9"/>
  <p:notesSz cx="6858000" cy="9144000"/>
  <p:embeddedFontLst>
    <p:embeddedFont>
      <p:font typeface="Lato" panose="020F0502020204030203" pitchFamily="34" charset="0"/>
      <p:regular r:id="rId65"/>
      <p:bold r:id="rId66"/>
      <p:italic r:id="rId67"/>
      <p:boldItalic r:id="rId68"/>
    </p:embeddedFont>
    <p:embeddedFont>
      <p:font typeface="Source Code Pro" panose="020B0509030403020204" pitchFamily="49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font" Target="fonts/font4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font" Target="fonts/font2.fntdata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8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3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6.fntdata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font" Target="fonts/font1.fntdata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font" Target="fonts/font7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nmammadli, Yusif" userId="S::ykhanmamma@constructor.university::02301b94-74dd-4592-b641-ddebc1b4b4f7" providerId="AD" clId="Web-{56F6DD02-3CBA-A03D-A7B2-83EAEB4881B3}"/>
    <pc:docChg chg="modSld">
      <pc:chgData name="Khanmammadli, Yusif" userId="S::ykhanmamma@constructor.university::02301b94-74dd-4592-b641-ddebc1b4b4f7" providerId="AD" clId="Web-{56F6DD02-3CBA-A03D-A7B2-83EAEB4881B3}" dt="2025-04-22T22:39:47.326" v="1" actId="1076"/>
      <pc:docMkLst>
        <pc:docMk/>
      </pc:docMkLst>
      <pc:sldChg chg="modSp">
        <pc:chgData name="Khanmammadli, Yusif" userId="S::ykhanmamma@constructor.university::02301b94-74dd-4592-b641-ddebc1b4b4f7" providerId="AD" clId="Web-{56F6DD02-3CBA-A03D-A7B2-83EAEB4881B3}" dt="2025-04-22T20:34:22.655" v="0" actId="1076"/>
        <pc:sldMkLst>
          <pc:docMk/>
          <pc:sldMk cId="0" sldId="296"/>
        </pc:sldMkLst>
        <pc:picChg chg="mod">
          <ac:chgData name="Khanmammadli, Yusif" userId="S::ykhanmamma@constructor.university::02301b94-74dd-4592-b641-ddebc1b4b4f7" providerId="AD" clId="Web-{56F6DD02-3CBA-A03D-A7B2-83EAEB4881B3}" dt="2025-04-22T20:34:22.655" v="0" actId="1076"/>
          <ac:picMkLst>
            <pc:docMk/>
            <pc:sldMk cId="0" sldId="296"/>
            <ac:picMk id="342" creationId="{00000000-0000-0000-0000-000000000000}"/>
          </ac:picMkLst>
        </pc:picChg>
      </pc:sldChg>
      <pc:sldChg chg="modSp">
        <pc:chgData name="Khanmammadli, Yusif" userId="S::ykhanmamma@constructor.university::02301b94-74dd-4592-b641-ddebc1b4b4f7" providerId="AD" clId="Web-{56F6DD02-3CBA-A03D-A7B2-83EAEB4881B3}" dt="2025-04-22T22:39:47.326" v="1" actId="1076"/>
        <pc:sldMkLst>
          <pc:docMk/>
          <pc:sldMk cId="0" sldId="310"/>
        </pc:sldMkLst>
        <pc:picChg chg="mod">
          <ac:chgData name="Khanmammadli, Yusif" userId="S::ykhanmamma@constructor.university::02301b94-74dd-4592-b641-ddebc1b4b4f7" providerId="AD" clId="Web-{56F6DD02-3CBA-A03D-A7B2-83EAEB4881B3}" dt="2025-04-22T22:39:47.326" v="1" actId="1076"/>
          <ac:picMkLst>
            <pc:docMk/>
            <pc:sldMk cId="0" sldId="310"/>
            <ac:picMk id="44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d81bfbf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d81bfbf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d81bfbf3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d81bfbf3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21d7c07e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21d7c07e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21d7c07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21d7c07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08fa353d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008fa353d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008fa353d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008fa353d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08fa353d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08fa353d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learning how to translate the instructions whose support we design.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08fa353d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008fa353d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08fa353db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008fa353db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08fa353d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008fa353d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08fa353db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08fa353db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08fa353db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008fa353db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08fa353db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008fa353db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08fa353d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008fa353d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08fa353db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008fa353db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08fa353d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08fa353d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08fa353db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008fa353db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08fa353d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008fa353d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08fa353db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08fa353db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08fa353db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08fa353db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008fa353db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008fa353db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008fa353db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008fa353db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08fa353db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008fa353db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008fa353db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008fa353db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008fa353db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008fa353db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008fa353db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008fa353db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08fa353db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008fa353db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08fa353db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008fa353db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008fa353db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008fa353db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008fa353db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008fa353db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008fa353db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008fa353db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008fa353db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008fa353db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008fa353db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008fa353db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008fa353db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008fa353db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008fa353db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008fa353db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008fa353db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008fa353db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008fa353db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008fa353db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008fa353db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008fa353db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008fa353db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008fa353db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008fa353db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008fa353db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040329e2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040329e2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40329e2d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40329e2d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040329e2d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040329e2d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040329e2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040329e2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040329e2d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040329e2d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040329e2d6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040329e2d6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040329e2d6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040329e2d6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040329e2d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040329e2d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040329e2d6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040329e2d6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040329e2d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040329e2d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040329e2d6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040329e2d6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040329e2d6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040329e2d6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040329e2d6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040329e2d6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040329e2d6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040329e2d6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040329e2d6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040329e2d6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https://nand2tetris.github.io/web-ide/asm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040329e2d6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040329e2d6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https://nand2tetris.github.io/web-ide/asm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26260412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26260412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040329e2d6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040329e2d6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04300" y="0"/>
            <a:ext cx="5339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Architecture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6: Assembler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311700" y="3369800"/>
            <a:ext cx="8520600" cy="4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Lector: Konstantin Chaika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311700" y="3887500"/>
            <a:ext cx="8520600" cy="60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25"/>
              <a:buNone/>
            </a:pPr>
            <a:r>
              <a:rPr lang="en" sz="1251" b="0"/>
              <a:t>Based on</a:t>
            </a:r>
            <a:endParaRPr sz="1251" b="0"/>
          </a:p>
          <a:p>
            <a:pPr marL="45720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 b="0"/>
              <a:t>- David Harris, Sarah L. Harris, Digital Design and Computer Architecture</a:t>
            </a:r>
            <a:endParaRPr sz="1251" b="0"/>
          </a:p>
          <a:p>
            <a:pPr marL="45720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 b="0"/>
              <a:t>- Nand to Tetris / www.nand2tetris.org</a:t>
            </a:r>
            <a:endParaRPr sz="1251" b="0"/>
          </a:p>
        </p:txBody>
      </p:sp>
      <p:sp>
        <p:nvSpPr>
          <p:cNvPr id="60" name="Google Shape;60;p13"/>
          <p:cNvSpPr txBox="1"/>
          <p:nvPr/>
        </p:nvSpPr>
        <p:spPr>
          <a:xfrm>
            <a:off x="311693" y="4534508"/>
            <a:ext cx="85206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79" b="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Constructor University Bremen</a:t>
            </a:r>
            <a:br>
              <a:rPr lang="en" sz="1679" b="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679" b="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Spring 2025</a:t>
            </a:r>
            <a:endParaRPr sz="1679" b="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me when you're tired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t="10231" b="14535"/>
          <a:stretch/>
        </p:blipFill>
        <p:spPr>
          <a:xfrm>
            <a:off x="2802750" y="2551298"/>
            <a:ext cx="3538500" cy="259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build the computer!</a:t>
            </a: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0" y="10294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Fetch-decode-execute cycle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path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375" y="1502225"/>
            <a:ext cx="6127626" cy="364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mapped I/O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l="-3411" t="-8143" r="-8821"/>
          <a:stretch/>
        </p:blipFill>
        <p:spPr>
          <a:xfrm>
            <a:off x="1538852" y="1093850"/>
            <a:ext cx="6066299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next?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time to program it!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 translation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Hack assembler architecture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Symbol table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713" y="1246250"/>
            <a:ext cx="6982584" cy="374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translation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713" y="1093850"/>
            <a:ext cx="6276568" cy="38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instructions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A-instructions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C-instructions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A-instructions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18160"/>
          <a:stretch/>
        </p:blipFill>
        <p:spPr>
          <a:xfrm>
            <a:off x="1375275" y="1246250"/>
            <a:ext cx="6393450" cy="274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2250" y="3986875"/>
            <a:ext cx="997850" cy="99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A-instructions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275" y="1246250"/>
            <a:ext cx="6393450" cy="33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C-instructions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688" y="1093850"/>
            <a:ext cx="6152634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C-instructions</a:t>
            </a: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688" y="1093850"/>
            <a:ext cx="6152625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C-instructions</a:t>
            </a:r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688" y="1093850"/>
            <a:ext cx="6152634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C-instructions</a:t>
            </a:r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688" y="1093850"/>
            <a:ext cx="6152634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C-instructions</a:t>
            </a:r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688" y="1093850"/>
            <a:ext cx="6152634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C-instructions</a:t>
            </a:r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688" y="1093850"/>
            <a:ext cx="6152634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C-instructions</a:t>
            </a:r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688" y="1093850"/>
            <a:ext cx="6152634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180" name="Google Shape;180;p3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else should we take into account?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else besides instructions translating?</a:t>
            </a:r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187" name="Google Shape;18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38" y="1093850"/>
            <a:ext cx="5927328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194" name="Google Shape;19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303162">
            <a:off x="4729750" y="2090650"/>
            <a:ext cx="599475" cy="5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02" name="Google Shape;202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09" name="Google Shape;20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210" name="Google Shape;2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303162">
            <a:off x="4693325" y="2440575"/>
            <a:ext cx="599475" cy="5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17" name="Google Shape;21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225" name="Google Shape;22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31" name="Google Shape;23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232" name="Google Shape;23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38" name="Google Shape;238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239" name="Google Shape;23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45" name="Google Shape;24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246" name="Google Shape;2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52" name="Google Shape;252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253" name="Google Shape;2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59" name="Google Shape;25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260" name="Google Shape;26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66" name="Google Shape;26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267" name="Google Shape;26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73" name="Google Shape;273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pic>
        <p:nvPicPr>
          <p:cNvPr id="274" name="Google Shape;27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80" name="Google Shape;280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87" name="Google Shape;287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288" name="Google Shape;28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294" name="Google Shape;294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pic>
        <p:nvPicPr>
          <p:cNvPr id="295" name="Google Shape;29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301" name="Google Shape;301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pic>
        <p:nvPicPr>
          <p:cNvPr id="302" name="Google Shape;30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308" name="Google Shape;30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pic>
        <p:nvPicPr>
          <p:cNvPr id="309" name="Google Shape;30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315" name="Google Shape;315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pic>
        <p:nvPicPr>
          <p:cNvPr id="316" name="Google Shape;3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Translating programs</a:t>
            </a:r>
            <a:endParaRPr/>
          </a:p>
        </p:txBody>
      </p:sp>
      <p:sp>
        <p:nvSpPr>
          <p:cNvPr id="322" name="Google Shape;322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pic>
        <p:nvPicPr>
          <p:cNvPr id="323" name="Google Shape;32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325" y="1093850"/>
            <a:ext cx="592735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pic>
        <p:nvPicPr>
          <p:cNvPr id="329" name="Google Shape;32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975" y="152400"/>
            <a:ext cx="6128052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pic>
        <p:nvPicPr>
          <p:cNvPr id="335" name="Google Shape;33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975" y="152400"/>
            <a:ext cx="6128052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Assembler: Architecture</a:t>
            </a:r>
            <a:endParaRPr/>
          </a:p>
        </p:txBody>
      </p:sp>
      <p:sp>
        <p:nvSpPr>
          <p:cNvPr id="341" name="Google Shape;34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pic>
        <p:nvPicPr>
          <p:cNvPr id="342" name="Google Shape;34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9988" y="1009367"/>
            <a:ext cx="5966821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HackAssembler</a:t>
            </a:r>
            <a:endParaRPr/>
          </a:p>
        </p:txBody>
      </p:sp>
      <p:sp>
        <p:nvSpPr>
          <p:cNvPr id="348" name="Google Shape;348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pic>
        <p:nvPicPr>
          <p:cNvPr id="349" name="Google Shape;34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563" y="1093850"/>
            <a:ext cx="5602879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Assembler: Architecture</a:t>
            </a:r>
            <a:endParaRPr/>
          </a:p>
        </p:txBody>
      </p:sp>
      <p:sp>
        <p:nvSpPr>
          <p:cNvPr id="355" name="Google Shape;355;p5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56" name="Google Shape;35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pic>
        <p:nvPicPr>
          <p:cNvPr id="357" name="Google Shape;35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585" y="1093850"/>
            <a:ext cx="5966827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Parser API</a:t>
            </a:r>
            <a:endParaRPr/>
          </a:p>
        </p:txBody>
      </p:sp>
      <p:sp>
        <p:nvSpPr>
          <p:cNvPr id="363" name="Google Shape;36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pic>
        <p:nvPicPr>
          <p:cNvPr id="364" name="Google Shape;36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688" y="1093850"/>
            <a:ext cx="612062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Parser API</a:t>
            </a:r>
            <a:endParaRPr/>
          </a:p>
        </p:txBody>
      </p:sp>
      <p:sp>
        <p:nvSpPr>
          <p:cNvPr id="370" name="Google Shape;370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pic>
        <p:nvPicPr>
          <p:cNvPr id="371" name="Google Shape;37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688" y="1093850"/>
            <a:ext cx="612062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Parser API</a:t>
            </a:r>
            <a:endParaRPr/>
          </a:p>
        </p:txBody>
      </p:sp>
      <p:sp>
        <p:nvSpPr>
          <p:cNvPr id="377" name="Google Shape;377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pic>
        <p:nvPicPr>
          <p:cNvPr id="378" name="Google Shape;37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688" y="1093850"/>
            <a:ext cx="612062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Assembler: Architecture</a:t>
            </a:r>
            <a:endParaRPr/>
          </a:p>
        </p:txBody>
      </p:sp>
      <p:sp>
        <p:nvSpPr>
          <p:cNvPr id="384" name="Google Shape;384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pic>
        <p:nvPicPr>
          <p:cNvPr id="385" name="Google Shape;38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688" y="1093850"/>
            <a:ext cx="612062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API</a:t>
            </a:r>
            <a:endParaRPr/>
          </a:p>
        </p:txBody>
      </p:sp>
      <p:sp>
        <p:nvSpPr>
          <p:cNvPr id="391" name="Google Shape;391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pic>
        <p:nvPicPr>
          <p:cNvPr id="392" name="Google Shape;39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688" y="1093850"/>
            <a:ext cx="612062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Assembler: Architecture</a:t>
            </a:r>
            <a:endParaRPr/>
          </a:p>
        </p:txBody>
      </p:sp>
      <p:sp>
        <p:nvSpPr>
          <p:cNvPr id="398" name="Google Shape;398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  <p:pic>
        <p:nvPicPr>
          <p:cNvPr id="399" name="Google Shape;39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688" y="1093850"/>
            <a:ext cx="612062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SymbolTable API</a:t>
            </a:r>
            <a:endParaRPr/>
          </a:p>
        </p:txBody>
      </p:sp>
      <p:sp>
        <p:nvSpPr>
          <p:cNvPr id="405" name="Google Shape;405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  <p:pic>
        <p:nvPicPr>
          <p:cNvPr id="406" name="Google Shape;40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688" y="1093850"/>
            <a:ext cx="612062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Assembler: Architecture</a:t>
            </a:r>
            <a:endParaRPr/>
          </a:p>
        </p:txBody>
      </p:sp>
      <p:sp>
        <p:nvSpPr>
          <p:cNvPr id="412" name="Google Shape;412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pic>
        <p:nvPicPr>
          <p:cNvPr id="413" name="Google Shape;41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688" y="1093850"/>
            <a:ext cx="612062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Assembler API (detailed)</a:t>
            </a:r>
            <a:endParaRPr/>
          </a:p>
        </p:txBody>
      </p:sp>
      <p:sp>
        <p:nvSpPr>
          <p:cNvPr id="419" name="Google Shape;419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pic>
        <p:nvPicPr>
          <p:cNvPr id="420" name="Google Shape;42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688" y="1093850"/>
            <a:ext cx="612062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Assembler API (detailed)</a:t>
            </a:r>
            <a:endParaRPr/>
          </a:p>
        </p:txBody>
      </p:sp>
      <p:sp>
        <p:nvSpPr>
          <p:cNvPr id="426" name="Google Shape;426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  <p:pic>
        <p:nvPicPr>
          <p:cNvPr id="427" name="Google Shape;42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688" y="1093850"/>
            <a:ext cx="612062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6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Practice!</a:t>
            </a:r>
            <a:endParaRPr/>
          </a:p>
        </p:txBody>
      </p:sp>
      <p:sp>
        <p:nvSpPr>
          <p:cNvPr id="433" name="Google Shape;43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Developing a Hack Assembler</a:t>
            </a:r>
            <a:endParaRPr/>
          </a:p>
        </p:txBody>
      </p:sp>
      <p:sp>
        <p:nvSpPr>
          <p:cNvPr id="439" name="Google Shape;439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55</a:t>
            </a:fld>
            <a:endParaRPr/>
          </a:p>
        </p:txBody>
      </p:sp>
      <p:pic>
        <p:nvPicPr>
          <p:cNvPr id="440" name="Google Shape;4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171" y="1009367"/>
            <a:ext cx="6120614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446" name="Google Shape;446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56</a:t>
            </a:fld>
            <a:endParaRPr/>
          </a:p>
        </p:txBody>
      </p:sp>
      <p:pic>
        <p:nvPicPr>
          <p:cNvPr id="447" name="Google Shape;44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875" y="1093850"/>
            <a:ext cx="6838261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(2)</a:t>
            </a:r>
            <a:endParaRPr/>
          </a:p>
        </p:txBody>
      </p:sp>
      <p:sp>
        <p:nvSpPr>
          <p:cNvPr id="453" name="Google Shape;453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57</a:t>
            </a:fld>
            <a:endParaRPr/>
          </a:p>
        </p:txBody>
      </p:sp>
      <p:pic>
        <p:nvPicPr>
          <p:cNvPr id="454" name="Google Shape;45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825" y="1093850"/>
            <a:ext cx="7384339" cy="40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460" name="Google Shape;460;p7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files: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Add.hack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Max.hack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Rect.hack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Pong.hack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461" name="Google Shape;461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58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Ready for a homework?</a:t>
            </a:r>
            <a:endParaRPr/>
          </a:p>
        </p:txBody>
      </p:sp>
      <p:sp>
        <p:nvSpPr>
          <p:cNvPr id="467" name="Google Shape;467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59</a:t>
            </a:fld>
            <a:endParaRPr/>
          </a:p>
        </p:txBody>
      </p:sp>
      <p:pic>
        <p:nvPicPr>
          <p:cNvPr id="468" name="Google Shape;46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113" y="1906575"/>
            <a:ext cx="4161776" cy="308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0BD9EB7E11F04EA357E6193B42B320" ma:contentTypeVersion="11" ma:contentTypeDescription="Create a new document." ma:contentTypeScope="" ma:versionID="8f9c07e4a451874118cb5857def06f94">
  <xsd:schema xmlns:xsd="http://www.w3.org/2001/XMLSchema" xmlns:xs="http://www.w3.org/2001/XMLSchema" xmlns:p="http://schemas.microsoft.com/office/2006/metadata/properties" xmlns:ns2="55c32a25-091c-4bf8-97bd-6d87deae368e" xmlns:ns3="43211266-15a2-4273-b298-e1da35e3510c" targetNamespace="http://schemas.microsoft.com/office/2006/metadata/properties" ma:root="true" ma:fieldsID="f58ab503aa9fd46ead416d745539b33d" ns2:_="" ns3:_="">
    <xsd:import namespace="55c32a25-091c-4bf8-97bd-6d87deae368e"/>
    <xsd:import namespace="43211266-15a2-4273-b298-e1da35e351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c32a25-091c-4bf8-97bd-6d87deae3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4681046-6e08-4508-887b-d7ffc39f86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11266-15a2-4273-b298-e1da35e351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ba52b8-3cf6-4dd8-bb6b-c284c0787a6b}" ma:internalName="TaxCatchAll" ma:showField="CatchAllData" ma:web="43211266-15a2-4273-b298-e1da35e351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c32a25-091c-4bf8-97bd-6d87deae368e">
      <Terms xmlns="http://schemas.microsoft.com/office/infopath/2007/PartnerControls"/>
    </lcf76f155ced4ddcb4097134ff3c332f>
    <TaxCatchAll xmlns="43211266-15a2-4273-b298-e1da35e3510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585F72-DE12-4E07-B5A4-71778A5D55E3}">
  <ds:schemaRefs>
    <ds:schemaRef ds:uri="43211266-15a2-4273-b298-e1da35e3510c"/>
    <ds:schemaRef ds:uri="55c32a25-091c-4bf8-97bd-6d87deae36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AC54A55-EE5F-4EA0-9B31-39E4F6101205}">
  <ds:schemaRefs>
    <ds:schemaRef ds:uri="43211266-15a2-4273-b298-e1da35e3510c"/>
    <ds:schemaRef ds:uri="55c32a25-091c-4bf8-97bd-6d87deae368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88652EF-0146-4C33-80A9-DE5FDE462B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59</Slides>
  <Notes>59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Beach Day</vt:lpstr>
      <vt:lpstr>Computer Architecture Lecture 6: Assembler</vt:lpstr>
      <vt:lpstr>Tell me when you're tired  </vt:lpstr>
      <vt:lpstr>We build the computer!</vt:lpstr>
      <vt:lpstr>Memory mapped I/O</vt:lpstr>
      <vt:lpstr>What next?</vt:lpstr>
      <vt:lpstr>Roadmap</vt:lpstr>
      <vt:lpstr>Program translation</vt:lpstr>
      <vt:lpstr>Translating instructions</vt:lpstr>
      <vt:lpstr>Translating A-instructions</vt:lpstr>
      <vt:lpstr>Translating A-instructions</vt:lpstr>
      <vt:lpstr>Translating C-instructions</vt:lpstr>
      <vt:lpstr>Translating C-instructions</vt:lpstr>
      <vt:lpstr>Translating C-instructions</vt:lpstr>
      <vt:lpstr>Translating C-instructions</vt:lpstr>
      <vt:lpstr>Translating C-instructions</vt:lpstr>
      <vt:lpstr>Translating C-instructions</vt:lpstr>
      <vt:lpstr>Translating C-instructions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Translating programs</vt:lpstr>
      <vt:lpstr>PowerPoint Presentation</vt:lpstr>
      <vt:lpstr>PowerPoint Presentation</vt:lpstr>
      <vt:lpstr>Assembler: Architecture</vt:lpstr>
      <vt:lpstr>HackAssembler</vt:lpstr>
      <vt:lpstr>Assembler: Architecture</vt:lpstr>
      <vt:lpstr>Parser API</vt:lpstr>
      <vt:lpstr>Parser API</vt:lpstr>
      <vt:lpstr>Parser API</vt:lpstr>
      <vt:lpstr>Assembler: Architecture</vt:lpstr>
      <vt:lpstr>Code API</vt:lpstr>
      <vt:lpstr>Assembler: Architecture</vt:lpstr>
      <vt:lpstr>SymbolTable API</vt:lpstr>
      <vt:lpstr>Assembler: Architecture</vt:lpstr>
      <vt:lpstr>Assembler API (detailed)</vt:lpstr>
      <vt:lpstr>Assembler API (detailed)</vt:lpstr>
      <vt:lpstr>Practice!</vt:lpstr>
      <vt:lpstr>Developing a Hack Assembler</vt:lpstr>
      <vt:lpstr>Testing</vt:lpstr>
      <vt:lpstr>Testing (2)</vt:lpstr>
      <vt:lpstr>Homework</vt:lpstr>
      <vt:lpstr>Ready for a homework?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2025-05-30T01:43:04Z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0x010100760BD9EB7E11F04EA357E6193B42B320</vt:lpwstr>
  </property>
  <property fmtid="{D5CDD505-2E9C-101B-9397-08002B2CF9AE}" pid="3" name="MediaServiceImageTags">
    <vt:lpwstr/>
  </property>
</Properties>
</file>