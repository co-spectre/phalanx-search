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</p:sldIdLst>
  <p:sldSz cy="5143500" cx="9144000"/>
  <p:notesSz cx="6858000" cy="9144000"/>
  <p:embeddedFontLst>
    <p:embeddedFont>
      <p:font typeface="Amatic SC"/>
      <p:regular r:id="rId49"/>
      <p:bold r:id="rId50"/>
    </p:embeddedFont>
    <p:embeddedFont>
      <p:font typeface="Lato"/>
      <p:regular r:id="rId51"/>
      <p:bold r:id="rId52"/>
      <p:italic r:id="rId53"/>
      <p:boldItalic r:id="rId54"/>
    </p:embeddedFont>
    <p:embeddedFont>
      <p:font typeface="Source Code Pro"/>
      <p:regular r:id="rId55"/>
      <p:bold r:id="rId56"/>
      <p:italic r:id="rId57"/>
      <p:boldItalic r:id="rId5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font" Target="fonts/AmaticSC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Lato-regular.fntdata"/><Relationship Id="rId50" Type="http://schemas.openxmlformats.org/officeDocument/2006/relationships/font" Target="fonts/AmaticSC-bold.fntdata"/><Relationship Id="rId53" Type="http://schemas.openxmlformats.org/officeDocument/2006/relationships/font" Target="fonts/Lato-italic.fntdata"/><Relationship Id="rId52" Type="http://schemas.openxmlformats.org/officeDocument/2006/relationships/font" Target="fonts/Lato-bold.fntdata"/><Relationship Id="rId11" Type="http://schemas.openxmlformats.org/officeDocument/2006/relationships/slide" Target="slides/slide6.xml"/><Relationship Id="rId55" Type="http://schemas.openxmlformats.org/officeDocument/2006/relationships/font" Target="fonts/SourceCodePro-regular.fntdata"/><Relationship Id="rId10" Type="http://schemas.openxmlformats.org/officeDocument/2006/relationships/slide" Target="slides/slide5.xml"/><Relationship Id="rId54" Type="http://schemas.openxmlformats.org/officeDocument/2006/relationships/font" Target="fonts/Lato-boldItalic.fntdata"/><Relationship Id="rId13" Type="http://schemas.openxmlformats.org/officeDocument/2006/relationships/slide" Target="slides/slide8.xml"/><Relationship Id="rId57" Type="http://schemas.openxmlformats.org/officeDocument/2006/relationships/font" Target="fonts/SourceCodePro-italic.fntdata"/><Relationship Id="rId12" Type="http://schemas.openxmlformats.org/officeDocument/2006/relationships/slide" Target="slides/slide7.xml"/><Relationship Id="rId56" Type="http://schemas.openxmlformats.org/officeDocument/2006/relationships/font" Target="fonts/SourceCodePro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8" Type="http://schemas.openxmlformats.org/officeDocument/2006/relationships/font" Target="fonts/SourceCodePro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ed81bfbf3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ed81bfbf3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d98251284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d98251284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ed81bfbf3a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ed81bfbf3a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36e5ae6a14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36e5ae6a14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36e5ae6a14_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36e5ae6a14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ed81bfbf3a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ed81bfbf3a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ed81bfbf3a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ed81bfbf3a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ed81bfbf3a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ed81bfbf3a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ed81bfbf3a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ed81bfbf3a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What's missing?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ed81bfbf3a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ed81bfbf3a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https://everycircuit.com/circuit/5202013106995200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ed81bfbf3a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ed81bfbf3a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ed81bfbf3a_0_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ed81bfbf3a_0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ed81bfbf3a_0_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2ed81bfbf3a_0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https://everycircuit.com/circuit/6045634936963072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ed81bfbf3a_0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ed81bfbf3a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ef205ed78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ef205ed78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ed81bfbf3a_0_3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2ed81bfbf3a_0_3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https://everycircuit.com/circuit/4874096380477440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ed81bfbf3a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ed81bfbf3a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https://everycircuit.com/circuit/4874096380477440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ef205ed78a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2ef205ed78a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2ef205ed78a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2ef205ed78a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https://nand2tetris.github.io/web-ide/chip/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ef205ed78a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2ef205ed78a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 every cycle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ef205ed78a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2ef205ed78a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ef205ed78a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2ef205ed78a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2ef205ed78a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2ef205ed78a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ef205ed78a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2ef205ed78a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2ef205ed78a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2ef205ed78a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2ef205ed78a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2ef205ed78a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2ef205ed78a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2ef205ed78a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ef205ed78a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2ef205ed78a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ef205ed78a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2ef205ed78a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2ef205ed78a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2ef205ed78a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2ef205ed78a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2ef205ed78a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Talk about what each component is</a:t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ef205ed78a_0_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2ef205ed78a_0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2ef205ed78a_0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2ef205ed78a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2ef205ed78a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2ef205ed78a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ef205ed78a_0_3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2ef205ed78a_0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2ef205ed78a_0_3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2ef205ed78a_0_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2f085d7323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2f085d7323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2f085d7323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2f085d7323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2f085d7323c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2f085d7323c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2f085d7323c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2f085d7323c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2f085d7323c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2f085d7323c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2f085d7323c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2f085d7323c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9" name="Google Shape;39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41" name="Google Shape;41;p9"/>
          <p:cNvSpPr txBox="1"/>
          <p:nvPr>
            <p:ph idx="1" type="subTitle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2" name="Google Shape;42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b="1" sz="2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/>
        </p:txBody>
      </p:sp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/>
          <p:nvPr>
            <p:ph hasCustomPrompt="1" type="title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9" name="Google Shape;49;p11"/>
          <p:cNvSpPr txBox="1"/>
          <p:nvPr>
            <p:ph idx="1" type="body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50" name="Google Shape;50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each-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3804300" y="0"/>
            <a:ext cx="5339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9.png"/><Relationship Id="rId5" Type="http://schemas.openxmlformats.org/officeDocument/2006/relationships/image" Target="../media/image11.png"/><Relationship Id="rId6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gif"/><Relationship Id="rId4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gif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4.png"/><Relationship Id="rId4" Type="http://schemas.openxmlformats.org/officeDocument/2006/relationships/image" Target="../media/image2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8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9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2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3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6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1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3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</a:t>
            </a:r>
            <a:r>
              <a:rPr lang="en"/>
              <a:t>uter </a:t>
            </a:r>
            <a:r>
              <a:rPr lang="en"/>
              <a:t>Arch</a:t>
            </a:r>
            <a:r>
              <a:rPr lang="en"/>
              <a:t>itecture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Lecture 3: Memory</a:t>
            </a:r>
            <a:endParaRPr/>
          </a:p>
        </p:txBody>
      </p:sp>
      <p:sp>
        <p:nvSpPr>
          <p:cNvPr id="58" name="Google Shape;58;p13"/>
          <p:cNvSpPr txBox="1"/>
          <p:nvPr/>
        </p:nvSpPr>
        <p:spPr>
          <a:xfrm>
            <a:off x="311700" y="3369800"/>
            <a:ext cx="85206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212121"/>
                </a:solidFill>
                <a:latin typeface="Lato"/>
                <a:ea typeface="Lato"/>
                <a:cs typeface="Lato"/>
                <a:sym typeface="Lato"/>
              </a:rPr>
              <a:t>Lector: Konstantin Chaika</a:t>
            </a:r>
            <a:endParaRPr b="1" sz="2100">
              <a:solidFill>
                <a:srgbClr val="21212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311700" y="3887500"/>
            <a:ext cx="8520600" cy="60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1">
                <a:solidFill>
                  <a:srgbClr val="212121"/>
                </a:solidFill>
                <a:latin typeface="Lato"/>
                <a:ea typeface="Lato"/>
                <a:cs typeface="Lato"/>
                <a:sym typeface="Lato"/>
              </a:rPr>
              <a:t>Based on</a:t>
            </a:r>
            <a:endParaRPr sz="1251">
              <a:solidFill>
                <a:srgbClr val="21212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1">
                <a:solidFill>
                  <a:srgbClr val="212121"/>
                </a:solidFill>
                <a:latin typeface="Lato"/>
                <a:ea typeface="Lato"/>
                <a:cs typeface="Lato"/>
                <a:sym typeface="Lato"/>
              </a:rPr>
              <a:t>- David Harris, Sarah L. Harris, Digital Design and Computer Architecture</a:t>
            </a:r>
            <a:endParaRPr sz="1251">
              <a:solidFill>
                <a:srgbClr val="21212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1">
                <a:solidFill>
                  <a:srgbClr val="212121"/>
                </a:solidFill>
                <a:latin typeface="Lato"/>
                <a:ea typeface="Lato"/>
                <a:cs typeface="Lato"/>
                <a:sym typeface="Lato"/>
              </a:rPr>
              <a:t>- Nand to Tetris / www.nand2tetris.org</a:t>
            </a:r>
            <a:endParaRPr sz="1251">
              <a:solidFill>
                <a:srgbClr val="21212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311700" y="4534500"/>
            <a:ext cx="8520600" cy="60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79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Constructor</a:t>
            </a:r>
            <a:r>
              <a:rPr b="1" lang="en" sz="1679">
                <a:solidFill>
                  <a:srgbClr val="212121"/>
                </a:solidFill>
                <a:latin typeface="Lato"/>
                <a:ea typeface="Lato"/>
                <a:cs typeface="Lato"/>
                <a:sym typeface="Lato"/>
              </a:rPr>
              <a:t> University Bremen</a:t>
            </a:r>
            <a:br>
              <a:rPr b="1" lang="en" sz="1679">
                <a:solidFill>
                  <a:srgbClr val="21212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b="1" lang="en" sz="1679">
                <a:solidFill>
                  <a:srgbClr val="212121"/>
                </a:solidFill>
                <a:latin typeface="Lato"/>
                <a:ea typeface="Lato"/>
                <a:cs typeface="Lato"/>
                <a:sym typeface="Lato"/>
              </a:rPr>
              <a:t>Spring 2025</a:t>
            </a:r>
            <a:endParaRPr b="1" sz="1679">
              <a:solidFill>
                <a:srgbClr val="21212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Tell me when you're tired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7" name="Google Shape;67;p14"/>
          <p:cNvPicPr preferRelativeResize="0"/>
          <p:nvPr/>
        </p:nvPicPr>
        <p:blipFill rotWithShape="1">
          <a:blip r:embed="rId3">
            <a:alphaModFix/>
          </a:blip>
          <a:srcRect b="4307" l="0" r="0" t="5014"/>
          <a:stretch/>
        </p:blipFill>
        <p:spPr>
          <a:xfrm>
            <a:off x="2314575" y="2720450"/>
            <a:ext cx="4514850" cy="242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3" name="Google Shape;7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1113" y="852488"/>
            <a:ext cx="6581775" cy="343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6900" y="-119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ALU is done?</a:t>
            </a:r>
            <a:endParaRPr/>
          </a:p>
        </p:txBody>
      </p:sp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6900" y="677700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/>
              <a:t>Have we built a computer yet?</a:t>
            </a:r>
            <a:endParaRPr b="1"/>
          </a:p>
        </p:txBody>
      </p:sp>
      <p:pic>
        <p:nvPicPr>
          <p:cNvPr id="81" name="Google Shape;8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2725" y="1191725"/>
            <a:ext cx="6761277" cy="3951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ALU is done??</a:t>
            </a:r>
            <a:endParaRPr/>
          </a:p>
        </p:txBody>
      </p:sp>
      <p:sp>
        <p:nvSpPr>
          <p:cNvPr id="87" name="Google Shape;8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Have we built a computer yet?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What are we missing now?</a:t>
            </a:r>
            <a:endParaRPr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ALU is done?!?!</a:t>
            </a:r>
            <a:endParaRPr/>
          </a:p>
        </p:txBody>
      </p:sp>
      <p:sp>
        <p:nvSpPr>
          <p:cNvPr id="94" name="Google Shape;94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Have we built a computer yet?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What are we missing now?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Where do we get the data for the ALU?</a:t>
            </a:r>
            <a:endParaRPr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So, we need a memory!</a:t>
            </a:r>
            <a:endParaRPr/>
          </a:p>
        </p:txBody>
      </p:sp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What special feature does the memory have that our previous circuits did not have? (adder, ALU, …)?</a:t>
            </a:r>
            <a:endParaRPr/>
          </a:p>
        </p:txBody>
      </p:sp>
      <p:sp>
        <p:nvSpPr>
          <p:cNvPr id="102" name="Google Shape;102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Combinational VS Sequential Logic</a:t>
            </a:r>
            <a:endParaRPr/>
          </a:p>
        </p:txBody>
      </p:sp>
      <p:sp>
        <p:nvSpPr>
          <p:cNvPr id="108" name="Google Shape;108;p20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So, what is the difference?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What type of logic does memory belong to?</a:t>
            </a:r>
            <a:r>
              <a:rPr lang="en"/>
              <a:t> </a:t>
            </a:r>
            <a:endParaRPr/>
          </a:p>
        </p:txBody>
      </p:sp>
      <p:pic>
        <p:nvPicPr>
          <p:cNvPr id="109" name="Google Shape;109;p20"/>
          <p:cNvPicPr preferRelativeResize="0"/>
          <p:nvPr/>
        </p:nvPicPr>
        <p:blipFill rotWithShape="1">
          <a:blip r:embed="rId3">
            <a:alphaModFix/>
          </a:blip>
          <a:srcRect b="11888" l="0" r="0" t="11064"/>
          <a:stretch/>
        </p:blipFill>
        <p:spPr>
          <a:xfrm>
            <a:off x="6656875" y="2588450"/>
            <a:ext cx="2487126" cy="25550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Cross-coupled inverter pair</a:t>
            </a:r>
            <a:endParaRPr/>
          </a:p>
        </p:txBody>
      </p:sp>
      <p:pic>
        <p:nvPicPr>
          <p:cNvPr id="116" name="Google Shape;11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5888" y="1464825"/>
            <a:ext cx="6352225" cy="3101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1"/>
          <p:cNvSpPr txBox="1"/>
          <p:nvPr/>
        </p:nvSpPr>
        <p:spPr>
          <a:xfrm>
            <a:off x="5908475" y="4641925"/>
            <a:ext cx="268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How does it work?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8" name="Google Shape;11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Stable states</a:t>
            </a:r>
            <a:endParaRPr/>
          </a:p>
        </p:txBody>
      </p:sp>
      <p:pic>
        <p:nvPicPr>
          <p:cNvPr id="124" name="Google Shape;12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8100" y="1716900"/>
            <a:ext cx="5187800" cy="27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SR(RS)-Latch</a:t>
            </a:r>
            <a:endParaRPr/>
          </a:p>
        </p:txBody>
      </p:sp>
      <p:pic>
        <p:nvPicPr>
          <p:cNvPr id="131" name="Google Shape;13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3450" y="1093848"/>
            <a:ext cx="4612250" cy="219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6249" y="3504299"/>
            <a:ext cx="2936275" cy="143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66750" y="3504299"/>
            <a:ext cx="1382546" cy="14378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 txBox="1"/>
          <p:nvPr/>
        </p:nvSpPr>
        <p:spPr>
          <a:xfrm>
            <a:off x="7190788" y="4584650"/>
            <a:ext cx="106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Demo time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35" name="Google Shape;135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258498" y="4565030"/>
            <a:ext cx="439425" cy="439441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 </a:t>
            </a:r>
            <a:r>
              <a:rPr lang="en"/>
              <a:t>SR(RS)-Latch have </a:t>
            </a:r>
            <a:r>
              <a:rPr lang="en" u="sng"/>
              <a:t>disadvantages</a:t>
            </a:r>
            <a:r>
              <a:rPr lang="en"/>
              <a:t>?</a:t>
            </a:r>
            <a:endParaRPr/>
          </a:p>
        </p:txBody>
      </p:sp>
      <p:pic>
        <p:nvPicPr>
          <p:cNvPr id="142" name="Google Shape;14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0725" y="1267674"/>
            <a:ext cx="1382546" cy="143785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SR(RS)-Latch </a:t>
            </a:r>
            <a:r>
              <a:rPr lang="en" u="sng"/>
              <a:t>disadvantage</a:t>
            </a:r>
            <a:endParaRPr u="sng"/>
          </a:p>
        </p:txBody>
      </p:sp>
      <p:pic>
        <p:nvPicPr>
          <p:cNvPr id="149" name="Google Shape;14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0725" y="1267674"/>
            <a:ext cx="1382546" cy="143785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 txBox="1"/>
          <p:nvPr/>
        </p:nvSpPr>
        <p:spPr>
          <a:xfrm>
            <a:off x="3229946" y="2879350"/>
            <a:ext cx="2684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Lato"/>
              <a:buAutoNum type="arabicParenR"/>
            </a:pPr>
            <a:r>
              <a:rPr b="1" lang="en" sz="1800">
                <a:latin typeface="Lato"/>
                <a:ea typeface="Lato"/>
                <a:cs typeface="Lato"/>
                <a:sym typeface="Lato"/>
              </a:rPr>
              <a:t>What do we write?</a:t>
            </a:r>
            <a:endParaRPr b="1" sz="1800"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Lato"/>
              <a:buAutoNum type="arabicParenR"/>
            </a:pPr>
            <a:r>
              <a:rPr b="1" lang="en" sz="1800">
                <a:latin typeface="Lato"/>
                <a:ea typeface="Lato"/>
                <a:cs typeface="Lato"/>
                <a:sym typeface="Lato"/>
              </a:rPr>
              <a:t>When do we write?</a:t>
            </a:r>
            <a:endParaRPr b="1" sz="1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1" name="Google Shape;151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6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Everything has a processing time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26"/>
          <p:cNvPicPr preferRelativeResize="0"/>
          <p:nvPr/>
        </p:nvPicPr>
        <p:blipFill rotWithShape="1">
          <a:blip r:embed="rId3">
            <a:alphaModFix/>
          </a:blip>
          <a:srcRect b="28613" l="0" r="0" t="12242"/>
          <a:stretch/>
        </p:blipFill>
        <p:spPr>
          <a:xfrm>
            <a:off x="1243250" y="1399975"/>
            <a:ext cx="6657499" cy="221477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 txBox="1"/>
          <p:nvPr/>
        </p:nvSpPr>
        <p:spPr>
          <a:xfrm>
            <a:off x="7190788" y="4584650"/>
            <a:ext cx="106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Demo time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59" name="Google Shape;159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58498" y="4565030"/>
            <a:ext cx="439425" cy="439441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few words about Clock</a:t>
            </a:r>
            <a:endParaRPr/>
          </a:p>
        </p:txBody>
      </p:sp>
      <p:sp>
        <p:nvSpPr>
          <p:cNvPr id="166" name="Google Shape;166;p27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Different components, different speed?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to synchronize the work of components?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7" name="Google Shape;167;p27"/>
          <p:cNvPicPr preferRelativeResize="0"/>
          <p:nvPr/>
        </p:nvPicPr>
        <p:blipFill rotWithShape="1">
          <a:blip r:embed="rId3">
            <a:alphaModFix/>
          </a:blip>
          <a:srcRect b="0" l="0" r="0" t="55949"/>
          <a:stretch/>
        </p:blipFill>
        <p:spPr>
          <a:xfrm>
            <a:off x="0" y="2396900"/>
            <a:ext cx="9144000" cy="226577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8"/>
          <p:cNvSpPr txBox="1"/>
          <p:nvPr>
            <p:ph type="title"/>
          </p:nvPr>
        </p:nvSpPr>
        <p:spPr>
          <a:xfrm>
            <a:off x="311700" y="-881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Chip behavior over time</a:t>
            </a:r>
            <a:endParaRPr/>
          </a:p>
        </p:txBody>
      </p:sp>
      <p:sp>
        <p:nvSpPr>
          <p:cNvPr id="174" name="Google Shape;174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5" name="Google Shape;17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2350" y="570300"/>
            <a:ext cx="6499300" cy="457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9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D-Latch</a:t>
            </a:r>
            <a:endParaRPr/>
          </a:p>
        </p:txBody>
      </p:sp>
      <p:pic>
        <p:nvPicPr>
          <p:cNvPr id="181" name="Google Shape;18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2250" y="1238975"/>
            <a:ext cx="5639499" cy="197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58375" y="3561675"/>
            <a:ext cx="5827250" cy="141487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9"/>
          <p:cNvSpPr txBox="1"/>
          <p:nvPr/>
        </p:nvSpPr>
        <p:spPr>
          <a:xfrm>
            <a:off x="7485613" y="3812400"/>
            <a:ext cx="106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Demo time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84" name="Google Shape;184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53323" y="3792780"/>
            <a:ext cx="439425" cy="439441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0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D-Latch disadvantage</a:t>
            </a:r>
            <a:endParaRPr/>
          </a:p>
        </p:txBody>
      </p:sp>
      <p:sp>
        <p:nvSpPr>
          <p:cNvPr id="191" name="Google Shape;191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2" name="Google Shape;19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2250" y="1238975"/>
            <a:ext cx="5639499" cy="1974425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30"/>
          <p:cNvSpPr txBox="1"/>
          <p:nvPr/>
        </p:nvSpPr>
        <p:spPr>
          <a:xfrm>
            <a:off x="3818425" y="4431650"/>
            <a:ext cx="106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Demo time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94" name="Google Shape;194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86136" y="4412030"/>
            <a:ext cx="439425" cy="439441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30"/>
          <p:cNvSpPr txBox="1"/>
          <p:nvPr/>
        </p:nvSpPr>
        <p:spPr>
          <a:xfrm>
            <a:off x="2065800" y="3464200"/>
            <a:ext cx="501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Lato"/>
                <a:ea typeface="Lato"/>
                <a:cs typeface="Lato"/>
                <a:sym typeface="Lato"/>
              </a:rPr>
              <a:t>When does the state of the outputs change?</a:t>
            </a:r>
            <a:endParaRPr b="1" sz="18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D-flip-flop (D-trigger)</a:t>
            </a:r>
            <a:endParaRPr/>
          </a:p>
        </p:txBody>
      </p:sp>
      <p:pic>
        <p:nvPicPr>
          <p:cNvPr id="201" name="Google Shape;20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6250" y="1238950"/>
            <a:ext cx="2965749" cy="23302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02" name="Google Shape;202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72150" y="3198697"/>
            <a:ext cx="2477625" cy="165855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31"/>
          <p:cNvSpPr txBox="1"/>
          <p:nvPr/>
        </p:nvSpPr>
        <p:spPr>
          <a:xfrm>
            <a:off x="1259750" y="4104125"/>
            <a:ext cx="227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Lato"/>
                <a:ea typeface="Lato"/>
                <a:cs typeface="Lato"/>
                <a:sym typeface="Lato"/>
              </a:rPr>
              <a:t>How does it work?</a:t>
            </a:r>
            <a:endParaRPr b="1" sz="1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4" name="Google Shape;204;p31"/>
          <p:cNvSpPr/>
          <p:nvPr/>
        </p:nvSpPr>
        <p:spPr>
          <a:xfrm rot="1499195">
            <a:off x="4246197" y="4039021"/>
            <a:ext cx="1584491" cy="211448"/>
          </a:xfrm>
          <a:custGeom>
            <a:rect b="b" l="l" r="r" t="t"/>
            <a:pathLst>
              <a:path extrusionOk="0" h="8458" w="99082">
                <a:moveTo>
                  <a:pt x="0" y="1457"/>
                </a:moveTo>
                <a:cubicBezTo>
                  <a:pt x="8500" y="2623"/>
                  <a:pt x="34484" y="8694"/>
                  <a:pt x="50998" y="8451"/>
                </a:cubicBezTo>
                <a:cubicBezTo>
                  <a:pt x="67512" y="8208"/>
                  <a:pt x="91068" y="1409"/>
                  <a:pt x="99082" y="0"/>
                </a:cubicBezTo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205" name="Google Shape;205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0313" y="2290999"/>
            <a:ext cx="8003376" cy="28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32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D-flip-flop is given</a:t>
            </a:r>
            <a:endParaRPr/>
          </a:p>
        </p:txBody>
      </p:sp>
      <p:sp>
        <p:nvSpPr>
          <p:cNvPr id="212" name="Google Shape;212;p32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DFF is given in your </a:t>
            </a:r>
            <a:r>
              <a:rPr lang="en"/>
              <a:t>home</a:t>
            </a:r>
            <a:r>
              <a:rPr lang="en"/>
              <a:t> work and you will use it as a base building block for another components.</a:t>
            </a:r>
            <a:endParaRPr/>
          </a:p>
        </p:txBody>
      </p:sp>
      <p:sp>
        <p:nvSpPr>
          <p:cNvPr id="213" name="Google Shape;213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3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</a:t>
            </a:r>
            <a:r>
              <a:rPr lang="en"/>
              <a:t>disadvantage you can see here?</a:t>
            </a:r>
            <a:endParaRPr/>
          </a:p>
        </p:txBody>
      </p:sp>
      <p:sp>
        <p:nvSpPr>
          <p:cNvPr id="219" name="Google Shape;219;p33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We always want to control </a:t>
            </a:r>
            <a:r>
              <a:rPr lang="en"/>
              <a:t>everything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We want to know when each signal will change</a:t>
            </a:r>
            <a:endParaRPr/>
          </a:p>
        </p:txBody>
      </p:sp>
      <p:sp>
        <p:nvSpPr>
          <p:cNvPr id="220" name="Google Shape;220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1" name="Google Shape;221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33200" y="2910322"/>
            <a:ext cx="2477625" cy="165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1-bit r</a:t>
            </a:r>
            <a:r>
              <a:rPr lang="en"/>
              <a:t>egisters</a:t>
            </a:r>
            <a:endParaRPr/>
          </a:p>
        </p:txBody>
      </p:sp>
      <p:sp>
        <p:nvSpPr>
          <p:cNvPr id="227" name="Google Shape;227;p3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What’s </a:t>
            </a:r>
            <a:r>
              <a:rPr lang="en"/>
              <a:t>the</a:t>
            </a:r>
            <a:r>
              <a:rPr lang="en"/>
              <a:t> </a:t>
            </a:r>
            <a:r>
              <a:rPr b="1" lang="en"/>
              <a:t>load</a:t>
            </a:r>
            <a:r>
              <a:rPr lang="en"/>
              <a:t> </a:t>
            </a:r>
            <a:r>
              <a:rPr lang="en"/>
              <a:t>signal?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How to implement 1-bit register?</a:t>
            </a:r>
            <a:endParaRPr/>
          </a:p>
        </p:txBody>
      </p:sp>
      <p:sp>
        <p:nvSpPr>
          <p:cNvPr id="228" name="Google Shape;228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1-Bit register signal diagram</a:t>
            </a:r>
            <a:endParaRPr/>
          </a:p>
        </p:txBody>
      </p:sp>
      <p:sp>
        <p:nvSpPr>
          <p:cNvPr id="234" name="Google Shape;234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5" name="Google Shape;23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6513" y="1150125"/>
            <a:ext cx="6790976" cy="3993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6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</a:t>
            </a:r>
            <a:r>
              <a:rPr lang="en"/>
              <a:t>ulti-bit register</a:t>
            </a:r>
            <a:endParaRPr/>
          </a:p>
        </p:txBody>
      </p:sp>
      <p:sp>
        <p:nvSpPr>
          <p:cNvPr id="241" name="Google Shape;241;p36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How to implement it?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How many bits we need in our CPU?</a:t>
            </a:r>
            <a:endParaRPr/>
          </a:p>
        </p:txBody>
      </p:sp>
      <p:sp>
        <p:nvSpPr>
          <p:cNvPr id="242" name="Google Shape;242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3" name="Google Shape;24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6000" y="2491175"/>
            <a:ext cx="3746300" cy="207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7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Memory</a:t>
            </a:r>
            <a:endParaRPr/>
          </a:p>
        </p:txBody>
      </p:sp>
      <p:sp>
        <p:nvSpPr>
          <p:cNvPr id="249" name="Google Shape;249;p37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Register file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Inside CPU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Stores the data that the processor is currently working with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RAM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External storage (f</a:t>
            </a:r>
            <a:r>
              <a:rPr lang="en"/>
              <a:t>rom the CPU</a:t>
            </a:r>
            <a:r>
              <a:rPr lang="en"/>
              <a:t>'s</a:t>
            </a:r>
            <a:r>
              <a:rPr lang="en"/>
              <a:t> point of view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Stores instructions and all other data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 reality, they have nothing in common in terms of hardware implementation.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There's common ground in terms of the interface.</a:t>
            </a:r>
            <a:endParaRPr/>
          </a:p>
        </p:txBody>
      </p:sp>
      <p:sp>
        <p:nvSpPr>
          <p:cNvPr id="250" name="Google Shape;250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8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Memory interface</a:t>
            </a:r>
            <a:endParaRPr/>
          </a:p>
        </p:txBody>
      </p:sp>
      <p:sp>
        <p:nvSpPr>
          <p:cNvPr id="256" name="Google Shape;256;p38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should it include?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9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Memory abstraction</a:t>
            </a:r>
            <a:endParaRPr/>
          </a:p>
        </p:txBody>
      </p:sp>
      <p:sp>
        <p:nvSpPr>
          <p:cNvPr id="263" name="Google Shape;263;p39"/>
          <p:cNvSpPr txBox="1"/>
          <p:nvPr>
            <p:ph idx="1" type="body"/>
          </p:nvPr>
        </p:nvSpPr>
        <p:spPr>
          <a:xfrm>
            <a:off x="311700" y="1228675"/>
            <a:ext cx="42603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How to choose k?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How to choose n?</a:t>
            </a:r>
            <a:endParaRPr/>
          </a:p>
        </p:txBody>
      </p:sp>
      <p:sp>
        <p:nvSpPr>
          <p:cNvPr id="264" name="Google Shape;264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65" name="Google Shape;265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9150" y="1246250"/>
            <a:ext cx="3796942" cy="32645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0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Which instruction to execute?</a:t>
            </a:r>
            <a:endParaRPr/>
          </a:p>
        </p:txBody>
      </p:sp>
      <p:sp>
        <p:nvSpPr>
          <p:cNvPr id="271" name="Google Shape;271;p40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Imagine we're storing instructions in our memory.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We read one instruction and executed it. How do we know what the next one is?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 -- Program Counter</a:t>
            </a:r>
            <a:endParaRPr/>
          </a:p>
        </p:txBody>
      </p:sp>
      <p:sp>
        <p:nvSpPr>
          <p:cNvPr id="278" name="Google Shape;278;p4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What interface should it have?</a:t>
            </a:r>
            <a:endParaRPr/>
          </a:p>
        </p:txBody>
      </p:sp>
      <p:sp>
        <p:nvSpPr>
          <p:cNvPr id="279" name="Google Shape;279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2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 interface</a:t>
            </a:r>
            <a:r>
              <a:rPr lang="en"/>
              <a:t> </a:t>
            </a:r>
            <a:endParaRPr/>
          </a:p>
        </p:txBody>
      </p:sp>
      <p:sp>
        <p:nvSpPr>
          <p:cNvPr id="285" name="Google Shape;285;p42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87" name="Google Shape;287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3000" y="1929600"/>
            <a:ext cx="7918001" cy="151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3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Practice</a:t>
            </a:r>
            <a:endParaRPr/>
          </a:p>
        </p:txBody>
      </p:sp>
      <p:sp>
        <p:nvSpPr>
          <p:cNvPr id="293" name="Google Shape;293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 Work</a:t>
            </a:r>
            <a:endParaRPr/>
          </a:p>
        </p:txBody>
      </p:sp>
      <p:sp>
        <p:nvSpPr>
          <p:cNvPr id="299" name="Google Shape;299;p4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DFF (given)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Bit (1-bit register)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Register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RAM8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RAM64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RAM512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RAM4K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RAM16K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PC</a:t>
            </a:r>
            <a:endParaRPr/>
          </a:p>
        </p:txBody>
      </p:sp>
      <p:sp>
        <p:nvSpPr>
          <p:cNvPr id="300" name="Google Shape;300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Bit ?</a:t>
            </a:r>
            <a:endParaRPr/>
          </a:p>
        </p:txBody>
      </p:sp>
      <p:sp>
        <p:nvSpPr>
          <p:cNvPr id="306" name="Google Shape;306;p45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How to implement it?</a:t>
            </a:r>
            <a:endParaRPr/>
          </a:p>
        </p:txBody>
      </p:sp>
      <p:pic>
        <p:nvPicPr>
          <p:cNvPr id="307" name="Google Shape;307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3073" y="1750075"/>
            <a:ext cx="5770699" cy="3393424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9" name="Google Shape;309;p45"/>
          <p:cNvSpPr txBox="1"/>
          <p:nvPr/>
        </p:nvSpPr>
        <p:spPr>
          <a:xfrm>
            <a:off x="7597875" y="0"/>
            <a:ext cx="1545900" cy="14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DFF (given)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▶Bit (1-bit register)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Register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RAM8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RAM64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RAM512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RAM4K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RAM16K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PC</a:t>
            </a:r>
            <a:endParaRPr sz="4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6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Bit !</a:t>
            </a:r>
            <a:endParaRPr/>
          </a:p>
        </p:txBody>
      </p:sp>
      <p:sp>
        <p:nvSpPr>
          <p:cNvPr id="315" name="Google Shape;315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6" name="Google Shape;316;p46"/>
          <p:cNvSpPr txBox="1"/>
          <p:nvPr/>
        </p:nvSpPr>
        <p:spPr>
          <a:xfrm>
            <a:off x="7597875" y="0"/>
            <a:ext cx="1545900" cy="14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DFF (given)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▶Bit (1-bit register)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Register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RAM8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RAM64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RAM512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RAM4K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RAM16K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PC</a:t>
            </a:r>
            <a:endParaRPr sz="400"/>
          </a:p>
        </p:txBody>
      </p:sp>
      <p:pic>
        <p:nvPicPr>
          <p:cNvPr id="317" name="Google Shape;317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925" y="1593000"/>
            <a:ext cx="8148160" cy="29178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7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Register</a:t>
            </a:r>
            <a:endParaRPr/>
          </a:p>
        </p:txBody>
      </p:sp>
      <p:sp>
        <p:nvSpPr>
          <p:cNvPr id="323" name="Google Shape;323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4" name="Google Shape;324;p47"/>
          <p:cNvSpPr txBox="1"/>
          <p:nvPr/>
        </p:nvSpPr>
        <p:spPr>
          <a:xfrm>
            <a:off x="7597875" y="0"/>
            <a:ext cx="1545900" cy="14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DFF (given)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Bit (1-bit register)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▶Register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RAM8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RAM64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RAM512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RAM4K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RAM16K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PC</a:t>
            </a:r>
            <a:endParaRPr sz="400"/>
          </a:p>
        </p:txBody>
      </p:sp>
      <p:sp>
        <p:nvSpPr>
          <p:cNvPr id="325" name="Google Shape;325;p47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16-bit register</a:t>
            </a:r>
            <a:endParaRPr/>
          </a:p>
        </p:txBody>
      </p:sp>
      <p:pic>
        <p:nvPicPr>
          <p:cNvPr id="326" name="Google Shape;326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27575" y="3408325"/>
            <a:ext cx="1404724" cy="1254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98850" y="1859925"/>
            <a:ext cx="3746300" cy="207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3575" y="1295188"/>
            <a:ext cx="3730200" cy="3207175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48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RAM8 ?</a:t>
            </a:r>
            <a:endParaRPr/>
          </a:p>
        </p:txBody>
      </p:sp>
      <p:sp>
        <p:nvSpPr>
          <p:cNvPr id="334" name="Google Shape;334;p48"/>
          <p:cNvSpPr txBox="1"/>
          <p:nvPr>
            <p:ph idx="1" type="body"/>
          </p:nvPr>
        </p:nvSpPr>
        <p:spPr>
          <a:xfrm>
            <a:off x="56925" y="1228675"/>
            <a:ext cx="54423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Any ideas about implementation for </a:t>
            </a:r>
            <a:r>
              <a:rPr b="1" lang="en" sz="1600"/>
              <a:t>n == 8</a:t>
            </a:r>
            <a:r>
              <a:rPr lang="en" sz="1600"/>
              <a:t>?</a:t>
            </a:r>
            <a:endParaRPr sz="16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/>
              <a:t>Read</a:t>
            </a:r>
            <a:endParaRPr b="1" sz="1600"/>
          </a:p>
          <a:p>
            <a:pPr indent="-330200" lvl="0" marL="3429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How to select which register output be used?</a:t>
            </a:r>
            <a:endParaRPr sz="16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/>
              <a:t>Write</a:t>
            </a:r>
            <a:endParaRPr b="1" sz="1600"/>
          </a:p>
          <a:p>
            <a:pPr indent="-330200" lvl="0" marL="3429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How to select which register should be loaded?</a:t>
            </a:r>
            <a:endParaRPr sz="1600"/>
          </a:p>
          <a:p>
            <a:pPr indent="-330200" lvl="0" marL="3429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How to send in signal to the input of the right register?  </a:t>
            </a:r>
            <a:endParaRPr sz="1600"/>
          </a:p>
        </p:txBody>
      </p:sp>
      <p:sp>
        <p:nvSpPr>
          <p:cNvPr id="335" name="Google Shape;335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6" name="Google Shape;336;p48"/>
          <p:cNvSpPr txBox="1"/>
          <p:nvPr/>
        </p:nvSpPr>
        <p:spPr>
          <a:xfrm>
            <a:off x="7597875" y="0"/>
            <a:ext cx="1545900" cy="14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DFF (given)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Bit (1-bit register)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Register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▶RAM8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RAM64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RAM512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RAM4K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RAM16K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PC</a:t>
            </a:r>
            <a:endParaRPr sz="4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9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RAM8 !</a:t>
            </a:r>
            <a:endParaRPr/>
          </a:p>
        </p:txBody>
      </p:sp>
      <p:sp>
        <p:nvSpPr>
          <p:cNvPr id="342" name="Google Shape;342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43" name="Google Shape;343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2200" y="1538148"/>
            <a:ext cx="6459599" cy="3537125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49"/>
          <p:cNvSpPr txBox="1"/>
          <p:nvPr/>
        </p:nvSpPr>
        <p:spPr>
          <a:xfrm>
            <a:off x="7597875" y="0"/>
            <a:ext cx="1545900" cy="14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DFF (given)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Bit (1-bit register)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Register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▶RAM8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RAM64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RAM512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RAM4K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RAM16K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PC</a:t>
            </a:r>
            <a:endParaRPr sz="4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0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RAM64, 512, 4K, 16K ?</a:t>
            </a:r>
            <a:endParaRPr/>
          </a:p>
        </p:txBody>
      </p:sp>
      <p:sp>
        <p:nvSpPr>
          <p:cNvPr id="350" name="Google Shape;350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1" name="Google Shape;351;p50"/>
          <p:cNvSpPr txBox="1"/>
          <p:nvPr/>
        </p:nvSpPr>
        <p:spPr>
          <a:xfrm>
            <a:off x="7597875" y="0"/>
            <a:ext cx="1545900" cy="14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DFF (given)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Bit (1-bit register)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Register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RAM8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▶RAM64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▶RAM512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▶RAM4K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▶RAM16K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PC</a:t>
            </a:r>
            <a:endParaRPr sz="400"/>
          </a:p>
        </p:txBody>
      </p:sp>
      <p:pic>
        <p:nvPicPr>
          <p:cNvPr id="352" name="Google Shape;352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7737" y="1877400"/>
            <a:ext cx="7308525" cy="3179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50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Any ideas about realization?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5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RAM64, 512, 4K, 16K !</a:t>
            </a:r>
            <a:endParaRPr/>
          </a:p>
        </p:txBody>
      </p:sp>
      <p:sp>
        <p:nvSpPr>
          <p:cNvPr id="359" name="Google Shape;359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0" name="Google Shape;360;p51"/>
          <p:cNvSpPr txBox="1"/>
          <p:nvPr/>
        </p:nvSpPr>
        <p:spPr>
          <a:xfrm>
            <a:off x="7597875" y="0"/>
            <a:ext cx="1545900" cy="14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DFF (given)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Bit (1-bit register)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Register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RAM8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▶RAM64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▶RAM512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▶RAM4K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▶RAM16K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PC</a:t>
            </a:r>
            <a:endParaRPr sz="400"/>
          </a:p>
        </p:txBody>
      </p:sp>
      <p:pic>
        <p:nvPicPr>
          <p:cNvPr id="361" name="Google Shape;361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0388" y="1093850"/>
            <a:ext cx="6163231" cy="4049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2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</a:t>
            </a:r>
            <a:r>
              <a:rPr lang="en"/>
              <a:t> ?</a:t>
            </a:r>
            <a:endParaRPr/>
          </a:p>
        </p:txBody>
      </p:sp>
      <p:sp>
        <p:nvSpPr>
          <p:cNvPr id="367" name="Google Shape;367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8" name="Google Shape;368;p52"/>
          <p:cNvSpPr txBox="1"/>
          <p:nvPr/>
        </p:nvSpPr>
        <p:spPr>
          <a:xfrm>
            <a:off x="7597875" y="0"/>
            <a:ext cx="1545900" cy="14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DFF (given)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Bit (1-bit register)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Register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RAM8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RAM64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RAM512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RAM4K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RAM16K</a:t>
            </a:r>
            <a:endParaRPr sz="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Lato"/>
              <a:buChar char="●"/>
            </a:pPr>
            <a:r>
              <a:rPr lang="en" sz="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▶PC</a:t>
            </a:r>
            <a:endParaRPr sz="400"/>
          </a:p>
        </p:txBody>
      </p:sp>
      <p:pic>
        <p:nvPicPr>
          <p:cNvPr id="369" name="Google Shape;369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3000" y="2539200"/>
            <a:ext cx="7918001" cy="1519575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52"/>
          <p:cNvSpPr txBox="1"/>
          <p:nvPr>
            <p:ph idx="1" type="body"/>
          </p:nvPr>
        </p:nvSpPr>
        <p:spPr>
          <a:xfrm>
            <a:off x="311700" y="1228675"/>
            <a:ext cx="8520600" cy="10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Any ideas about realization?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53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Previous</a:t>
            </a:r>
            <a:r>
              <a:rPr lang="en"/>
              <a:t> HW</a:t>
            </a:r>
            <a:endParaRPr/>
          </a:p>
        </p:txBody>
      </p:sp>
      <p:sp>
        <p:nvSpPr>
          <p:cNvPr id="376" name="Google Shape;376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77" name="Google Shape;377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1150" y="1246250"/>
            <a:ext cx="7221709" cy="3744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5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</a:t>
            </a:r>
            <a:r>
              <a:rPr lang="en"/>
              <a:t> HW</a:t>
            </a:r>
            <a:endParaRPr/>
          </a:p>
        </p:txBody>
      </p:sp>
      <p:sp>
        <p:nvSpPr>
          <p:cNvPr id="383" name="Google Shape;383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84" name="Google Shape;384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1788" y="1246250"/>
            <a:ext cx="7160430" cy="3744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5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Ready to do the homework?</a:t>
            </a:r>
            <a:endParaRPr/>
          </a:p>
        </p:txBody>
      </p:sp>
      <p:sp>
        <p:nvSpPr>
          <p:cNvPr id="390" name="Google Shape;390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91" name="Google Shape;391;p55"/>
          <p:cNvPicPr preferRelativeResize="0"/>
          <p:nvPr/>
        </p:nvPicPr>
        <p:blipFill rotWithShape="1">
          <a:blip r:embed="rId3">
            <a:alphaModFix/>
          </a:blip>
          <a:srcRect b="18155" l="6052" r="6862" t="22763"/>
          <a:stretch/>
        </p:blipFill>
        <p:spPr>
          <a:xfrm>
            <a:off x="2909675" y="1442450"/>
            <a:ext cx="3293825" cy="314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