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Amatic SC"/>
      <p:regular r:id="rId50"/>
      <p:bold r:id="rId51"/>
    </p:embeddedFont>
    <p:embeddedFont>
      <p:font typeface="Lato"/>
      <p:regular r:id="rId52"/>
      <p:bold r:id="rId53"/>
      <p:italic r:id="rId54"/>
      <p:boldItalic r:id="rId55"/>
    </p:embeddedFont>
    <p:embeddedFont>
      <p:font typeface="Source Code Pr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maticSC-bold.fntdata"/><Relationship Id="rId50" Type="http://schemas.openxmlformats.org/officeDocument/2006/relationships/font" Target="fonts/AmaticSC-regular.fntdata"/><Relationship Id="rId53" Type="http://schemas.openxmlformats.org/officeDocument/2006/relationships/font" Target="fonts/Lato-bold.fntdata"/><Relationship Id="rId52" Type="http://schemas.openxmlformats.org/officeDocument/2006/relationships/font" Target="fonts/Lato-regular.fntdata"/><Relationship Id="rId11" Type="http://schemas.openxmlformats.org/officeDocument/2006/relationships/slide" Target="slides/slide6.xml"/><Relationship Id="rId55" Type="http://schemas.openxmlformats.org/officeDocument/2006/relationships/font" Target="fonts/Lato-boldItalic.fntdata"/><Relationship Id="rId10" Type="http://schemas.openxmlformats.org/officeDocument/2006/relationships/slide" Target="slides/slide5.xml"/><Relationship Id="rId54" Type="http://schemas.openxmlformats.org/officeDocument/2006/relationships/font" Target="fonts/Lato-italic.fntdata"/><Relationship Id="rId13" Type="http://schemas.openxmlformats.org/officeDocument/2006/relationships/slide" Target="slides/slide8.xml"/><Relationship Id="rId57" Type="http://schemas.openxmlformats.org/officeDocument/2006/relationships/font" Target="fonts/SourceCodePro-bold.fntdata"/><Relationship Id="rId12" Type="http://schemas.openxmlformats.org/officeDocument/2006/relationships/slide" Target="slides/slide7.xml"/><Relationship Id="rId56" Type="http://schemas.openxmlformats.org/officeDocument/2006/relationships/font" Target="fonts/SourceCodePro-regular.fntdata"/><Relationship Id="rId15" Type="http://schemas.openxmlformats.org/officeDocument/2006/relationships/slide" Target="slides/slide10.xml"/><Relationship Id="rId59" Type="http://schemas.openxmlformats.org/officeDocument/2006/relationships/font" Target="fonts/SourceCodePro-boldItalic.fntdata"/><Relationship Id="rId14" Type="http://schemas.openxmlformats.org/officeDocument/2006/relationships/slide" Target="slides/slide9.xml"/><Relationship Id="rId58" Type="http://schemas.openxmlformats.org/officeDocument/2006/relationships/font" Target="fonts/SourceCodePr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7a647f6e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7a647f6e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7c8c28e6b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7c8c28e6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7c8c28e6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7c8c28e6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7c8c28e6b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7c8c28e6b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7c8c28e6b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7c8c28e6b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7c8c28e6b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7c8c28e6b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7c8c28e6b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7c8c28e6b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60a5484c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60a5484c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60a5484c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60a5484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60a5484c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60a5484c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7dc27e7a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7dc27e7a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7c8c28e6b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7c8c28e6b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7dc27e7ab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7dc27e7ab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7dc27e7ab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7dc27e7ab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7dc27e7a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7dc27e7a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xcessively -- чрезмерно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7dc27e7ab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7dc27e7ab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868628d8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868628d8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7dc27e7ab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7dc27e7ab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868628d8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868628d8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868628d8a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868628d8a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868628d8a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868628d8a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868628d8a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868628d8a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60a5484ca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60a5484c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60a5484c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160a5484c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160a5484c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160a5484c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60a5484ca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160a5484c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60a5484c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160a5484c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60a5484c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160a5484c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60a5484c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60a5484c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60a5484c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160a5484c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60a5484ca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160a5484c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60a5484c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60a5484c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60a5484c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160a5484c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60a5484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160a5484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60a5484ca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60a5484c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160a5484ca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160a5484ca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60a5484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160a5484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BASE Field: This field contains the starting address of the memory segment. That is, it points to the location in memory where the segment begins.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LIMIT Field: This field contains the size of the memory segment, or how far from the base address the segment extends.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60a5484ca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160a5484ca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60a5484c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160a5484c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160a5484ca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160a5484ca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60a5484ca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60a5484ca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60a5484c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160a5484c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868628d8a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868628d8a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Architecture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55"/>
              <a:t>Lecture 10: HDD, V</a:t>
            </a:r>
            <a:r>
              <a:rPr lang="en" sz="5555"/>
              <a:t>irtual memory</a:t>
            </a:r>
            <a:endParaRPr sz="7888"/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3369800"/>
            <a:ext cx="85206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Lector: Konstantin Chaika</a:t>
            </a:r>
            <a:endParaRPr b="1" sz="2100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11700" y="3887500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Based on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- David Harris, Sarah L. Harris, Digital Design and Computer Architecture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11700" y="4534500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9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Constructor University</a:t>
            </a:r>
            <a:br>
              <a:rPr b="1" lang="en" sz="1679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" sz="1679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Spring 2025</a:t>
            </a:r>
            <a:endParaRPr b="1" sz="1679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MEMORY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H&amp;H 8.4</a:t>
            </a:r>
            <a:endParaRPr/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there be misses in RAM?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they can, then when?</a:t>
            </a:r>
            <a:endParaRPr/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more time about HDD/SDD</a:t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614675"/>
            <a:ext cx="70485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memory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Virtual memory is a memory management technique (in OS) where secondary memory (HDD/SSD) can be used as if it were a part of the main memory (RAM)</a:t>
            </a:r>
            <a:endParaRPr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HDD</a:t>
            </a:r>
            <a:endParaRPr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500" y="1446850"/>
            <a:ext cx="3668200" cy="309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93850"/>
            <a:ext cx="5179476" cy="380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nterfaces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“Old School”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</a:t>
            </a:r>
            <a:r>
              <a:rPr lang="en"/>
              <a:t>ylinder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</a:t>
            </a:r>
            <a:r>
              <a:rPr lang="en"/>
              <a:t>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Logical block addressing (LBA)</a:t>
            </a:r>
            <a:endParaRPr/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150" y="812100"/>
            <a:ext cx="5179476" cy="380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SSD + NVMe</a:t>
            </a:r>
            <a:endParaRPr/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3366" l="6352" r="5905" t="3375"/>
          <a:stretch/>
        </p:blipFill>
        <p:spPr>
          <a:xfrm>
            <a:off x="715200" y="1766150"/>
            <a:ext cx="2658424" cy="21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 rotWithShape="1">
          <a:blip r:embed="rId4">
            <a:alphaModFix/>
          </a:blip>
          <a:srcRect b="30092" l="0" r="0" t="27948"/>
          <a:stretch/>
        </p:blipFill>
        <p:spPr>
          <a:xfrm>
            <a:off x="4680975" y="2045150"/>
            <a:ext cx="3718900" cy="11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is appeared?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early days of computers, memories were small and expensive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Program using the better algorithm could not be squeezed into the computer’s memory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solve this problem?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traditional solution to this problem was the use of secondary memory, such as disk. The programmer divided the program up into a number of pieces, called overlays, each of which could fit in the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u="sng"/>
              <a:t>programmer</a:t>
            </a:r>
            <a:r>
              <a:rPr lang="en"/>
              <a:t> was responsible for managing the whole overlay process without any help from the computer.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1961 a group of researchers in Manchester, England, proposed a method for performing the overlay process automatically, without the programmer even knowing that it was happening -- virtual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By the early 1970s virtual memory had become available on most computers.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Paging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500" y="152950"/>
            <a:ext cx="4426850" cy="483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and physical pages</a:t>
            </a:r>
            <a:endParaRPr/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888" y="1020625"/>
            <a:ext cx="6220234" cy="257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670963" y="4175475"/>
            <a:ext cx="780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avoid page faults caused by conflicts, any virtual page can map to any physical page.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other words, physical memory behaves as a fully associative cache for virtual memory.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Analogous cache and virtual memory terms</a:t>
            </a:r>
            <a:endParaRPr/>
          </a:p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475" y="2662150"/>
            <a:ext cx="4395051" cy="24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311700" y="1407825"/>
            <a:ext cx="8520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Virtual memory is divided into virtual pages, typically 4 KB in size.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Physical memory is likewise divided into physical pages of the same size.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virtual page may be located in physical memory (DRAM) or on the hard drive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642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and virtual pages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847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GB of virtual memory and 128 MB of physical memory divided into 4-KB pages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324" y="1279050"/>
            <a:ext cx="6275024" cy="38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Translation from virtual address to physical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075" y="1367675"/>
            <a:ext cx="4015850" cy="269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age table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we</a:t>
            </a:r>
            <a:r>
              <a:rPr lang="en"/>
              <a:t> need a comparator to determine whether the virtual page maps to that physical page? It would be excessively expensive.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Virtual memory system uses a </a:t>
            </a:r>
            <a:r>
              <a:rPr b="1" lang="en"/>
              <a:t>page table</a:t>
            </a:r>
            <a:r>
              <a:rPr lang="en"/>
              <a:t> to perform address translation.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page table contains an entry for each virtual page, indicating its location in physical memory or that it is on the hard drive.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load or store instruction requires a page table access followed by a physical memory access. The physical address is then used to actually read or write the data.</a:t>
            </a:r>
            <a:endParaRPr/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table example</a:t>
            </a:r>
            <a:endParaRPr/>
          </a:p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093850"/>
            <a:ext cx="6275024" cy="38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9673" y="1248525"/>
            <a:ext cx="1892635" cy="32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translation using the page table</a:t>
            </a:r>
            <a:endParaRPr/>
          </a:p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738" y="90250"/>
            <a:ext cx="4010512" cy="50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TLB - </a:t>
            </a:r>
            <a:r>
              <a:rPr lang="en"/>
              <a:t>translation lookaside buffer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228675"/>
            <a:ext cx="4692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page table is usually so large that it is located in physical memory.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load or store involves two physical memory accesses: a page table access, and a data access.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speed up address translation, a </a:t>
            </a:r>
            <a:r>
              <a:rPr b="1" lang="en"/>
              <a:t>Translation Lookaside Buffer</a:t>
            </a:r>
            <a:r>
              <a:rPr lang="en"/>
              <a:t> (TLB) caches the most commonly used page table entries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TLB is organized as a fully associative cache</a:t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translation using a two-entry TLB</a:t>
            </a:r>
            <a:endParaRPr/>
          </a:p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350" y="990250"/>
            <a:ext cx="6491300" cy="406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Replacement Policies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</a:t>
            </a:r>
            <a:r>
              <a:rPr lang="en"/>
              <a:t>rite-back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Writing the physical page back to the hard drive and reloading it with a different virtual page is called paging, and the hard drive space for a virtual memory is called swap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Dirty bit 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bit U (periodically resetting)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LRU (Least Recently Used)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FIFO (First-In First-Out)</a:t>
            </a:r>
            <a:endParaRPr/>
          </a:p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292850"/>
            <a:ext cx="29031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Multilevel Page Tables</a:t>
            </a:r>
            <a:endParaRPr/>
          </a:p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7652" y="206175"/>
            <a:ext cx="5760854" cy="48506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311700" y="1909325"/>
            <a:ext cx="3721200" cy="26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GB virtual memory with 4 KB pages would need 2</a:t>
            </a:r>
            <a:r>
              <a:rPr baseline="30000" lang="en"/>
              <a:t>19</a:t>
            </a:r>
            <a:r>
              <a:rPr lang="en"/>
              <a:t> entries. If each entry is 4 bytes, the page table is 2 MB.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Yet another memory access when TLB misses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11700" y="292850"/>
            <a:ext cx="30264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translation using a two-level page table</a:t>
            </a:r>
            <a:endParaRPr/>
          </a:p>
        </p:txBody>
      </p:sp>
      <p:sp>
        <p:nvSpPr>
          <p:cNvPr id="216" name="Google Shape;21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8168" y="292850"/>
            <a:ext cx="5803259" cy="480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Segmentation</a:t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memory discussed above is one-dimensional because the virtual addresses go from 0 to some maximum address, one address after another.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many problems, having two or more separate virtual address spaces may be much better than having only one.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Compiler might have many tables that are built up as compilation proceeds, including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The symbol table, containing the names and attributes of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The source text being saved for the printed listing.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A table containing all the integer and floating-point constants used.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The parse tree, containing the syntactic analysis of the program.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The stack used for procedure calls within the compiler.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problem?</a:t>
            </a:r>
            <a:endParaRPr/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575" y="856150"/>
            <a:ext cx="4673895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straightforward solution is to provide many completely independent address spaces, called segments. Each segment consists of a linear sequence of addresses, from 0 to some maximum.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specify an address in this segmented or two-dimensional memory, the program must supply a two-part address: a segment number, and an address within the segment.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025" y="3084451"/>
            <a:ext cx="4049974" cy="20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Programmers know…</a:t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emphasize that a segment is a logical entity, which the programmer is aware of and uses as a single logical entity.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library? :)</a:t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make each procedure a separate segment, they can be shared easily, thus eliminating the need for more than one physical copy of any shared procedure to be in main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protection</a:t>
            </a:r>
            <a:endParaRPr/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each segment forms a logical entity of which the programmer is aware, such as a procedure, or an array, or a stack, different segments can have different kinds of protection.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procedure segment could be specified as execute only, prohibiting attempts to read from it or store into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floating-point array could be specified as read/write but not execute, and attempts to branch to it would be caught.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Errors/attacks protection.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paging and segmentation</a:t>
            </a: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81375"/>
            <a:ext cx="8839202" cy="225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memory fragmentation (swapping)</a:t>
            </a:r>
            <a:endParaRPr/>
          </a:p>
        </p:txBody>
      </p:sp>
      <p:pic>
        <p:nvPicPr>
          <p:cNvPr id="272" name="Google Shape;2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963" y="1093850"/>
            <a:ext cx="6084064" cy="40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management</a:t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First fit is also a better algorithm in terms of overall performance than best fit, because the latter tends to generate a great many small, totally useless space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Paging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way to implement segmentation is by dividing each segment up into fixed-size pages and demand paging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this scheme, some of the pages of a segment may be in memory and some may be on disk</a:t>
            </a:r>
            <a:endParaRPr/>
          </a:p>
        </p:txBody>
      </p:sp>
      <p:pic>
        <p:nvPicPr>
          <p:cNvPr id="285" name="Google Shape;28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894" y="2571750"/>
            <a:ext cx="5038104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Memory on the Core i7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i7 virtual memory system</a:t>
            </a:r>
            <a:endParaRPr/>
          </a:p>
        </p:txBody>
      </p:sp>
      <p:sp>
        <p:nvSpPr>
          <p:cNvPr id="296" name="Google Shape;296;p4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i7 has a sophisticated virtual memory system that supports demand paging, pure segmentation, and segmentation with paging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Core i7 virtual memory consists of two tables: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LDT (Local Descriptor Table)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GDT (Global Descriptor Table).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program has its own LDT, but a single GDT is shared by all the programs on the computer.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LDT describes segments local to each program, including its code, data, stack, and so on, whereas the GDT describes system segments, including the operating system itself.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 registers</a:t>
            </a:r>
            <a:endParaRPr/>
          </a:p>
        </p:txBody>
      </p:sp>
      <p:sp>
        <p:nvSpPr>
          <p:cNvPr id="302" name="Google Shape;302;p49"/>
          <p:cNvSpPr txBox="1"/>
          <p:nvPr>
            <p:ph idx="1" type="body"/>
          </p:nvPr>
        </p:nvSpPr>
        <p:spPr>
          <a:xfrm>
            <a:off x="311700" y="1228675"/>
            <a:ext cx="8520600" cy="18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access a segment, a Core i7 program first loads a selector for that segment into one of the segment registers. CS holds the selector for the code segment, DS holds the selector for the data segment, and so 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selector is a 16-bit number. Descriptor 0 is invalid and causes a trap if used.</a:t>
            </a:r>
            <a:endParaRPr/>
          </a:p>
        </p:txBody>
      </p:sp>
      <p:pic>
        <p:nvPicPr>
          <p:cNvPr id="303" name="Google Shape;30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050" y="3508450"/>
            <a:ext cx="4935901" cy="14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i7 code segment descriptor</a:t>
            </a:r>
            <a:endParaRPr/>
          </a:p>
        </p:txBody>
      </p:sp>
      <p:sp>
        <p:nvSpPr>
          <p:cNvPr id="309" name="Google Shape;309;p50"/>
          <p:cNvSpPr txBox="1"/>
          <p:nvPr>
            <p:ph idx="1" type="body"/>
          </p:nvPr>
        </p:nvSpPr>
        <p:spPr>
          <a:xfrm>
            <a:off x="311700" y="1228675"/>
            <a:ext cx="8520600" cy="1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23951"/>
            <a:ext cx="9143998" cy="2919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of a (selector, offset) pair to a linear address</a:t>
            </a:r>
            <a:endParaRPr/>
          </a:p>
        </p:txBody>
      </p:sp>
      <p:pic>
        <p:nvPicPr>
          <p:cNvPr id="316" name="Google Shape;31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338" y="1538800"/>
            <a:ext cx="5383324" cy="297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Linear address?</a:t>
            </a:r>
            <a:endParaRPr/>
          </a:p>
        </p:txBody>
      </p:sp>
      <p:sp>
        <p:nvSpPr>
          <p:cNvPr id="322" name="Google Shape;322;p5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paging is disabled (by a bit in a global control register), the linear address is interpreted as the physical address and sent to the memory for the read or write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paging is enabled, the linear address is interpreted as a virtual address and mapped onto the physical address using page tables, pretty much as in our examples.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only complication is that with a 32-bit virtual address and a 4-KB page, a segment might contain 1 million pages, so a two-level mapping is used to reduce the page-table size for small segments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 of a linear address onto a physical address</a:t>
            </a:r>
            <a:endParaRPr/>
          </a:p>
        </p:txBody>
      </p:sp>
      <p:sp>
        <p:nvSpPr>
          <p:cNvPr id="328" name="Google Shape;328;p53"/>
          <p:cNvSpPr txBox="1"/>
          <p:nvPr>
            <p:ph idx="1" type="body"/>
          </p:nvPr>
        </p:nvSpPr>
        <p:spPr>
          <a:xfrm>
            <a:off x="311700" y="1228675"/>
            <a:ext cx="8520600" cy="11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Core i7 MMU has special hardware support to look up the most recently used DIR − PAGE</a:t>
            </a:r>
            <a:endParaRPr/>
          </a:p>
        </p:txBody>
      </p:sp>
      <p:pic>
        <p:nvPicPr>
          <p:cNvPr id="329" name="Google Shape;32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700" y="1763375"/>
            <a:ext cx="6008599" cy="33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“disable” segmentation?</a:t>
            </a:r>
            <a:endParaRPr/>
          </a:p>
        </p:txBody>
      </p:sp>
      <p:sp>
        <p:nvSpPr>
          <p:cNvPr id="335" name="Google Shape;335;p5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= 0 and LIMIT set to the maximum.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instruction offset will then be the linear address, with only a single address space used—in effect, traditional paging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Protection on the Core i7</a:t>
            </a:r>
            <a:endParaRPr/>
          </a:p>
        </p:txBody>
      </p:sp>
      <p:sp>
        <p:nvSpPr>
          <p:cNvPr id="341" name="Google Shape;341;p55"/>
          <p:cNvSpPr txBox="1"/>
          <p:nvPr>
            <p:ph idx="1" type="body"/>
          </p:nvPr>
        </p:nvSpPr>
        <p:spPr>
          <a:xfrm>
            <a:off x="311700" y="1228675"/>
            <a:ext cx="37611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Attempts to access data at a higher level are permitted. Attempts to access data at a lower level are illegal and cause traps.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order to make an interlevel call, the CALL instruction must contain a selector instead of an address.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selector designates a descriptor called a call gate, which gives the address of the procedure to be called</a:t>
            </a:r>
            <a:endParaRPr/>
          </a:p>
        </p:txBody>
      </p:sp>
      <p:pic>
        <p:nvPicPr>
          <p:cNvPr id="342" name="Google Shape;34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975" y="1228675"/>
            <a:ext cx="4178049" cy="341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 X86</a:t>
            </a:r>
            <a:endParaRPr/>
          </a:p>
        </p:txBody>
      </p:sp>
      <p:sp>
        <p:nvSpPr>
          <p:cNvPr id="348" name="Google Shape;34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9" name="Google Shape;3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00" y="1246250"/>
            <a:ext cx="8291405" cy="341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