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4"/>
  </p:sldMasterIdLst>
  <p:notesMasterIdLst>
    <p:notesMasterId r:id="rId77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4" r:id="rId62"/>
    <p:sldId id="315" r:id="rId63"/>
    <p:sldId id="313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</p:sldIdLst>
  <p:sldSz cx="9144000" cy="5143500" type="screen16x9"/>
  <p:notesSz cx="6858000" cy="9144000"/>
  <p:embeddedFontLst>
    <p:embeddedFont>
      <p:font typeface="Lato" panose="020F0502020204030203" pitchFamily="34" charset="0"/>
      <p:regular r:id="rId78"/>
      <p:bold r:id="rId79"/>
      <p:italic r:id="rId80"/>
      <p:boldItalic r:id="rId81"/>
    </p:embeddedFont>
    <p:embeddedFont>
      <p:font typeface="Source Code Pro" panose="020B0509030403020204" pitchFamily="49" charset="0"/>
      <p:regular r:id="rId82"/>
      <p:bold r:id="rId83"/>
      <p:italic r:id="rId84"/>
      <p:boldItalic r:id="rId8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FF2F33-46C9-2B42-6199-A0EBEBAD70DE}" v="5" dt="2025-05-27T16:22:44.3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font" Target="fonts/font7.fntdata"/><Relationship Id="rId89" Type="http://schemas.openxmlformats.org/officeDocument/2006/relationships/tableStyles" Target="tableStyles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font" Target="fonts/font2.fntdata"/><Relationship Id="rId5" Type="http://schemas.openxmlformats.org/officeDocument/2006/relationships/slide" Target="slides/slide1.xml"/><Relationship Id="rId90" Type="http://schemas.microsoft.com/office/2016/11/relationships/changesInfo" Target="changesInfos/changesInfo1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font" Target="fonts/font3.fntdata"/><Relationship Id="rId85" Type="http://schemas.openxmlformats.org/officeDocument/2006/relationships/font" Target="fonts/font8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font" Target="fonts/font6.fntdata"/><Relationship Id="rId88" Type="http://schemas.openxmlformats.org/officeDocument/2006/relationships/theme" Target="theme/theme1.xml"/><Relationship Id="rId9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font" Target="fonts/font1.fntdata"/><Relationship Id="rId81" Type="http://schemas.openxmlformats.org/officeDocument/2006/relationships/font" Target="fonts/font4.fntdata"/><Relationship Id="rId86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viewProps" Target="viewProps.xml"/><Relationship Id="rId61" Type="http://schemas.openxmlformats.org/officeDocument/2006/relationships/slide" Target="slides/slide57.xml"/><Relationship Id="rId82" Type="http://schemas.openxmlformats.org/officeDocument/2006/relationships/font" Target="fonts/font5.fntdata"/><Relationship Id="rId19" Type="http://schemas.openxmlformats.org/officeDocument/2006/relationships/slide" Target="slides/slide1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rnii, Artem" userId="S::achernii@constructor.university::7f5447ac-e271-4173-802a-faff35041809" providerId="AD" clId="Web-{846C71EC-339A-0D41-AB93-22F88CBBFDF7}"/>
    <pc:docChg chg="sldOrd">
      <pc:chgData name="Chernii, Artem" userId="S::achernii@constructor.university::7f5447ac-e271-4173-802a-faff35041809" providerId="AD" clId="Web-{846C71EC-339A-0D41-AB93-22F88CBBFDF7}" dt="2025-05-19T00:23:09.820" v="0"/>
      <pc:docMkLst>
        <pc:docMk/>
      </pc:docMkLst>
      <pc:sldChg chg="ord">
        <pc:chgData name="Chernii, Artem" userId="S::achernii@constructor.university::7f5447ac-e271-4173-802a-faff35041809" providerId="AD" clId="Web-{846C71EC-339A-0D41-AB93-22F88CBBFDF7}" dt="2025-05-19T00:23:09.820" v="0"/>
        <pc:sldMkLst>
          <pc:docMk/>
          <pc:sldMk cId="0" sldId="313"/>
        </pc:sldMkLst>
      </pc:sldChg>
    </pc:docChg>
  </pc:docChgLst>
  <pc:docChgLst>
    <pc:chgData name="Moldovan, Luca" userId="b578ed4d-fa26-446b-9e09-3eb03c925f8d" providerId="ADAL" clId="{0B6F7115-C90A-3648-85F7-C4408287CCA8}"/>
    <pc:docChg chg="modSld">
      <pc:chgData name="Moldovan, Luca" userId="b578ed4d-fa26-446b-9e09-3eb03c925f8d" providerId="ADAL" clId="{0B6F7115-C90A-3648-85F7-C4408287CCA8}" dt="2025-05-03T08:17:22.240" v="0" actId="1076"/>
      <pc:docMkLst>
        <pc:docMk/>
      </pc:docMkLst>
      <pc:sldChg chg="modSp">
        <pc:chgData name="Moldovan, Luca" userId="b578ed4d-fa26-446b-9e09-3eb03c925f8d" providerId="ADAL" clId="{0B6F7115-C90A-3648-85F7-C4408287CCA8}" dt="2025-05-03T08:17:22.240" v="0" actId="1076"/>
        <pc:sldMkLst>
          <pc:docMk/>
          <pc:sldMk cId="0" sldId="259"/>
        </pc:sldMkLst>
        <pc:spChg chg="mod">
          <ac:chgData name="Moldovan, Luca" userId="b578ed4d-fa26-446b-9e09-3eb03c925f8d" providerId="ADAL" clId="{0B6F7115-C90A-3648-85F7-C4408287CCA8}" dt="2025-05-03T08:17:22.240" v="0" actId="1076"/>
          <ac:spMkLst>
            <pc:docMk/>
            <pc:sldMk cId="0" sldId="259"/>
            <ac:spMk id="80" creationId="{00000000-0000-0000-0000-000000000000}"/>
          </ac:spMkLst>
        </pc:spChg>
      </pc:sldChg>
    </pc:docChg>
  </pc:docChgLst>
  <pc:docChgLst>
    <pc:chgData name="Lassioued, Balssem" userId="S::blassioued@constructor.university::30e5b1f5-553e-4a26-bded-ec876119f1d9" providerId="AD" clId="Web-{F5FF2F33-46C9-2B42-6199-A0EBEBAD70DE}"/>
    <pc:docChg chg="modSld">
      <pc:chgData name="Lassioued, Balssem" userId="S::blassioued@constructor.university::30e5b1f5-553e-4a26-bded-ec876119f1d9" providerId="AD" clId="Web-{F5FF2F33-46C9-2B42-6199-A0EBEBAD70DE}" dt="2025-05-27T16:22:44.321" v="4" actId="14100"/>
      <pc:docMkLst>
        <pc:docMk/>
      </pc:docMkLst>
      <pc:sldChg chg="modSp">
        <pc:chgData name="Lassioued, Balssem" userId="S::blassioued@constructor.university::30e5b1f5-553e-4a26-bded-ec876119f1d9" providerId="AD" clId="Web-{F5FF2F33-46C9-2B42-6199-A0EBEBAD70DE}" dt="2025-05-27T15:44:19.859" v="3" actId="14100"/>
        <pc:sldMkLst>
          <pc:docMk/>
          <pc:sldMk cId="0" sldId="299"/>
        </pc:sldMkLst>
        <pc:picChg chg="mod">
          <ac:chgData name="Lassioued, Balssem" userId="S::blassioued@constructor.university::30e5b1f5-553e-4a26-bded-ec876119f1d9" providerId="AD" clId="Web-{F5FF2F33-46C9-2B42-6199-A0EBEBAD70DE}" dt="2025-05-27T15:44:19.859" v="3" actId="14100"/>
          <ac:picMkLst>
            <pc:docMk/>
            <pc:sldMk cId="0" sldId="299"/>
            <ac:picMk id="403" creationId="{00000000-0000-0000-0000-000000000000}"/>
          </ac:picMkLst>
        </pc:picChg>
      </pc:sldChg>
      <pc:sldChg chg="modSp">
        <pc:chgData name="Lassioued, Balssem" userId="S::blassioued@constructor.university::30e5b1f5-553e-4a26-bded-ec876119f1d9" providerId="AD" clId="Web-{F5FF2F33-46C9-2B42-6199-A0EBEBAD70DE}" dt="2025-05-27T16:22:44.321" v="4" actId="14100"/>
        <pc:sldMkLst>
          <pc:docMk/>
          <pc:sldMk cId="0" sldId="310"/>
        </pc:sldMkLst>
        <pc:picChg chg="mod">
          <ac:chgData name="Lassioued, Balssem" userId="S::blassioued@constructor.university::30e5b1f5-553e-4a26-bded-ec876119f1d9" providerId="AD" clId="Web-{F5FF2F33-46C9-2B42-6199-A0EBEBAD70DE}" dt="2025-05-27T16:22:44.321" v="4" actId="14100"/>
          <ac:picMkLst>
            <pc:docMk/>
            <pc:sldMk cId="0" sldId="310"/>
            <ac:picMk id="484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3f1f1d9e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3f1f1d9e0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3f1f1d9e0a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3f1f1d9e0a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3f1f1d9e0a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3f1f1d9e0a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3f1f1d9e0a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3f1f1d9e0a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ed81bfbf3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ed81bfbf3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ed81bfbf3a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ed81bfbf3a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3eafa9526a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3eafa9526a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f3fee1755a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f3fee1755a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f3fee1755a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f3fee1755a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f3fee1755a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f3fee1755a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f3fee1755a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f3fee1755a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f3fee1755a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f3fee1755a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bus?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f3fee1755a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f3fee1755a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f3fee1755a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f3fee1755a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f3fee1755a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f3fee1755a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3fee1755a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f3fee1755a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f3fee1755a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f3fee1755a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f3fee1755a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f3fee1755a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f3fee1755a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f3fee1755a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f3fee1755a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f3fee1755a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f3fee1755a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f3fee1755a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f3fee1755a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f3fee1755a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f3fee1755a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f3fee1755a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f3fee1755a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f3fee1755a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f63604e60a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f63604e60a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f63604e60a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2f63604e60a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f63604e60a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f63604e60a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f63604e60a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2f63604e60a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f63604e60a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f63604e60a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f63604e60a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2f63604e60a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f63604e60a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f63604e60a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f63604e60a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f63604e60a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f63604e60a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2f63604e60a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f63604e60a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2f63604e60a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f63604e60a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2f63604e60a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2f63604e60a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2f63604e60a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f63604e60a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2f63604e60a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OR!!!!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f63604e60a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2f63604e60a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opcode!!!</a:t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f63604e60a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2f63604e60a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2f63604e60a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2f63604e60a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2f63604e60a_0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2f63604e60a_0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f63604e60a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f63604e60a_0_2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f63604e60a_0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2f63604e60a_0_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2f63604e60a_0_2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2f63604e60a_0_2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2f63604e60a_0_2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2f63604e60a_0_2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2f63604e60a_0_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2f63604e60a_0_2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2f63604e60a_0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2f63604e60a_0_2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2f63604e60a_0_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2f63604e60a_0_2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2f63604e60a_0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2f63604e60a_0_3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2f63604e60a_0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2f63604e60a_0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2f63604e60a_0_3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2f63604e60a_0_3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2f63604e60a_0_3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2f63604e60a_0_3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2f63604e60a_0_3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2f63604e60a_0_3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2f63604e60a_0_3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2f63604e60a_0_3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2f63604e60a_0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2f63604e60a_0_3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2f63604e60a_0_3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2f63604e60a_0_3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2ff6e77e5c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2ff6e77e5c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2ff6e77e5cb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2ff6e77e5cb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2ff6e77e5c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2ff6e77e5c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2ff6e77e5c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2ff6e77e5c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2ff6e77e5cb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2ff6e77e5cb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2ff6e77e5cb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2ff6e77e5cb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4082a0702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34082a0702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2ff6e77e5cb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2ff6e77e5cb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3f1b53bb1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33f1b53bb1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3f1b53bb1b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33f1b53bb1b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3f1b53bb1b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33f1b53bb1b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3f1b53bb1b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33f1b53bb1b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3f1b53bb1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33f1b53bb1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3f1b53bb1b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33f1b53bb1b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2ff6e77e5cb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2ff6e77e5cb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ubTitle" idx="1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sz="24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1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each-day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3804300" y="0"/>
            <a:ext cx="53397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document/d/1CsMEjcRTPe5Kga82NteL67BUKy7srDFBnGZ9qL7tqP4/edit?tab=t.0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r0SqikhRjOQyWgoLGE3Y5a3VV_l93W7GgRISIZPQ5SM/edit?gid=0#gid=0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drive.google.com/drive/folders/158SpBTLsZ7nGClhk_wAYJSNQVTui-anp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playlist?list=PLItFDtW5mcKqzmdjdEhha6KImPwBLBaQr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document/d/1CsMEjcRTPe5Kga82NteL67BUKy7srDFBnGZ9qL7tqP4/edit?tab=t.0#heading=h.67owf2te1gcg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21.png"/><Relationship Id="rId4" Type="http://schemas.openxmlformats.org/officeDocument/2006/relationships/image" Target="../media/image2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2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8.png"/><Relationship Id="rId4" Type="http://schemas.openxmlformats.org/officeDocument/2006/relationships/image" Target="../media/image2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3.png"/><Relationship Id="rId4" Type="http://schemas.openxmlformats.org/officeDocument/2006/relationships/image" Target="../media/image2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 Architecture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Lecture 5: Building a computer</a:t>
            </a:r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1"/>
          </p:nvPr>
        </p:nvSpPr>
        <p:spPr>
          <a:xfrm>
            <a:off x="311700" y="3369800"/>
            <a:ext cx="8520600" cy="47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Lector: Konstantin Chaika</a:t>
            </a:r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1"/>
          </p:nvPr>
        </p:nvSpPr>
        <p:spPr>
          <a:xfrm>
            <a:off x="311700" y="3887500"/>
            <a:ext cx="8520600" cy="60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25"/>
              <a:buNone/>
            </a:pPr>
            <a:r>
              <a:rPr lang="en" sz="1251" b="0"/>
              <a:t>Based on</a:t>
            </a:r>
            <a:endParaRPr sz="1251" b="0"/>
          </a:p>
          <a:p>
            <a:pPr marL="45720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1" b="0"/>
              <a:t>- David Harris, Sarah L. Harris, Digital Design and Computer Architecture</a:t>
            </a:r>
            <a:endParaRPr sz="1251" b="0"/>
          </a:p>
          <a:p>
            <a:pPr marL="45720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1" b="0"/>
              <a:t>- Nand to Tetris / www.nand2tetris.org</a:t>
            </a:r>
            <a:endParaRPr sz="1251" b="0"/>
          </a:p>
        </p:txBody>
      </p:sp>
      <p:sp>
        <p:nvSpPr>
          <p:cNvPr id="60" name="Google Shape;60;p13"/>
          <p:cNvSpPr txBox="1"/>
          <p:nvPr/>
        </p:nvSpPr>
        <p:spPr>
          <a:xfrm>
            <a:off x="311700" y="4534500"/>
            <a:ext cx="8520600" cy="6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79" b="1">
                <a:solidFill>
                  <a:srgbClr val="212121"/>
                </a:solidFill>
                <a:latin typeface="Lato"/>
                <a:ea typeface="Lato"/>
                <a:cs typeface="Lato"/>
                <a:sym typeface="Lato"/>
              </a:rPr>
              <a:t>Constructor University Bremen</a:t>
            </a:r>
            <a:br>
              <a:rPr lang="en" sz="1679" b="1">
                <a:solidFill>
                  <a:srgbClr val="21212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sz="1679" b="1">
                <a:solidFill>
                  <a:srgbClr val="212121"/>
                </a:solidFill>
                <a:latin typeface="Lato"/>
                <a:ea typeface="Lato"/>
                <a:cs typeface="Lato"/>
                <a:sym typeface="Lato"/>
              </a:rPr>
              <a:t>Spring 2025</a:t>
            </a:r>
            <a:endParaRPr sz="1679" b="1">
              <a:solidFill>
                <a:srgbClr val="21212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Extra materials</a:t>
            </a:r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Added to </a:t>
            </a:r>
            <a:r>
              <a:rPr lang="en" u="sng">
                <a:solidFill>
                  <a:schemeClr val="hlink"/>
                </a:solidFill>
                <a:hlinkClick r:id="rId3"/>
              </a:rPr>
              <a:t>CompArch Spring 2025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topics</a:t>
            </a:r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Course topics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All this files are in the </a:t>
            </a:r>
            <a:r>
              <a:rPr lang="en" u="sng">
                <a:solidFill>
                  <a:schemeClr val="hlink"/>
                </a:solidFill>
                <a:hlinkClick r:id="rId4"/>
              </a:rPr>
              <a:t>[Public] CompArch Constructor Spring 2025</a:t>
            </a:r>
            <a:r>
              <a:rPr lang="en"/>
              <a:t> folder  </a:t>
            </a:r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Like to watch streaming?</a:t>
            </a:r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1"/>
          </p:nvPr>
        </p:nvSpPr>
        <p:spPr>
          <a:xfrm>
            <a:off x="311700" y="1315358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u="sng" dirty="0">
                <a:solidFill>
                  <a:schemeClr val="hlink"/>
                </a:solidFill>
                <a:hlinkClick r:id="rId3"/>
              </a:rPr>
              <a:t>nand2tetris - YouTube</a:t>
            </a:r>
            <a:r>
              <a:rPr lang="en" dirty="0"/>
              <a:t> </a:t>
            </a:r>
            <a:endParaRPr dirty="0"/>
          </a:p>
        </p:txBody>
      </p:sp>
      <p:sp>
        <p:nvSpPr>
          <p:cNvPr id="81" name="Google Shape;8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more week for deadlines</a:t>
            </a:r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CompArch Spring 2025</a:t>
            </a:r>
            <a:r>
              <a:rPr lang="en"/>
              <a:t> </a:t>
            </a:r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Tell me when you're tired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2750" y="2489604"/>
            <a:ext cx="3538499" cy="2653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language is done!</a:t>
            </a:r>
            <a:endParaRPr/>
          </a:p>
        </p:txBody>
      </p:sp>
      <p:sp>
        <p:nvSpPr>
          <p:cNvPr id="101" name="Google Shape;101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102" name="Google Shape;102;p19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What's next?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What do we need to implement now?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we're going to learn today </a:t>
            </a:r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Fetch-decode-execute cycle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Two-cycle + one-memory machine VS Single cycle + two-memory machine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CPU interface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Creating data path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I/O devices wrap for memory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Reset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HW &amp; GH discussion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As a result: a CPU that can execute the programs we learned how to write in the last lecture!</a:t>
            </a:r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processor that executes commands</a:t>
            </a:r>
            <a:endParaRPr/>
          </a:p>
        </p:txBody>
      </p:sp>
      <p:sp>
        <p:nvSpPr>
          <p:cNvPr id="115" name="Google Shape;11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pic>
        <p:nvPicPr>
          <p:cNvPr id="116" name="Google Shape;11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7038" y="1246250"/>
            <a:ext cx="5949926" cy="374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 have vs What we need</a:t>
            </a:r>
            <a:endParaRPr/>
          </a:p>
        </p:txBody>
      </p:sp>
      <p:sp>
        <p:nvSpPr>
          <p:cNvPr id="122" name="Google Shape;122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123" name="Google Shape;12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6600" y="1246250"/>
            <a:ext cx="6890793" cy="374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the execution of a command consist of?</a:t>
            </a:r>
            <a:endParaRPr/>
          </a:p>
        </p:txBody>
      </p:sp>
      <p:sp>
        <p:nvSpPr>
          <p:cNvPr id="129" name="Google Shape;129;p23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37320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Where do we get the instructions for execution from?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What should we do with it?</a:t>
            </a:r>
            <a:endParaRPr/>
          </a:p>
        </p:txBody>
      </p:sp>
      <p:sp>
        <p:nvSpPr>
          <p:cNvPr id="130" name="Google Shape;130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pic>
        <p:nvPicPr>
          <p:cNvPr id="131" name="Google Shape;13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3200" y="1329025"/>
            <a:ext cx="4795499" cy="2900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Determine the address of the next instruction</a:t>
            </a:r>
            <a:endParaRPr/>
          </a:p>
        </p:txBody>
      </p:sp>
      <p:sp>
        <p:nvSpPr>
          <p:cNvPr id="137" name="Google Shape;137;p24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38" name="Google Shape;138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pic>
        <p:nvPicPr>
          <p:cNvPr id="139" name="Google Shape;13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6850" y="1344375"/>
            <a:ext cx="4997152" cy="2911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Fetching an instruction</a:t>
            </a:r>
            <a:endParaRPr/>
          </a:p>
        </p:txBody>
      </p:sp>
      <p:sp>
        <p:nvSpPr>
          <p:cNvPr id="145" name="Google Shape;145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pic>
        <p:nvPicPr>
          <p:cNvPr id="146" name="Google Shape;14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9050" y="1246250"/>
            <a:ext cx="6265892" cy="374484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5"/>
          <p:cNvSpPr txBox="1"/>
          <p:nvPr/>
        </p:nvSpPr>
        <p:spPr>
          <a:xfrm>
            <a:off x="2324775" y="4254775"/>
            <a:ext cx="1686000" cy="4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0000FF"/>
                </a:solidFill>
                <a:highlight>
                  <a:srgbClr val="FFFF00"/>
                </a:highlight>
                <a:latin typeface="Lato"/>
                <a:ea typeface="Lato"/>
                <a:cs typeface="Lato"/>
                <a:sym typeface="Lato"/>
              </a:rPr>
              <a:t>Where should it go?</a:t>
            </a:r>
            <a:endParaRPr sz="1300" b="1">
              <a:solidFill>
                <a:srgbClr val="0000FF"/>
              </a:solidFill>
              <a:highlight>
                <a:srgbClr val="FFFF00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Fetching an instruction (2)</a:t>
            </a:r>
            <a:endParaRPr/>
          </a:p>
        </p:txBody>
      </p:sp>
      <p:sp>
        <p:nvSpPr>
          <p:cNvPr id="153" name="Google Shape;153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pic>
        <p:nvPicPr>
          <p:cNvPr id="154" name="Google Shape;15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9050" y="1246250"/>
            <a:ext cx="6265892" cy="3744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 signals</a:t>
            </a:r>
            <a:endParaRPr/>
          </a:p>
        </p:txBody>
      </p:sp>
      <p:sp>
        <p:nvSpPr>
          <p:cNvPr id="160" name="Google Shape;160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pic>
        <p:nvPicPr>
          <p:cNvPr id="161" name="Google Shape;16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5100" y="1093850"/>
            <a:ext cx="5953807" cy="404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did we miss?</a:t>
            </a:r>
            <a:endParaRPr/>
          </a:p>
        </p:txBody>
      </p:sp>
      <p:sp>
        <p:nvSpPr>
          <p:cNvPr id="167" name="Google Shape;167;p28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It's all very nice.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But what did we miss?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Do we have enough of everything </a:t>
            </a:r>
            <a:br>
              <a:rPr lang="en"/>
            </a:br>
            <a:r>
              <a:rPr lang="en"/>
              <a:t>to execute the command?</a:t>
            </a:r>
            <a:endParaRPr/>
          </a:p>
        </p:txBody>
      </p:sp>
      <p:sp>
        <p:nvSpPr>
          <p:cNvPr id="168" name="Google Shape;168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pic>
        <p:nvPicPr>
          <p:cNvPr id="169" name="Google Shape;16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211" y="1208437"/>
            <a:ext cx="4910787" cy="3340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9"/>
          <p:cNvSpPr txBox="1">
            <a:spLocks noGrp="1"/>
          </p:cNvSpPr>
          <p:nvPr>
            <p:ph type="title"/>
          </p:nvPr>
        </p:nvSpPr>
        <p:spPr>
          <a:xfrm>
            <a:off x="354375" y="79425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Fetch – Execute issues</a:t>
            </a:r>
            <a:endParaRPr/>
          </a:p>
        </p:txBody>
      </p:sp>
      <p:sp>
        <p:nvSpPr>
          <p:cNvPr id="175" name="Google Shape;175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pic>
        <p:nvPicPr>
          <p:cNvPr id="176" name="Google Shape;17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7188" y="774100"/>
            <a:ext cx="6354974" cy="4369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0"/>
          <p:cNvSpPr txBox="1">
            <a:spLocks noGrp="1"/>
          </p:cNvSpPr>
          <p:nvPr>
            <p:ph type="title"/>
          </p:nvPr>
        </p:nvSpPr>
        <p:spPr>
          <a:xfrm>
            <a:off x="311700" y="1404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Two-cycle, one-memory machine</a:t>
            </a:r>
            <a:endParaRPr/>
          </a:p>
        </p:txBody>
      </p:sp>
      <p:sp>
        <p:nvSpPr>
          <p:cNvPr id="182" name="Google Shape;182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pic>
        <p:nvPicPr>
          <p:cNvPr id="183" name="Google Shape;18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2975" y="803475"/>
            <a:ext cx="6678049" cy="4340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1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 cycle, two-memory machine</a:t>
            </a:r>
            <a:endParaRPr/>
          </a:p>
        </p:txBody>
      </p:sp>
      <p:sp>
        <p:nvSpPr>
          <p:cNvPr id="189" name="Google Shape;189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pic>
        <p:nvPicPr>
          <p:cNvPr id="190" name="Google Shape;19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3913" y="1093850"/>
            <a:ext cx="6276182" cy="404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2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Advantages and Disadvantages</a:t>
            </a:r>
            <a:endParaRPr/>
          </a:p>
        </p:txBody>
      </p:sp>
      <p:sp>
        <p:nvSpPr>
          <p:cNvPr id="196" name="Google Shape;196;p32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ideas?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Guess which architecture we will choose?</a:t>
            </a:r>
            <a:endParaRPr/>
          </a:p>
        </p:txBody>
      </p:sp>
      <p:sp>
        <p:nvSpPr>
          <p:cNvPr id="197" name="Google Shape;197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3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Hack computer</a:t>
            </a:r>
            <a:endParaRPr/>
          </a:p>
        </p:txBody>
      </p:sp>
      <p:sp>
        <p:nvSpPr>
          <p:cNvPr id="203" name="Google Shape;203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pic>
        <p:nvPicPr>
          <p:cNvPr id="204" name="Google Shape;20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575" y="1266025"/>
            <a:ext cx="7762852" cy="3744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4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It's time to get down to the action!</a:t>
            </a:r>
            <a:endParaRPr/>
          </a:p>
        </p:txBody>
      </p:sp>
      <p:sp>
        <p:nvSpPr>
          <p:cNvPr id="210" name="Google Shape;210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pic>
        <p:nvPicPr>
          <p:cNvPr id="211" name="Google Shape;21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3863" y="931500"/>
            <a:ext cx="5656275" cy="421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5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CPU abstraction: guess</a:t>
            </a:r>
            <a:endParaRPr/>
          </a:p>
        </p:txBody>
      </p:sp>
      <p:sp>
        <p:nvSpPr>
          <p:cNvPr id="217" name="Google Shape;217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pic>
        <p:nvPicPr>
          <p:cNvPr id="218" name="Google Shape;218;p35"/>
          <p:cNvPicPr preferRelativeResize="0"/>
          <p:nvPr/>
        </p:nvPicPr>
        <p:blipFill rotWithShape="1">
          <a:blip r:embed="rId3">
            <a:alphaModFix/>
          </a:blip>
          <a:srcRect l="24169" r="45835" b="42512"/>
          <a:stretch/>
        </p:blipFill>
        <p:spPr>
          <a:xfrm>
            <a:off x="2881225" y="1093850"/>
            <a:ext cx="1963476" cy="232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6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CPU abstraction</a:t>
            </a:r>
            <a:endParaRPr/>
          </a:p>
        </p:txBody>
      </p:sp>
      <p:sp>
        <p:nvSpPr>
          <p:cNvPr id="224" name="Google Shape;224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  <p:pic>
        <p:nvPicPr>
          <p:cNvPr id="225" name="Google Shape;22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9038" y="1093850"/>
            <a:ext cx="6545933" cy="404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  <p:pic>
        <p:nvPicPr>
          <p:cNvPr id="231" name="Google Shape;23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0125" y="4160975"/>
            <a:ext cx="958425" cy="98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7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what we need</a:t>
            </a:r>
            <a:endParaRPr/>
          </a:p>
        </p:txBody>
      </p:sp>
      <p:pic>
        <p:nvPicPr>
          <p:cNvPr id="233" name="Google Shape;233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14500" y="560319"/>
            <a:ext cx="5988101" cy="35320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8"/>
          <p:cNvSpPr txBox="1">
            <a:spLocks noGrp="1"/>
          </p:cNvSpPr>
          <p:nvPr>
            <p:ph type="title"/>
          </p:nvPr>
        </p:nvSpPr>
        <p:spPr>
          <a:xfrm>
            <a:off x="6900" y="-119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to add A-instruction?</a:t>
            </a:r>
            <a:endParaRPr/>
          </a:p>
        </p:txBody>
      </p:sp>
      <p:sp>
        <p:nvSpPr>
          <p:cNvPr id="239" name="Google Shape;239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  <p:pic>
        <p:nvPicPr>
          <p:cNvPr id="240" name="Google Shape;24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8113" y="789050"/>
            <a:ext cx="7327775" cy="435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8"/>
          <p:cNvPicPr preferRelativeResize="0"/>
          <p:nvPr/>
        </p:nvPicPr>
        <p:blipFill rotWithShape="1">
          <a:blip r:embed="rId4">
            <a:alphaModFix/>
          </a:blip>
          <a:srcRect l="29596" r="47582" b="87090"/>
          <a:stretch/>
        </p:blipFill>
        <p:spPr>
          <a:xfrm>
            <a:off x="7853175" y="0"/>
            <a:ext cx="1290826" cy="543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56025" y="2147325"/>
            <a:ext cx="470525" cy="47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9"/>
          <p:cNvSpPr txBox="1">
            <a:spLocks noGrp="1"/>
          </p:cNvSpPr>
          <p:nvPr>
            <p:ph type="title"/>
          </p:nvPr>
        </p:nvSpPr>
        <p:spPr>
          <a:xfrm>
            <a:off x="6900" y="-119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trigger A-register load?</a:t>
            </a:r>
            <a:endParaRPr/>
          </a:p>
        </p:txBody>
      </p:sp>
      <p:sp>
        <p:nvSpPr>
          <p:cNvPr id="248" name="Google Shape;248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  <p:pic>
        <p:nvPicPr>
          <p:cNvPr id="249" name="Google Shape;249;p39"/>
          <p:cNvPicPr preferRelativeResize="0"/>
          <p:nvPr/>
        </p:nvPicPr>
        <p:blipFill rotWithShape="1">
          <a:blip r:embed="rId3">
            <a:alphaModFix/>
          </a:blip>
          <a:srcRect l="29596" r="47582" b="87090"/>
          <a:stretch/>
        </p:blipFill>
        <p:spPr>
          <a:xfrm>
            <a:off x="7853175" y="0"/>
            <a:ext cx="1290826" cy="543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8113" y="789050"/>
            <a:ext cx="7327764" cy="435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92400" y="1623300"/>
            <a:ext cx="470525" cy="47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0"/>
          <p:cNvSpPr txBox="1">
            <a:spLocks noGrp="1"/>
          </p:cNvSpPr>
          <p:nvPr>
            <p:ph type="title"/>
          </p:nvPr>
        </p:nvSpPr>
        <p:spPr>
          <a:xfrm>
            <a:off x="6900" y="-119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pause with A-command</a:t>
            </a:r>
            <a:endParaRPr/>
          </a:p>
        </p:txBody>
      </p:sp>
      <p:sp>
        <p:nvSpPr>
          <p:cNvPr id="257" name="Google Shape;257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  <p:pic>
        <p:nvPicPr>
          <p:cNvPr id="258" name="Google Shape;258;p40"/>
          <p:cNvPicPr preferRelativeResize="0"/>
          <p:nvPr/>
        </p:nvPicPr>
        <p:blipFill rotWithShape="1">
          <a:blip r:embed="rId3">
            <a:alphaModFix/>
          </a:blip>
          <a:srcRect l="29596" r="47582" b="87090"/>
          <a:stretch/>
        </p:blipFill>
        <p:spPr>
          <a:xfrm>
            <a:off x="7853175" y="0"/>
            <a:ext cx="1290826" cy="543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8113" y="789050"/>
            <a:ext cx="7327775" cy="435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1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C-instruction handling</a:t>
            </a:r>
            <a:endParaRPr/>
          </a:p>
        </p:txBody>
      </p:sp>
      <p:sp>
        <p:nvSpPr>
          <p:cNvPr id="265" name="Google Shape;265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  <p:pic>
        <p:nvPicPr>
          <p:cNvPr id="266" name="Google Shape;266;p41"/>
          <p:cNvPicPr preferRelativeResize="0"/>
          <p:nvPr/>
        </p:nvPicPr>
        <p:blipFill rotWithShape="1">
          <a:blip r:embed="rId3">
            <a:alphaModFix/>
          </a:blip>
          <a:srcRect l="16203" t="15569" r="10904"/>
          <a:stretch/>
        </p:blipFill>
        <p:spPr>
          <a:xfrm>
            <a:off x="4965650" y="205188"/>
            <a:ext cx="4122702" cy="35563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850" y="2833843"/>
            <a:ext cx="2408224" cy="927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6822" y="1093850"/>
            <a:ext cx="1346271" cy="169496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41"/>
          <p:cNvSpPr txBox="1"/>
          <p:nvPr/>
        </p:nvSpPr>
        <p:spPr>
          <a:xfrm>
            <a:off x="153750" y="4106875"/>
            <a:ext cx="88674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Each instruction field (opcode, comp, dest, and jump bits) is handled separately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Each group of bits is used to ”tell” a CPU chip-part what to do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opcode == instruction[15]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4" name="Google Shape;274;p42"/>
          <p:cNvGrpSpPr/>
          <p:nvPr/>
        </p:nvGrpSpPr>
        <p:grpSpPr>
          <a:xfrm>
            <a:off x="908113" y="789050"/>
            <a:ext cx="7327775" cy="4354450"/>
            <a:chOff x="908113" y="789050"/>
            <a:chExt cx="7327775" cy="4354450"/>
          </a:xfrm>
        </p:grpSpPr>
        <p:pic>
          <p:nvPicPr>
            <p:cNvPr id="275" name="Google Shape;275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08113" y="789050"/>
              <a:ext cx="7327775" cy="4354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6" name="Google Shape;276;p42"/>
            <p:cNvPicPr preferRelativeResize="0"/>
            <p:nvPr/>
          </p:nvPicPr>
          <p:blipFill rotWithShape="1">
            <a:blip r:embed="rId4">
              <a:alphaModFix/>
            </a:blip>
            <a:srcRect l="63039" t="27306" r="31571" b="67856"/>
            <a:stretch/>
          </p:blipFill>
          <p:spPr>
            <a:xfrm>
              <a:off x="5525475" y="1975725"/>
              <a:ext cx="395151" cy="2107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" name="Google Shape;277;p42"/>
          <p:cNvSpPr txBox="1">
            <a:spLocks noGrp="1"/>
          </p:cNvSpPr>
          <p:nvPr>
            <p:ph type="title"/>
          </p:nvPr>
        </p:nvSpPr>
        <p:spPr>
          <a:xfrm>
            <a:off x="6900" y="-119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we need </a:t>
            </a:r>
            <a:r>
              <a:rPr lang="en">
                <a:solidFill>
                  <a:srgbClr val="0000FF"/>
                </a:solidFill>
              </a:rPr>
              <a:t>comp</a:t>
            </a:r>
            <a:r>
              <a:rPr lang="en"/>
              <a:t>?</a:t>
            </a:r>
            <a:endParaRPr/>
          </a:p>
        </p:txBody>
      </p:sp>
      <p:sp>
        <p:nvSpPr>
          <p:cNvPr id="278" name="Google Shape;278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  <p:pic>
        <p:nvPicPr>
          <p:cNvPr id="279" name="Google Shape;279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48525" y="0"/>
            <a:ext cx="1695474" cy="65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oogle Shape;284;p43"/>
          <p:cNvGrpSpPr/>
          <p:nvPr/>
        </p:nvGrpSpPr>
        <p:grpSpPr>
          <a:xfrm>
            <a:off x="908100" y="789050"/>
            <a:ext cx="7327790" cy="4354450"/>
            <a:chOff x="908100" y="789050"/>
            <a:chExt cx="7327790" cy="4354450"/>
          </a:xfrm>
        </p:grpSpPr>
        <p:pic>
          <p:nvPicPr>
            <p:cNvPr id="285" name="Google Shape;285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08100" y="789050"/>
              <a:ext cx="7327790" cy="4354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6" name="Google Shape;286;p43"/>
            <p:cNvPicPr preferRelativeResize="0"/>
            <p:nvPr/>
          </p:nvPicPr>
          <p:blipFill rotWithShape="1">
            <a:blip r:embed="rId4">
              <a:alphaModFix/>
            </a:blip>
            <a:srcRect l="63039" t="27306" r="31571" b="67856"/>
            <a:stretch/>
          </p:blipFill>
          <p:spPr>
            <a:xfrm>
              <a:off x="5525475" y="1975725"/>
              <a:ext cx="395151" cy="2107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7" name="Google Shape;287;p43"/>
          <p:cNvSpPr txBox="1">
            <a:spLocks noGrp="1"/>
          </p:cNvSpPr>
          <p:nvPr>
            <p:ph type="title"/>
          </p:nvPr>
        </p:nvSpPr>
        <p:spPr>
          <a:xfrm>
            <a:off x="6900" y="-119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should we do with a result? (</a:t>
            </a:r>
            <a:r>
              <a:rPr lang="en">
                <a:solidFill>
                  <a:srgbClr val="6AA84F"/>
                </a:solidFill>
              </a:rPr>
              <a:t>dest</a:t>
            </a:r>
            <a:r>
              <a:rPr lang="en"/>
              <a:t>)</a:t>
            </a:r>
            <a:endParaRPr/>
          </a:p>
        </p:txBody>
      </p:sp>
      <p:sp>
        <p:nvSpPr>
          <p:cNvPr id="288" name="Google Shape;288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31</a:t>
            </a:fld>
            <a:endParaRPr/>
          </a:p>
        </p:txBody>
      </p:sp>
      <p:pic>
        <p:nvPicPr>
          <p:cNvPr id="289" name="Google Shape;289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48525" y="0"/>
            <a:ext cx="1695474" cy="65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4" name="Google Shape;294;p44"/>
          <p:cNvGrpSpPr/>
          <p:nvPr/>
        </p:nvGrpSpPr>
        <p:grpSpPr>
          <a:xfrm>
            <a:off x="908113" y="789050"/>
            <a:ext cx="7327775" cy="4354450"/>
            <a:chOff x="908113" y="789050"/>
            <a:chExt cx="7327775" cy="4354450"/>
          </a:xfrm>
        </p:grpSpPr>
        <p:pic>
          <p:nvPicPr>
            <p:cNvPr id="295" name="Google Shape;295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08113" y="789050"/>
              <a:ext cx="7327775" cy="4354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6" name="Google Shape;296;p44"/>
            <p:cNvPicPr preferRelativeResize="0"/>
            <p:nvPr/>
          </p:nvPicPr>
          <p:blipFill rotWithShape="1">
            <a:blip r:embed="rId4">
              <a:alphaModFix/>
            </a:blip>
            <a:srcRect l="63039" t="27306" r="31571" b="67856"/>
            <a:stretch/>
          </p:blipFill>
          <p:spPr>
            <a:xfrm>
              <a:off x="5525475" y="1975725"/>
              <a:ext cx="395151" cy="2107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7" name="Google Shape;297;p44"/>
          <p:cNvSpPr txBox="1">
            <a:spLocks noGrp="1"/>
          </p:cNvSpPr>
          <p:nvPr>
            <p:ph type="title"/>
          </p:nvPr>
        </p:nvSpPr>
        <p:spPr>
          <a:xfrm>
            <a:off x="6900" y="-119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Nice!</a:t>
            </a:r>
            <a:endParaRPr/>
          </a:p>
        </p:txBody>
      </p:sp>
      <p:sp>
        <p:nvSpPr>
          <p:cNvPr id="298" name="Google Shape;298;p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32</a:t>
            </a:fld>
            <a:endParaRPr/>
          </a:p>
        </p:txBody>
      </p:sp>
      <p:pic>
        <p:nvPicPr>
          <p:cNvPr id="299" name="Google Shape;299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48525" y="0"/>
            <a:ext cx="1695474" cy="65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4" name="Google Shape;304;p45"/>
          <p:cNvGrpSpPr/>
          <p:nvPr/>
        </p:nvGrpSpPr>
        <p:grpSpPr>
          <a:xfrm>
            <a:off x="908113" y="789050"/>
            <a:ext cx="7327775" cy="4354450"/>
            <a:chOff x="908113" y="789050"/>
            <a:chExt cx="7327775" cy="4354450"/>
          </a:xfrm>
        </p:grpSpPr>
        <p:pic>
          <p:nvPicPr>
            <p:cNvPr id="305" name="Google Shape;305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08113" y="789050"/>
              <a:ext cx="7327775" cy="4354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6" name="Google Shape;306;p45"/>
            <p:cNvPicPr preferRelativeResize="0"/>
            <p:nvPr/>
          </p:nvPicPr>
          <p:blipFill rotWithShape="1">
            <a:blip r:embed="rId4">
              <a:alphaModFix/>
            </a:blip>
            <a:srcRect l="63039" t="27306" r="31571" b="67856"/>
            <a:stretch/>
          </p:blipFill>
          <p:spPr>
            <a:xfrm>
              <a:off x="5525475" y="1975725"/>
              <a:ext cx="395151" cy="2107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7" name="Google Shape;307;p45"/>
          <p:cNvSpPr txBox="1">
            <a:spLocks noGrp="1"/>
          </p:cNvSpPr>
          <p:nvPr>
            <p:ph type="title"/>
          </p:nvPr>
        </p:nvSpPr>
        <p:spPr>
          <a:xfrm>
            <a:off x="6900" y="-119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trigger D-register load?</a:t>
            </a:r>
            <a:endParaRPr/>
          </a:p>
        </p:txBody>
      </p:sp>
      <p:sp>
        <p:nvSpPr>
          <p:cNvPr id="308" name="Google Shape;308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33</a:t>
            </a:fld>
            <a:endParaRPr/>
          </a:p>
        </p:txBody>
      </p:sp>
      <p:pic>
        <p:nvPicPr>
          <p:cNvPr id="309" name="Google Shape;309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48525" y="0"/>
            <a:ext cx="1695474" cy="65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00550" y="1379625"/>
            <a:ext cx="470525" cy="47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5" name="Google Shape;315;p46"/>
          <p:cNvGrpSpPr/>
          <p:nvPr/>
        </p:nvGrpSpPr>
        <p:grpSpPr>
          <a:xfrm>
            <a:off x="908113" y="789050"/>
            <a:ext cx="7327775" cy="4354450"/>
            <a:chOff x="908113" y="789050"/>
            <a:chExt cx="7327775" cy="4354450"/>
          </a:xfrm>
        </p:grpSpPr>
        <p:pic>
          <p:nvPicPr>
            <p:cNvPr id="316" name="Google Shape;316;p4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08113" y="789050"/>
              <a:ext cx="7327775" cy="4354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7" name="Google Shape;317;p46"/>
            <p:cNvPicPr preferRelativeResize="0"/>
            <p:nvPr/>
          </p:nvPicPr>
          <p:blipFill rotWithShape="1">
            <a:blip r:embed="rId4">
              <a:alphaModFix/>
            </a:blip>
            <a:srcRect l="63039" t="27306" r="31571" b="67856"/>
            <a:stretch/>
          </p:blipFill>
          <p:spPr>
            <a:xfrm>
              <a:off x="5525475" y="1975725"/>
              <a:ext cx="395151" cy="2107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8" name="Google Shape;318;p46"/>
          <p:cNvSpPr txBox="1">
            <a:spLocks noGrp="1"/>
          </p:cNvSpPr>
          <p:nvPr>
            <p:ph type="title"/>
          </p:nvPr>
        </p:nvSpPr>
        <p:spPr>
          <a:xfrm>
            <a:off x="6900" y="-119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Nice!</a:t>
            </a:r>
            <a:endParaRPr/>
          </a:p>
        </p:txBody>
      </p:sp>
      <p:sp>
        <p:nvSpPr>
          <p:cNvPr id="319" name="Google Shape;319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34</a:t>
            </a:fld>
            <a:endParaRPr/>
          </a:p>
        </p:txBody>
      </p:sp>
      <p:pic>
        <p:nvPicPr>
          <p:cNvPr id="320" name="Google Shape;320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48525" y="0"/>
            <a:ext cx="1695474" cy="65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" name="Google Shape;325;p47"/>
          <p:cNvGrpSpPr/>
          <p:nvPr/>
        </p:nvGrpSpPr>
        <p:grpSpPr>
          <a:xfrm>
            <a:off x="908113" y="789050"/>
            <a:ext cx="7327775" cy="4354450"/>
            <a:chOff x="908113" y="789050"/>
            <a:chExt cx="7327775" cy="4354450"/>
          </a:xfrm>
        </p:grpSpPr>
        <p:pic>
          <p:nvPicPr>
            <p:cNvPr id="326" name="Google Shape;326;p4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08113" y="789050"/>
              <a:ext cx="7327775" cy="4354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7" name="Google Shape;327;p47"/>
            <p:cNvPicPr preferRelativeResize="0"/>
            <p:nvPr/>
          </p:nvPicPr>
          <p:blipFill rotWithShape="1">
            <a:blip r:embed="rId4">
              <a:alphaModFix/>
            </a:blip>
            <a:srcRect l="63039" t="27306" r="31571" b="67856"/>
            <a:stretch/>
          </p:blipFill>
          <p:spPr>
            <a:xfrm>
              <a:off x="5525475" y="1975725"/>
              <a:ext cx="395151" cy="2107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8" name="Google Shape;328;p47"/>
          <p:cNvSpPr txBox="1">
            <a:spLocks noGrp="1"/>
          </p:cNvSpPr>
          <p:nvPr>
            <p:ph type="title"/>
          </p:nvPr>
        </p:nvSpPr>
        <p:spPr>
          <a:xfrm>
            <a:off x="6900" y="-119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if the destination is A-register?</a:t>
            </a:r>
            <a:endParaRPr/>
          </a:p>
        </p:txBody>
      </p:sp>
      <p:sp>
        <p:nvSpPr>
          <p:cNvPr id="329" name="Google Shape;329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35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4" name="Google Shape;334;p48"/>
          <p:cNvGrpSpPr/>
          <p:nvPr/>
        </p:nvGrpSpPr>
        <p:grpSpPr>
          <a:xfrm>
            <a:off x="908099" y="789050"/>
            <a:ext cx="7327800" cy="4354450"/>
            <a:chOff x="908099" y="789050"/>
            <a:chExt cx="7327800" cy="4354450"/>
          </a:xfrm>
        </p:grpSpPr>
        <p:pic>
          <p:nvPicPr>
            <p:cNvPr id="335" name="Google Shape;335;p4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08099" y="789050"/>
              <a:ext cx="7327800" cy="4354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6" name="Google Shape;336;p48"/>
            <p:cNvPicPr preferRelativeResize="0"/>
            <p:nvPr/>
          </p:nvPicPr>
          <p:blipFill rotWithShape="1">
            <a:blip r:embed="rId4">
              <a:alphaModFix/>
            </a:blip>
            <a:srcRect l="63039" t="27306" r="31571" b="67856"/>
            <a:stretch/>
          </p:blipFill>
          <p:spPr>
            <a:xfrm>
              <a:off x="5525475" y="1975725"/>
              <a:ext cx="395151" cy="2107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7" name="Google Shape;337;p48"/>
          <p:cNvSpPr txBox="1">
            <a:spLocks noGrp="1"/>
          </p:cNvSpPr>
          <p:nvPr>
            <p:ph type="title"/>
          </p:nvPr>
        </p:nvSpPr>
        <p:spPr>
          <a:xfrm>
            <a:off x="6900" y="-119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control this multiplexer?</a:t>
            </a:r>
            <a:endParaRPr/>
          </a:p>
        </p:txBody>
      </p:sp>
      <p:sp>
        <p:nvSpPr>
          <p:cNvPr id="338" name="Google Shape;338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36</a:t>
            </a:fld>
            <a:endParaRPr/>
          </a:p>
        </p:txBody>
      </p:sp>
      <p:pic>
        <p:nvPicPr>
          <p:cNvPr id="339" name="Google Shape;339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63800" y="2795575"/>
            <a:ext cx="470525" cy="47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4" name="Google Shape;344;p49"/>
          <p:cNvGrpSpPr/>
          <p:nvPr/>
        </p:nvGrpSpPr>
        <p:grpSpPr>
          <a:xfrm>
            <a:off x="908113" y="789050"/>
            <a:ext cx="7327775" cy="4354450"/>
            <a:chOff x="908113" y="789050"/>
            <a:chExt cx="7327775" cy="4354450"/>
          </a:xfrm>
        </p:grpSpPr>
        <p:pic>
          <p:nvPicPr>
            <p:cNvPr id="345" name="Google Shape;345;p4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08113" y="789050"/>
              <a:ext cx="7327775" cy="4354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6" name="Google Shape;346;p49"/>
            <p:cNvPicPr preferRelativeResize="0"/>
            <p:nvPr/>
          </p:nvPicPr>
          <p:blipFill rotWithShape="1">
            <a:blip r:embed="rId4">
              <a:alphaModFix/>
            </a:blip>
            <a:srcRect l="63039" t="27306" r="31571" b="67856"/>
            <a:stretch/>
          </p:blipFill>
          <p:spPr>
            <a:xfrm>
              <a:off x="5525475" y="1975725"/>
              <a:ext cx="395151" cy="2107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7" name="Google Shape;347;p49"/>
          <p:cNvSpPr txBox="1">
            <a:spLocks noGrp="1"/>
          </p:cNvSpPr>
          <p:nvPr>
            <p:ph type="title"/>
          </p:nvPr>
        </p:nvSpPr>
        <p:spPr>
          <a:xfrm>
            <a:off x="6900" y="-119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A-register control still correct?</a:t>
            </a:r>
            <a:endParaRPr/>
          </a:p>
        </p:txBody>
      </p:sp>
      <p:sp>
        <p:nvSpPr>
          <p:cNvPr id="348" name="Google Shape;348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37</a:t>
            </a:fld>
            <a:endParaRPr/>
          </a:p>
        </p:txBody>
      </p:sp>
      <p:pic>
        <p:nvPicPr>
          <p:cNvPr id="349" name="Google Shape;349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5825" y="1616725"/>
            <a:ext cx="470525" cy="47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49"/>
          <p:cNvPicPr preferRelativeResize="0"/>
          <p:nvPr/>
        </p:nvPicPr>
        <p:blipFill rotWithShape="1">
          <a:blip r:embed="rId6">
            <a:alphaModFix/>
          </a:blip>
          <a:srcRect l="16203" t="15569" r="10904" b="36510"/>
          <a:stretch/>
        </p:blipFill>
        <p:spPr>
          <a:xfrm>
            <a:off x="0" y="3112124"/>
            <a:ext cx="4149051" cy="20313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8099" y="789050"/>
            <a:ext cx="7327811" cy="435445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50"/>
          <p:cNvSpPr txBox="1">
            <a:spLocks noGrp="1"/>
          </p:cNvSpPr>
          <p:nvPr>
            <p:ph type="title"/>
          </p:nvPr>
        </p:nvSpPr>
        <p:spPr>
          <a:xfrm>
            <a:off x="6900" y="-119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about write to the memory?</a:t>
            </a:r>
            <a:endParaRPr/>
          </a:p>
        </p:txBody>
      </p:sp>
      <p:sp>
        <p:nvSpPr>
          <p:cNvPr id="357" name="Google Shape;357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38</a:t>
            </a:fld>
            <a:endParaRPr/>
          </a:p>
        </p:txBody>
      </p:sp>
      <p:pic>
        <p:nvPicPr>
          <p:cNvPr id="358" name="Google Shape;358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26025" y="3296075"/>
            <a:ext cx="470525" cy="47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50"/>
          <p:cNvPicPr preferRelativeResize="0"/>
          <p:nvPr/>
        </p:nvPicPr>
        <p:blipFill rotWithShape="1">
          <a:blip r:embed="rId5">
            <a:alphaModFix/>
          </a:blip>
          <a:srcRect l="16203" t="15569" r="10904" b="36510"/>
          <a:stretch/>
        </p:blipFill>
        <p:spPr>
          <a:xfrm>
            <a:off x="0" y="3112124"/>
            <a:ext cx="4149051" cy="20313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1"/>
          <p:cNvSpPr txBox="1">
            <a:spLocks noGrp="1"/>
          </p:cNvSpPr>
          <p:nvPr>
            <p:ph type="title"/>
          </p:nvPr>
        </p:nvSpPr>
        <p:spPr>
          <a:xfrm>
            <a:off x="6900" y="-119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about write to the memory?</a:t>
            </a:r>
            <a:endParaRPr/>
          </a:p>
        </p:txBody>
      </p:sp>
      <p:sp>
        <p:nvSpPr>
          <p:cNvPr id="365" name="Google Shape;365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39</a:t>
            </a:fld>
            <a:endParaRPr/>
          </a:p>
        </p:txBody>
      </p:sp>
      <p:pic>
        <p:nvPicPr>
          <p:cNvPr id="366" name="Google Shape;36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8113" y="789050"/>
            <a:ext cx="7327775" cy="435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2"/>
          <p:cNvSpPr txBox="1">
            <a:spLocks noGrp="1"/>
          </p:cNvSpPr>
          <p:nvPr>
            <p:ph type="title"/>
          </p:nvPr>
        </p:nvSpPr>
        <p:spPr>
          <a:xfrm>
            <a:off x="6900" y="-119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Nice! But what about D+A?</a:t>
            </a:r>
            <a:endParaRPr/>
          </a:p>
        </p:txBody>
      </p:sp>
      <p:sp>
        <p:nvSpPr>
          <p:cNvPr id="372" name="Google Shape;372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40</a:t>
            </a:fld>
            <a:endParaRPr/>
          </a:p>
        </p:txBody>
      </p:sp>
      <p:pic>
        <p:nvPicPr>
          <p:cNvPr id="373" name="Google Shape;373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8113" y="789050"/>
            <a:ext cx="7327775" cy="435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3"/>
          <p:cNvSpPr txBox="1">
            <a:spLocks noGrp="1"/>
          </p:cNvSpPr>
          <p:nvPr>
            <p:ph type="title"/>
          </p:nvPr>
        </p:nvSpPr>
        <p:spPr>
          <a:xfrm>
            <a:off x="6900" y="-119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Easy! D+M? </a:t>
            </a:r>
            <a:endParaRPr/>
          </a:p>
        </p:txBody>
      </p:sp>
      <p:sp>
        <p:nvSpPr>
          <p:cNvPr id="379" name="Google Shape;379;p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41</a:t>
            </a:fld>
            <a:endParaRPr/>
          </a:p>
        </p:txBody>
      </p:sp>
      <p:pic>
        <p:nvPicPr>
          <p:cNvPr id="380" name="Google Shape;380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8113" y="789050"/>
            <a:ext cx="7327775" cy="435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4"/>
          <p:cNvSpPr txBox="1">
            <a:spLocks noGrp="1"/>
          </p:cNvSpPr>
          <p:nvPr>
            <p:ph type="title"/>
          </p:nvPr>
        </p:nvSpPr>
        <p:spPr>
          <a:xfrm>
            <a:off x="6900" y="-119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Nice! Let’s connect addresM!</a:t>
            </a:r>
            <a:endParaRPr/>
          </a:p>
        </p:txBody>
      </p:sp>
      <p:sp>
        <p:nvSpPr>
          <p:cNvPr id="386" name="Google Shape;386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42</a:t>
            </a:fld>
            <a:endParaRPr/>
          </a:p>
        </p:txBody>
      </p:sp>
      <p:pic>
        <p:nvPicPr>
          <p:cNvPr id="387" name="Google Shape;387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8113" y="789050"/>
            <a:ext cx="7327775" cy="435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5"/>
          <p:cNvSpPr txBox="1">
            <a:spLocks noGrp="1"/>
          </p:cNvSpPr>
          <p:nvPr>
            <p:ph type="title"/>
          </p:nvPr>
        </p:nvSpPr>
        <p:spPr>
          <a:xfrm>
            <a:off x="6900" y="-119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Cool!</a:t>
            </a:r>
            <a:endParaRPr/>
          </a:p>
        </p:txBody>
      </p:sp>
      <p:sp>
        <p:nvSpPr>
          <p:cNvPr id="393" name="Google Shape;393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43</a:t>
            </a:fld>
            <a:endParaRPr/>
          </a:p>
        </p:txBody>
      </p:sp>
      <p:pic>
        <p:nvPicPr>
          <p:cNvPr id="394" name="Google Shape;394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8113" y="789050"/>
            <a:ext cx="7327775" cy="435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Google Shape;399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8113" y="789050"/>
            <a:ext cx="7327775" cy="435445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56"/>
          <p:cNvSpPr txBox="1">
            <a:spLocks noGrp="1"/>
          </p:cNvSpPr>
          <p:nvPr>
            <p:ph type="title"/>
          </p:nvPr>
        </p:nvSpPr>
        <p:spPr>
          <a:xfrm>
            <a:off x="6900" y="-119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let’s talk about jumps!</a:t>
            </a:r>
            <a:endParaRPr/>
          </a:p>
        </p:txBody>
      </p:sp>
      <p:sp>
        <p:nvSpPr>
          <p:cNvPr id="401" name="Google Shape;401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44</a:t>
            </a:fld>
            <a:endParaRPr/>
          </a:p>
        </p:txBody>
      </p:sp>
      <p:pic>
        <p:nvPicPr>
          <p:cNvPr id="402" name="Google Shape;402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48525" y="0"/>
            <a:ext cx="1695474" cy="65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56"/>
          <p:cNvPicPr preferRelativeResize="0"/>
          <p:nvPr/>
        </p:nvPicPr>
        <p:blipFill rotWithShape="1">
          <a:blip r:embed="rId5">
            <a:alphaModFix/>
          </a:blip>
          <a:srcRect l="16203" t="15569" r="10904"/>
          <a:stretch/>
        </p:blipFill>
        <p:spPr>
          <a:xfrm>
            <a:off x="-4248" y="-15597"/>
            <a:ext cx="4278110" cy="2894210"/>
          </a:xfrm>
          <a:prstGeom prst="rect">
            <a:avLst/>
          </a:prstGeom>
          <a:noFill/>
          <a:ln>
            <a:noFill/>
          </a:ln>
          <a:effectLst>
            <a:outerShdw blurRad="128588" dist="200025" dir="2760000" algn="bl" rotWithShape="0">
              <a:srgbClr val="000000">
                <a:alpha val="58999"/>
              </a:srgbClr>
            </a:outerShdw>
          </a:effectLst>
        </p:spPr>
      </p:pic>
      <p:pic>
        <p:nvPicPr>
          <p:cNvPr id="404" name="Google Shape;404;p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02275" y="4224675"/>
            <a:ext cx="470525" cy="47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7"/>
          <p:cNvSpPr txBox="1">
            <a:spLocks noGrp="1"/>
          </p:cNvSpPr>
          <p:nvPr>
            <p:ph type="title"/>
          </p:nvPr>
        </p:nvSpPr>
        <p:spPr>
          <a:xfrm>
            <a:off x="6900" y="-119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reset our processor?</a:t>
            </a:r>
            <a:endParaRPr/>
          </a:p>
        </p:txBody>
      </p:sp>
      <p:sp>
        <p:nvSpPr>
          <p:cNvPr id="410" name="Google Shape;410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45</a:t>
            </a:fld>
            <a:endParaRPr/>
          </a:p>
        </p:txBody>
      </p:sp>
      <p:pic>
        <p:nvPicPr>
          <p:cNvPr id="411" name="Google Shape;411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8113" y="789050"/>
            <a:ext cx="7327775" cy="435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8125" y="789052"/>
            <a:ext cx="7327759" cy="435445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58"/>
          <p:cNvSpPr txBox="1">
            <a:spLocks noGrp="1"/>
          </p:cNvSpPr>
          <p:nvPr>
            <p:ph type="title"/>
          </p:nvPr>
        </p:nvSpPr>
        <p:spPr>
          <a:xfrm>
            <a:off x="6900" y="-119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TADA!!!!</a:t>
            </a:r>
            <a:endParaRPr/>
          </a:p>
        </p:txBody>
      </p:sp>
      <p:sp>
        <p:nvSpPr>
          <p:cNvPr id="418" name="Google Shape;418;p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46</a:t>
            </a:fld>
            <a:endParaRPr/>
          </a:p>
        </p:txBody>
      </p:sp>
      <p:pic>
        <p:nvPicPr>
          <p:cNvPr id="419" name="Google Shape;419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02" y="3917624"/>
            <a:ext cx="1248451" cy="122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7895552" y="-1"/>
            <a:ext cx="1248451" cy="12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9"/>
          <p:cNvSpPr txBox="1">
            <a:spLocks noGrp="1"/>
          </p:cNvSpPr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path design finished!</a:t>
            </a:r>
            <a:endParaRPr/>
          </a:p>
        </p:txBody>
      </p:sp>
      <p:sp>
        <p:nvSpPr>
          <p:cNvPr id="426" name="Google Shape;426;p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47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60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I/O devices</a:t>
            </a:r>
            <a:endParaRPr/>
          </a:p>
        </p:txBody>
      </p:sp>
      <p:sp>
        <p:nvSpPr>
          <p:cNvPr id="432" name="Google Shape;432;p6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48</a:t>
            </a:fld>
            <a:endParaRPr/>
          </a:p>
        </p:txBody>
      </p:sp>
      <p:pic>
        <p:nvPicPr>
          <p:cNvPr id="433" name="Google Shape;433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175" y="1123763"/>
            <a:ext cx="8167660" cy="3509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61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</a:t>
            </a:r>
            <a:endParaRPr/>
          </a:p>
        </p:txBody>
      </p:sp>
      <p:sp>
        <p:nvSpPr>
          <p:cNvPr id="439" name="Google Shape;439;p6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49</a:t>
            </a:fld>
            <a:endParaRPr/>
          </a:p>
        </p:txBody>
      </p:sp>
      <p:pic>
        <p:nvPicPr>
          <p:cNvPr id="440" name="Google Shape;440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0300" y="1061850"/>
            <a:ext cx="5723474" cy="374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2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Keyboard</a:t>
            </a:r>
            <a:endParaRPr/>
          </a:p>
        </p:txBody>
      </p:sp>
      <p:sp>
        <p:nvSpPr>
          <p:cNvPr id="446" name="Google Shape;446;p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50</a:t>
            </a:fld>
            <a:endParaRPr/>
          </a:p>
        </p:txBody>
      </p:sp>
      <p:pic>
        <p:nvPicPr>
          <p:cNvPr id="447" name="Google Shape;447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4725" y="1246250"/>
            <a:ext cx="6594545" cy="374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63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implement memory?</a:t>
            </a:r>
            <a:endParaRPr/>
          </a:p>
        </p:txBody>
      </p:sp>
      <p:sp>
        <p:nvSpPr>
          <p:cNvPr id="453" name="Google Shape;453;p6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51</a:t>
            </a:fld>
            <a:endParaRPr/>
          </a:p>
        </p:txBody>
      </p:sp>
      <p:pic>
        <p:nvPicPr>
          <p:cNvPr id="454" name="Google Shape;454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9637" y="1093850"/>
            <a:ext cx="5844731" cy="4049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41625" y="2189675"/>
            <a:ext cx="997850" cy="99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64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the memory has a wrap</a:t>
            </a:r>
            <a:endParaRPr/>
          </a:p>
        </p:txBody>
      </p:sp>
      <p:sp>
        <p:nvSpPr>
          <p:cNvPr id="461" name="Google Shape;461;p6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52</a:t>
            </a:fld>
            <a:endParaRPr/>
          </a:p>
        </p:txBody>
      </p:sp>
      <p:pic>
        <p:nvPicPr>
          <p:cNvPr id="462" name="Google Shape;462;p64"/>
          <p:cNvPicPr preferRelativeResize="0"/>
          <p:nvPr/>
        </p:nvPicPr>
        <p:blipFill rotWithShape="1">
          <a:blip r:embed="rId3">
            <a:alphaModFix/>
          </a:blip>
          <a:srcRect l="-3411" t="-8143" r="-8821"/>
          <a:stretch/>
        </p:blipFill>
        <p:spPr>
          <a:xfrm>
            <a:off x="1538852" y="1093850"/>
            <a:ext cx="6066299" cy="4049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65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Instruction memory</a:t>
            </a:r>
            <a:endParaRPr/>
          </a:p>
        </p:txBody>
      </p:sp>
      <p:sp>
        <p:nvSpPr>
          <p:cNvPr id="468" name="Google Shape;468;p6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53</a:t>
            </a:fld>
            <a:endParaRPr/>
          </a:p>
        </p:txBody>
      </p:sp>
      <p:pic>
        <p:nvPicPr>
          <p:cNvPr id="469" name="Google Shape;469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4875" y="1093850"/>
            <a:ext cx="6454241" cy="4049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66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Integrate everything into a single chip, named Computer!</a:t>
            </a:r>
            <a:endParaRPr/>
          </a:p>
        </p:txBody>
      </p:sp>
      <p:sp>
        <p:nvSpPr>
          <p:cNvPr id="475" name="Google Shape;475;p6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54</a:t>
            </a:fld>
            <a:endParaRPr/>
          </a:p>
        </p:txBody>
      </p:sp>
      <p:pic>
        <p:nvPicPr>
          <p:cNvPr id="476" name="Google Shape;476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175" y="1246250"/>
            <a:ext cx="8167660" cy="3573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67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Reset?</a:t>
            </a:r>
            <a:endParaRPr/>
          </a:p>
        </p:txBody>
      </p:sp>
      <p:sp>
        <p:nvSpPr>
          <p:cNvPr id="482" name="Google Shape;482;p67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is reset used to control a computer?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happens when it is 1?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happens when it is 0?</a:t>
            </a:r>
            <a:endParaRPr/>
          </a:p>
        </p:txBody>
      </p:sp>
      <p:sp>
        <p:nvSpPr>
          <p:cNvPr id="483" name="Google Shape;483;p6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55</a:t>
            </a:fld>
            <a:endParaRPr/>
          </a:p>
        </p:txBody>
      </p:sp>
      <p:pic>
        <p:nvPicPr>
          <p:cNvPr id="484" name="Google Shape;484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3831" y="2049461"/>
            <a:ext cx="5170167" cy="3094040"/>
          </a:xfrm>
          <a:prstGeom prst="rect">
            <a:avLst/>
          </a:prstGeom>
          <a:noFill/>
          <a:ln>
            <a:noFill/>
          </a:ln>
          <a:effectLst>
            <a:outerShdw blurRad="114300" dist="66675" dir="135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68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Reset!</a:t>
            </a:r>
            <a:endParaRPr/>
          </a:p>
        </p:txBody>
      </p:sp>
      <p:sp>
        <p:nvSpPr>
          <p:cNvPr id="490" name="Google Shape;490;p6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56</a:t>
            </a:fld>
            <a:endParaRPr/>
          </a:p>
        </p:txBody>
      </p:sp>
      <p:pic>
        <p:nvPicPr>
          <p:cNvPr id="491" name="Google Shape;491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0363" y="1246250"/>
            <a:ext cx="5103273" cy="3744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69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Computer!</a:t>
            </a:r>
            <a:endParaRPr/>
          </a:p>
        </p:txBody>
      </p:sp>
      <p:sp>
        <p:nvSpPr>
          <p:cNvPr id="497" name="Google Shape;497;p6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57</a:t>
            </a:fld>
            <a:endParaRPr/>
          </a:p>
        </p:txBody>
      </p:sp>
      <p:pic>
        <p:nvPicPr>
          <p:cNvPr id="498" name="Google Shape;498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4825" y="1246250"/>
            <a:ext cx="7154340" cy="374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71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CPU</a:t>
            </a:r>
            <a:endParaRPr/>
          </a:p>
        </p:txBody>
      </p:sp>
      <p:sp>
        <p:nvSpPr>
          <p:cNvPr id="510" name="Google Shape;510;p71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42603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the chip-parts seen here were built in projects 1, 2, 3;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But: Use their built-in versions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HDL to isolate, and connect instruction bits, to the control bits of chip-parts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gate logic to compute the address of the next instruction.</a:t>
            </a:r>
            <a:endParaRPr/>
          </a:p>
        </p:txBody>
      </p:sp>
      <p:sp>
        <p:nvSpPr>
          <p:cNvPr id="511" name="Google Shape;511;p7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58</a:t>
            </a:fld>
            <a:endParaRPr/>
          </a:p>
        </p:txBody>
      </p:sp>
      <p:pic>
        <p:nvPicPr>
          <p:cNvPr id="512" name="Google Shape;512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3552" y="1208437"/>
            <a:ext cx="4114158" cy="3340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72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</a:t>
            </a:r>
            <a:endParaRPr/>
          </a:p>
        </p:txBody>
      </p:sp>
      <p:sp>
        <p:nvSpPr>
          <p:cNvPr id="518" name="Google Shape;518;p72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42603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457200" lvl="0" indent="-317182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Two bits in the address input can be used to determine the target memory-part (RAM16K, Screen, Keyboard)</a:t>
            </a:r>
            <a:endParaRPr/>
          </a:p>
          <a:p>
            <a:pPr marL="457200" lvl="0" indent="-317182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The remaining bits of the address input are the address within the target memory-part</a:t>
            </a:r>
            <a:endParaRPr/>
          </a:p>
          <a:p>
            <a:pPr marL="457200" lvl="0" indent="-317182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Do the read/write, and output the memory-part[address] value to the out output.</a:t>
            </a:r>
            <a:endParaRPr/>
          </a:p>
          <a:p>
            <a:pPr marL="457200" lvl="0" indent="-317182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Use builtin memory-parts (RAM16K, Screen, Keyboard), and builtin logic gates, as needed.</a:t>
            </a:r>
            <a:endParaRPr/>
          </a:p>
          <a:p>
            <a:pPr marL="457200" lvl="0" indent="-317182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Optional: Start by building a basic Memory chip that outputs two bits, say, loadRAM and loadScreen, indicating if the addressed memory-part is the RAM or the Screen</a:t>
            </a:r>
            <a:endParaRPr/>
          </a:p>
          <a:p>
            <a:pPr marL="457200" lvl="0" indent="-317182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Then complete the final Memory chip, in which these two bits can become internal pins.</a:t>
            </a:r>
            <a:endParaRPr/>
          </a:p>
        </p:txBody>
      </p:sp>
      <p:sp>
        <p:nvSpPr>
          <p:cNvPr id="519" name="Google Shape;519;p7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59</a:t>
            </a:fld>
            <a:endParaRPr/>
          </a:p>
        </p:txBody>
      </p:sp>
      <p:pic>
        <p:nvPicPr>
          <p:cNvPr id="520" name="Google Shape;520;p72"/>
          <p:cNvPicPr preferRelativeResize="0"/>
          <p:nvPr/>
        </p:nvPicPr>
        <p:blipFill rotWithShape="1">
          <a:blip r:embed="rId3">
            <a:alphaModFix/>
          </a:blip>
          <a:srcRect l="1825" r="2618"/>
          <a:stretch/>
        </p:blipFill>
        <p:spPr>
          <a:xfrm>
            <a:off x="4654525" y="1598713"/>
            <a:ext cx="4489475" cy="255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70"/>
          <p:cNvSpPr txBox="1">
            <a:spLocks noGrp="1"/>
          </p:cNvSpPr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 5</a:t>
            </a:r>
            <a:endParaRPr/>
          </a:p>
        </p:txBody>
      </p:sp>
      <p:sp>
        <p:nvSpPr>
          <p:cNvPr id="504" name="Google Shape;504;p7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60</a:t>
            </a:fld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73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</a:t>
            </a:r>
            <a:endParaRPr/>
          </a:p>
        </p:txBody>
      </p:sp>
      <p:sp>
        <p:nvSpPr>
          <p:cNvPr id="526" name="Google Shape;526;p7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61</a:t>
            </a:fld>
            <a:endParaRPr/>
          </a:p>
        </p:txBody>
      </p:sp>
      <p:pic>
        <p:nvPicPr>
          <p:cNvPr id="527" name="Google Shape;527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4650" y="1843825"/>
            <a:ext cx="7114700" cy="196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74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</a:t>
            </a:r>
            <a:endParaRPr/>
          </a:p>
        </p:txBody>
      </p:sp>
      <p:sp>
        <p:nvSpPr>
          <p:cNvPr id="533" name="Google Shape;533;p7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62</a:t>
            </a:fld>
            <a:endParaRPr/>
          </a:p>
        </p:txBody>
      </p:sp>
      <p:pic>
        <p:nvPicPr>
          <p:cNvPr id="534" name="Google Shape;534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2413" y="1093850"/>
            <a:ext cx="6059174" cy="404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75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Testing(2)</a:t>
            </a:r>
            <a:endParaRPr/>
          </a:p>
        </p:txBody>
      </p:sp>
      <p:sp>
        <p:nvSpPr>
          <p:cNvPr id="540" name="Google Shape;540;p7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63</a:t>
            </a:fld>
            <a:endParaRPr/>
          </a:p>
        </p:txBody>
      </p:sp>
      <p:pic>
        <p:nvPicPr>
          <p:cNvPr id="541" name="Google Shape;541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2413" y="1093850"/>
            <a:ext cx="6059174" cy="404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76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</a:t>
            </a:r>
            <a:endParaRPr/>
          </a:p>
        </p:txBody>
      </p:sp>
      <p:sp>
        <p:nvSpPr>
          <p:cNvPr id="547" name="Google Shape;547;p76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files: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CPU.hdl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Memory.hdl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Computer.hdl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548" name="Google Shape;548;p7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64</a:t>
            </a:fld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77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Roadmap</a:t>
            </a:r>
            <a:endParaRPr/>
          </a:p>
        </p:txBody>
      </p:sp>
      <p:sp>
        <p:nvSpPr>
          <p:cNvPr id="554" name="Google Shape;554;p7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65</a:t>
            </a:fld>
            <a:endParaRPr/>
          </a:p>
        </p:txBody>
      </p:sp>
      <p:pic>
        <p:nvPicPr>
          <p:cNvPr id="555" name="Google Shape;555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8963" y="1246250"/>
            <a:ext cx="6106083" cy="374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78"/>
          <p:cNvSpPr txBox="1">
            <a:spLocks noGrp="1"/>
          </p:cNvSpPr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Once again about HWs</a:t>
            </a:r>
            <a:endParaRPr/>
          </a:p>
        </p:txBody>
      </p:sp>
      <p:sp>
        <p:nvSpPr>
          <p:cNvPr id="561" name="Google Shape;561;p7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66</a:t>
            </a:fld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79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🤨</a:t>
            </a:r>
            <a:endParaRPr/>
          </a:p>
        </p:txBody>
      </p:sp>
      <p:sp>
        <p:nvSpPr>
          <p:cNvPr id="567" name="Google Shape;567;p7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67</a:t>
            </a:fld>
            <a:endParaRPr/>
          </a:p>
        </p:txBody>
      </p:sp>
      <p:pic>
        <p:nvPicPr>
          <p:cNvPr id="568" name="Google Shape;568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7713" y="699325"/>
            <a:ext cx="2308572" cy="374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80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😑</a:t>
            </a:r>
            <a:endParaRPr/>
          </a:p>
        </p:txBody>
      </p:sp>
      <p:sp>
        <p:nvSpPr>
          <p:cNvPr id="574" name="Google Shape;574;p8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68</a:t>
            </a:fld>
            <a:endParaRPr/>
          </a:p>
        </p:txBody>
      </p:sp>
      <p:pic>
        <p:nvPicPr>
          <p:cNvPr id="575" name="Google Shape;575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9475" y="2057400"/>
            <a:ext cx="2305050" cy="102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81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😕</a:t>
            </a:r>
            <a:endParaRPr/>
          </a:p>
        </p:txBody>
      </p:sp>
      <p:sp>
        <p:nvSpPr>
          <p:cNvPr id="581" name="Google Shape;581;p8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69</a:t>
            </a:fld>
            <a:endParaRPr/>
          </a:p>
        </p:txBody>
      </p:sp>
      <p:pic>
        <p:nvPicPr>
          <p:cNvPr id="582" name="Google Shape;582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5050" y="699325"/>
            <a:ext cx="2233897" cy="374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82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🤯</a:t>
            </a:r>
            <a:endParaRPr/>
          </a:p>
        </p:txBody>
      </p:sp>
      <p:sp>
        <p:nvSpPr>
          <p:cNvPr id="588" name="Google Shape;588;p8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70</a:t>
            </a:fld>
            <a:endParaRPr/>
          </a:p>
        </p:txBody>
      </p:sp>
      <p:pic>
        <p:nvPicPr>
          <p:cNvPr id="589" name="Google Shape;589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1800" y="2290763"/>
            <a:ext cx="3200400" cy="56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83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Sync your forks</a:t>
            </a:r>
            <a:endParaRPr/>
          </a:p>
        </p:txBody>
      </p:sp>
      <p:sp>
        <p:nvSpPr>
          <p:cNvPr id="595" name="Google Shape;595;p83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Accidentally added submodule was removed</a:t>
            </a:r>
            <a:endParaRPr/>
          </a:p>
        </p:txBody>
      </p:sp>
      <p:sp>
        <p:nvSpPr>
          <p:cNvPr id="596" name="Google Shape;596;p8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71</a:t>
            </a:fld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84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Ready for a homework?</a:t>
            </a:r>
            <a:endParaRPr/>
          </a:p>
        </p:txBody>
      </p:sp>
      <p:sp>
        <p:nvSpPr>
          <p:cNvPr id="602" name="Google Shape;602;p8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72</a:t>
            </a:fld>
            <a:endParaRPr/>
          </a:p>
        </p:txBody>
      </p:sp>
      <p:pic>
        <p:nvPicPr>
          <p:cNvPr id="603" name="Google Shape;603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0013" y="1423375"/>
            <a:ext cx="3923976" cy="2906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0BD9EB7E11F04EA357E6193B42B320" ma:contentTypeVersion="11" ma:contentTypeDescription="Create a new document." ma:contentTypeScope="" ma:versionID="8f9c07e4a451874118cb5857def06f94">
  <xsd:schema xmlns:xsd="http://www.w3.org/2001/XMLSchema" xmlns:xs="http://www.w3.org/2001/XMLSchema" xmlns:p="http://schemas.microsoft.com/office/2006/metadata/properties" xmlns:ns2="55c32a25-091c-4bf8-97bd-6d87deae368e" xmlns:ns3="43211266-15a2-4273-b298-e1da35e3510c" targetNamespace="http://schemas.microsoft.com/office/2006/metadata/properties" ma:root="true" ma:fieldsID="f58ab503aa9fd46ead416d745539b33d" ns2:_="" ns3:_="">
    <xsd:import namespace="55c32a25-091c-4bf8-97bd-6d87deae368e"/>
    <xsd:import namespace="43211266-15a2-4273-b298-e1da35e3510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c32a25-091c-4bf8-97bd-6d87deae36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4681046-6e08-4508-887b-d7ffc39f868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211266-15a2-4273-b298-e1da35e3510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7ba52b8-3cf6-4dd8-bb6b-c284c0787a6b}" ma:internalName="TaxCatchAll" ma:showField="CatchAllData" ma:web="43211266-15a2-4273-b298-e1da35e3510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5c32a25-091c-4bf8-97bd-6d87deae368e">
      <Terms xmlns="http://schemas.microsoft.com/office/infopath/2007/PartnerControls"/>
    </lcf76f155ced4ddcb4097134ff3c332f>
    <TaxCatchAll xmlns="43211266-15a2-4273-b298-e1da35e3510c" xsi:nil="true"/>
  </documentManagement>
</p:properties>
</file>

<file path=customXml/itemProps1.xml><?xml version="1.0" encoding="utf-8"?>
<ds:datastoreItem xmlns:ds="http://schemas.openxmlformats.org/officeDocument/2006/customXml" ds:itemID="{DE1E9B6A-F3F5-4988-B88B-B89B2E8F43A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5c32a25-091c-4bf8-97bd-6d87deae368e"/>
    <ds:schemaRef ds:uri="43211266-15a2-4273-b298-e1da35e3510c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115C279-EDDE-46C3-8917-F2BA8A9E1DB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6E084A2-5B7D-4FC8-B762-EB0E8B28A2AF}">
  <ds:schemaRefs>
    <ds:schemaRef ds:uri="http://schemas.microsoft.com/office/2006/metadata/properties"/>
    <ds:schemaRef ds:uri="http://www.w3.org/2000/xmlns/"/>
    <ds:schemaRef ds:uri="55c32a25-091c-4bf8-97bd-6d87deae368e"/>
    <ds:schemaRef ds:uri="http://schemas.microsoft.com/office/infopath/2007/PartnerControls"/>
    <ds:schemaRef ds:uri="43211266-15a2-4273-b298-e1da35e3510c"/>
    <ds:schemaRef ds:uri="http://www.w3.org/2001/XMLSchema-instan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72</Slides>
  <Notes>72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3" baseType="lpstr">
      <vt:lpstr>Beach Day</vt:lpstr>
      <vt:lpstr>Computer Architecture Lecture 5: Building a computer</vt:lpstr>
      <vt:lpstr>Extra materials</vt:lpstr>
      <vt:lpstr>Course topics</vt:lpstr>
      <vt:lpstr>Like to watch streaming?</vt:lpstr>
      <vt:lpstr>One more week for deadlines</vt:lpstr>
      <vt:lpstr>Tell me when you're tired  </vt:lpstr>
      <vt:lpstr>Machine language is done!</vt:lpstr>
      <vt:lpstr>What we're going to learn today </vt:lpstr>
      <vt:lpstr>A processor that executes commands</vt:lpstr>
      <vt:lpstr>What we have vs What we need</vt:lpstr>
      <vt:lpstr>What does the execution of a command consist of?</vt:lpstr>
      <vt:lpstr>Determine the address of the next instruction</vt:lpstr>
      <vt:lpstr>Fetching an instruction</vt:lpstr>
      <vt:lpstr>Fetching an instruction (2)</vt:lpstr>
      <vt:lpstr>Control signals</vt:lpstr>
      <vt:lpstr>What did we miss?</vt:lpstr>
      <vt:lpstr>Fetch – Execute issues</vt:lpstr>
      <vt:lpstr>Two-cycle, one-memory machine</vt:lpstr>
      <vt:lpstr>Single cycle, two-memory machine</vt:lpstr>
      <vt:lpstr>Advantages and Disadvantages</vt:lpstr>
      <vt:lpstr>The Hack computer</vt:lpstr>
      <vt:lpstr>It's time to get down to the action!</vt:lpstr>
      <vt:lpstr>CPU abstraction: guess</vt:lpstr>
      <vt:lpstr>CPU abstraction</vt:lpstr>
      <vt:lpstr>All what we need</vt:lpstr>
      <vt:lpstr>Where to add A-instruction?</vt:lpstr>
      <vt:lpstr>When trigger A-register load?</vt:lpstr>
      <vt:lpstr>Let’s pause with A-command</vt:lpstr>
      <vt:lpstr>C-instruction handling</vt:lpstr>
      <vt:lpstr>Where we need comp?</vt:lpstr>
      <vt:lpstr>What should we do with a result? (dest)</vt:lpstr>
      <vt:lpstr>Nice!</vt:lpstr>
      <vt:lpstr>When trigger D-register load?</vt:lpstr>
      <vt:lpstr>Nice!</vt:lpstr>
      <vt:lpstr>What if the destination is A-register?</vt:lpstr>
      <vt:lpstr>How to control this multiplexer?</vt:lpstr>
      <vt:lpstr>Is A-register control still correct?</vt:lpstr>
      <vt:lpstr>What about write to the memory?</vt:lpstr>
      <vt:lpstr>What about write to the memory?</vt:lpstr>
      <vt:lpstr>Nice! But what about D+A?</vt:lpstr>
      <vt:lpstr>Easy! D+M? </vt:lpstr>
      <vt:lpstr>Nice! Let’s connect addresM!</vt:lpstr>
      <vt:lpstr>Cool!</vt:lpstr>
      <vt:lpstr>Now let’s talk about jumps!</vt:lpstr>
      <vt:lpstr>How to reset our processor?</vt:lpstr>
      <vt:lpstr>TADA!!!!</vt:lpstr>
      <vt:lpstr>Data path design finished!</vt:lpstr>
      <vt:lpstr>I/O devices</vt:lpstr>
      <vt:lpstr>Screen</vt:lpstr>
      <vt:lpstr>Keyboard</vt:lpstr>
      <vt:lpstr>How to implement memory?</vt:lpstr>
      <vt:lpstr>Now the memory has a wrap</vt:lpstr>
      <vt:lpstr>Instruction memory</vt:lpstr>
      <vt:lpstr>Integrate everything into a single chip, named Computer!</vt:lpstr>
      <vt:lpstr>Reset?</vt:lpstr>
      <vt:lpstr>Reset!</vt:lpstr>
      <vt:lpstr>Computer!</vt:lpstr>
      <vt:lpstr>CPU</vt:lpstr>
      <vt:lpstr>memory</vt:lpstr>
      <vt:lpstr>HomeWork 5</vt:lpstr>
      <vt:lpstr>Computer</vt:lpstr>
      <vt:lpstr>Testing</vt:lpstr>
      <vt:lpstr>Testing(2)</vt:lpstr>
      <vt:lpstr>Homework</vt:lpstr>
      <vt:lpstr>Roadmap</vt:lpstr>
      <vt:lpstr>Once again about HWs</vt:lpstr>
      <vt:lpstr>🤨</vt:lpstr>
      <vt:lpstr>😑</vt:lpstr>
      <vt:lpstr>😕</vt:lpstr>
      <vt:lpstr>🤯</vt:lpstr>
      <vt:lpstr>Sync your forks</vt:lpstr>
      <vt:lpstr>Ready for a homework?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Architecture Lecture 5: Building a computer</dc:title>
  <cp:lastModifiedBy>Luca Moldovan</cp:lastModifiedBy>
  <cp:revision>31</cp:revision>
  <dcterms:modified xsi:type="dcterms:W3CDTF">2025-05-27T16:23:16Z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0x010100760BD9EB7E11F04EA357E6193B42B320</vt:lpwstr>
  </property>
  <property fmtid="{D5CDD505-2E9C-101B-9397-08002B2CF9AE}" pid="3" name="MediaServiceImageTags">
    <vt:lpwstr/>
  </property>
</Properties>
</file>